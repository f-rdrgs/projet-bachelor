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Barlow Semi Condensed Light"/>
      <p:regular r:id="rId37"/>
      <p:bold r:id="rId38"/>
      <p:italic r:id="rId39"/>
      <p:boldItalic r:id="rId40"/>
    </p:embeddedFont>
    <p:embeddedFont>
      <p:font typeface="Fjalla One"/>
      <p:regular r:id="rId41"/>
    </p:embeddedFont>
    <p:embeddedFont>
      <p:font typeface="Barlow Semi Condensed Medium"/>
      <p:regular r:id="rId42"/>
      <p:bold r:id="rId43"/>
      <p:italic r:id="rId44"/>
      <p:boldItalic r:id="rId45"/>
    </p:embeddedFont>
    <p:embeddedFont>
      <p:font typeface="Barlow Semi Condense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3D6EF7-457A-48DF-9D8F-5289D89EC333}">
  <a:tblStyle styleId="{E73D6EF7-457A-48DF-9D8F-5289D89EC3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Light-boldItalic.fntdata"/><Relationship Id="rId42" Type="http://schemas.openxmlformats.org/officeDocument/2006/relationships/font" Target="fonts/BarlowSemiCondensedMedium-regular.fntdata"/><Relationship Id="rId41" Type="http://schemas.openxmlformats.org/officeDocument/2006/relationships/font" Target="fonts/FjallaOne-regular.fntdata"/><Relationship Id="rId44" Type="http://schemas.openxmlformats.org/officeDocument/2006/relationships/font" Target="fonts/BarlowSemiCondensedMedium-italic.fntdata"/><Relationship Id="rId43" Type="http://schemas.openxmlformats.org/officeDocument/2006/relationships/font" Target="fonts/BarlowSemiCondensedMedium-bold.fntdata"/><Relationship Id="rId46" Type="http://schemas.openxmlformats.org/officeDocument/2006/relationships/font" Target="fonts/BarlowSemiCondensed-regular.fntdata"/><Relationship Id="rId45" Type="http://schemas.openxmlformats.org/officeDocument/2006/relationships/font" Target="fonts/BarlowSemiCondensed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arlowSemiCondensed-italic.fntdata"/><Relationship Id="rId47" Type="http://schemas.openxmlformats.org/officeDocument/2006/relationships/font" Target="fonts/BarlowSemiCondensed-bold.fntdata"/><Relationship Id="rId49" Type="http://schemas.openxmlformats.org/officeDocument/2006/relationships/font" Target="fonts/BarlowSemi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BarlowSemiCondensedLight-regular.fntdata"/><Relationship Id="rId36" Type="http://schemas.openxmlformats.org/officeDocument/2006/relationships/slide" Target="slides/slide31.xml"/><Relationship Id="rId39" Type="http://schemas.openxmlformats.org/officeDocument/2006/relationships/font" Target="fonts/BarlowSemiCondensedLight-italic.fntdata"/><Relationship Id="rId38" Type="http://schemas.openxmlformats.org/officeDocument/2006/relationships/font" Target="fonts/BarlowSemiCondensedLigh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6cb4f7d6a5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6cb4f7d6a5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26cb4f7d6a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26cb4f7d6a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c7c06fc6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c7c06fc6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26cb4f7d6a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26cb4f7d6a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tttttttt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1f50bef7c7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1f50bef7c7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50bef7c7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1f50bef7c7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1f50bef7c7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1f50bef7c7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1f50bef7c7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1f50bef7c7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c9bc303e5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c9bc303e5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2c9e1d091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c9e1d091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2c9e1d091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c9e1d091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c9e1d091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c9e1d091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2c9246c624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2c9246c624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c8181148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c8181148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c9246c62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2c9246c62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2c81811481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2c81811481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2c9804a95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2c9804a95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2c81811481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2c81811481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c9246c624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2c9246c624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2c81811481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2c81811481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2c9bc303e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2c9bc303e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c9bc303e5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c9bc303e5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2c9bc303e5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c9bc303e5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c9bc303e5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c9bc303e5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2c81811481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2c81811481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2ca3a8ae8b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2ca3a8ae8b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2ca3a8ae8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2ca3a8ae8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2c81811481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2c81811481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2caa8c7203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2caa8c7203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" name="Google Shape;14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5" name="Google Shape;15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2" name="Google Shape;22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3" name="Google Shape;33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7" name="Google Shape;37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1" name="Google Shape;41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7" name="Google Shape;47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2" name="Google Shape;52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3" name="Google Shape;53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4" name="Google Shape;54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7" name="Google Shape;67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71" name="Google Shape;71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2" name="Google Shape;72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3" name="Google Shape;7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" name="Google Shape;79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" name="Google Shape;84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90" name="Google Shape;9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" name="Google Shape;93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4" name="Google Shape;94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" name="Google Shape;97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8" name="Google Shape;9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2" name="Google Shape;10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5" name="Google Shape;105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" name="Google Shape;107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5" name="Google Shape;115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9" name="Google Shape;119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20" name="Google Shape;120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1" name="Google Shape;121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9" name="Google Shape;129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" name="Google Shape;133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4" name="Google Shape;134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8" name="Google Shape;138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9" name="Google Shape;139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0" name="Google Shape;140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" name="Google Shape;151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2" name="Google Shape;152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" name="Google Shape;156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1" name="Google Shape;161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" name="Google Shape;164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9" name="Google Shape;169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72" name="Google Shape;172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" name="Google Shape;174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1" name="Google Shape;181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82" name="Google Shape;182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83" name="Google Shape;183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4" name="Google Shape;184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5" name="Google Shape;185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7" name="Google Shape;187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8" name="Google Shape;188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9" name="Google Shape;189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90" name="Google Shape;190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7" name="Google Shape;197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6" name="Google Shape;206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7" name="Google Shape;207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8" name="Google Shape;208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5" name="Google Shape;215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20" name="Google Shape;220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7" name="Google Shape;237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40" name="Google Shape;240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" name="Google Shape;242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9" name="Google Shape;249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50" name="Google Shape;250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1" name="Google Shape;251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52" name="Google Shape;252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64" name="Google Shape;264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8" name="Google Shape;268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9" name="Google Shape;269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70" name="Google Shape;270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" name="Google Shape;286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7" name="Google Shape;287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0" name="Google Shape;290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91" name="Google Shape;291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" name="Google Shape;294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5" name="Google Shape;295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" name="Google Shape;298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9" name="Google Shape;299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02" name="Google Shape;302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4" name="Google Shape;304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11" name="Google Shape;311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12" name="Google Shape;312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5" name="Google Shape;315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6" name="Google Shape;316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23" name="Google Shape;323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3" name="Google Shape;333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34" name="Google Shape;334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8" name="Google Shape;33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42" name="Google Shape;34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5" name="Google Shape;345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7" name="Google Shape;347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8" name="Google Shape;348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55" name="Google Shape;355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" name="Google Shape;359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60" name="Google Shape;360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65" name="Google Shape;365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" name="Google Shape;368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9" name="Google Shape;36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75" name="Google Shape;375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8" name="Google Shape;378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9" name="Google Shape;379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3" name="Google Shape;383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" name="Google Shape;390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91" name="Google Shape;391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96" name="Google Shape;396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401" name="Google Shape;401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" name="Google Shape;407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11" name="Google Shape;411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4" name="Google Shape;414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1" name="Google Shape;421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22" name="Google Shape;422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1" name="Google Shape;431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7" name="Google Shape;437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8" name="Google Shape;438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5" name="Google Shape;44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8" name="Google Shape;448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9" name="Google Shape;449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2" name="Google Shape;452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53" name="Google Shape;453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60" name="Google Shape;460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75" name="Google Shape;475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8" name="Google Shape;478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9" name="Google Shape;479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82" name="Google Shape;482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84" name="Google Shape;484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85" name="Google Shape;48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92" name="Google Shape;49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97" name="Google Shape;497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502" name="Google Shape;502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506" name="Google Shape;506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5"/>
                </a:solidFill>
              </a:defRPr>
            </a:lvl1pPr>
            <a:lvl2pPr lvl="1">
              <a:buNone/>
              <a:defRPr>
                <a:solidFill>
                  <a:schemeClr val="accent5"/>
                </a:solidFill>
              </a:defRPr>
            </a:lvl2pPr>
            <a:lvl3pPr lvl="2">
              <a:buNone/>
              <a:defRPr>
                <a:solidFill>
                  <a:schemeClr val="accent5"/>
                </a:solidFill>
              </a:defRPr>
            </a:lvl3pPr>
            <a:lvl4pPr lvl="3">
              <a:buNone/>
              <a:defRPr>
                <a:solidFill>
                  <a:schemeClr val="accent5"/>
                </a:solidFill>
              </a:defRPr>
            </a:lvl4pPr>
            <a:lvl5pPr lvl="4">
              <a:buNone/>
              <a:defRPr>
                <a:solidFill>
                  <a:schemeClr val="accent5"/>
                </a:solidFill>
              </a:defRPr>
            </a:lvl5pPr>
            <a:lvl6pPr lvl="5">
              <a:buNone/>
              <a:defRPr>
                <a:solidFill>
                  <a:schemeClr val="accent5"/>
                </a:solidFill>
              </a:defRPr>
            </a:lvl6pPr>
            <a:lvl7pPr lvl="6">
              <a:buNone/>
              <a:defRPr>
                <a:solidFill>
                  <a:schemeClr val="accent5"/>
                </a:solidFill>
              </a:defRPr>
            </a:lvl7pPr>
            <a:lvl8pPr lvl="7">
              <a:buNone/>
              <a:defRPr>
                <a:solidFill>
                  <a:schemeClr val="accent5"/>
                </a:solidFill>
              </a:defRPr>
            </a:lvl8pPr>
            <a:lvl9pPr lvl="8">
              <a:buNone/>
              <a:defRPr>
                <a:solidFill>
                  <a:schemeClr val="accent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12" name="Google Shape;512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3" name="Google Shape;513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5" name="Google Shape;515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16" name="Google Shape;516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" name="Google Shape;520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21" name="Google Shape;521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27" name="Google Shape;527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9" name="Google Shape;529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30" name="Google Shape;530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37" name="Google Shape;53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42" name="Google Shape;542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47" name="Google Shape;547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51" name="Google Shape;551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57" name="Google Shape;55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61" name="Google Shape;56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5" name="Google Shape;56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66" name="Google Shape;56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73" name="Google Shape;57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78" name="Google Shape;57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2" name="Google Shape;58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83" name="Google Shape;58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90" name="Google Shape;59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3" name="Google Shape;59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6" name="Google Shape;59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97" name="Google Shape;59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604" name="Google Shape;60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8" name="Google Shape;60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09" name="Google Shape;60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3" name="Google Shape;61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9" name="Google Shape;61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20" name="Google Shape;62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24" name="Google Shape;62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7" name="Google Shape;62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28" name="Google Shape;62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2" name="Google Shape;63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7" name="Google Shape;637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8" name="Google Shape;638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9" name="Google Shape;639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1" name="Google Shape;641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4" name="Google Shape;644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5" name="Google Shape;645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6" name="Google Shape;646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7" name="Google Shape;647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8" name="Google Shape;648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9" name="Google Shape;64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53" name="Google Shape;653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54" name="Google Shape;654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55" name="Google Shape;655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56" name="Google Shape;656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57" name="Google Shape;657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58" name="Google Shape;658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59" name="Google Shape;659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61" name="Google Shape;661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62" name="Google Shape;662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6" name="Google Shape;666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67" name="Google Shape;667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1" name="Google Shape;671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78" name="Google Shape;67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1" name="Google Shape;681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2" name="Google Shape;682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83" name="Google Shape;683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4" name="Google Shape;684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85" name="Google Shape;685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6" name="Google Shape;686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87" name="Google Shape;687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8" name="Google Shape;688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89" name="Google Shape;689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2" name="Google Shape;692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93" name="Google Shape;69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7" name="Google Shape;697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98" name="Google Shape;698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705" name="Google Shape;705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08" name="Google Shape;708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9" name="Google Shape;709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710" name="Google Shape;710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17" name="Google Shape;717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1" name="Google Shape;721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22" name="Google Shape;722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7" name="Google Shape;727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29" name="Google Shape;729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0" name="Google Shape;730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31" name="Google Shape;731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Google Shape;735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36" name="Google Shape;736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42" name="Google Shape;742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44" name="Google Shape;744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45" name="Google Shape;745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52" name="Google Shape;752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6" name="Google Shape;756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57" name="Google Shape;757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" name="Google Shape;761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62" name="Google Shape;762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5" name="Google Shape;765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66" name="Google Shape;766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9" name="Google Shape;769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0" name="Google Shape;770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2" name="Google Shape;772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3" name="Google Shape;773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4" name="Google Shape;774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5" name="Google Shape;77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8" name="Google Shape;778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9" name="Google Shape;779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0" name="Google Shape;780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1" name="Google Shape;781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2" name="Google Shape;782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3" name="Google Shape;783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4" name="Google Shape;784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5" name="Google Shape;785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6" name="Google Shape;786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7" name="Google Shape;787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8" name="Google Shape;788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9" name="Google Shape;789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90" name="Google Shape;790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4" name="Google Shape;794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95" name="Google Shape;795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1" name="Google Shape;801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02" name="Google Shape;802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6" name="Google Shape;806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07" name="Google Shape;807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12" name="Google Shape;812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19" name="Google Shape;819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22" name="Google Shape;822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5" name="Google Shape;825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26" name="Google Shape;826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33" name="Google Shape;833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7" name="Google Shape;837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38" name="Google Shape;838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2" name="Google Shape;842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8" name="Google Shape;848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49" name="Google Shape;849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" name="Google Shape;852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53" name="Google Shape;85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9" name="Google Shape;859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60" name="Google Shape;860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64" name="Google Shape;864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69" name="Google Shape;869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0" name="Google Shape;880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81" name="Google Shape;881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7" name="Google Shape;887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88" name="Google Shape;888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2" name="Google Shape;892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93" name="Google Shape;893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96" name="Google Shape;896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00" name="Google Shape;900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901" name="Google Shape;901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908" name="Google Shape;908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2" name="Google Shape;912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913" name="Google Shape;913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7" name="Google Shape;917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18" name="Google Shape;918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25" name="Google Shape;925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8" name="Google Shape;92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31" name="Google Shape;931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2" name="Google Shape;932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33" name="Google Shape;933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7" name="Google Shape;937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38" name="Google Shape;938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4" name="Google Shape;944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45" name="Google Shape;945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9" name="Google Shape;949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50" name="Google Shape;950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4" name="Google Shape;954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55" name="Google Shape;955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1" name="Google Shape;961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62" name="Google Shape;96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65" name="Google Shape;965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8" name="Google Shape;968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69" name="Google Shape;969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76" name="Google Shape;976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81" name="Google Shape;981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5" name="Google Shape;985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1" name="Google Shape;991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92" name="Google Shape;99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96" name="Google Shape;996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9" name="Google Shape;999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00" name="Google Shape;1000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6" name="Google Shape;1006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07" name="Google Shape;1007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8" name="Google Shape;1008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09" name="Google Shape;1009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0" name="Google Shape;1010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11" name="Google Shape;1011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5" name="Google Shape;1015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016" name="Google Shape;1016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2" name="Google Shape;1022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23" name="Google Shape;1023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28" name="Google Shape;1028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2" name="Google Shape;1032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33" name="Google Shape;1033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40" name="Google Shape;1040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43" name="Google Shape;1043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6" name="Google Shape;1046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47" name="Google Shape;104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3" name="Google Shape;1053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54" name="Google Shape;105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59" name="Google Shape;105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3" name="Google Shape;1063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9" name="Google Shape;1069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70" name="Google Shape;1070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74" name="Google Shape;1074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7" name="Google Shape;1077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78" name="Google Shape;1078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1" name="Google Shape;108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84" name="Google Shape;108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85" name="Google Shape;108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6" name="Google Shape;108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87" name="Google Shape;108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88" name="Google Shape;108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2" name="Google Shape;109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93" name="Google Shape;109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7" name="Google Shape;109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98" name="Google Shape;109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04" name="Google Shape;110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05" name="Google Shape;110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06" name="Google Shape;110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07" name="Google Shape;110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08" name="Google Shape;110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09" name="Google Shape;110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10" name="Google Shape;111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2" name="Google Shape;1112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14" name="Google Shape;1114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15" name="Google Shape;1115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21" name="Google Shape;1121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27" name="Google Shape;1127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29" name="Google Shape;1129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30" name="Google Shape;1130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6" name="Google Shape;1136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37" name="Google Shape;1137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42" name="Google Shape;1142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6" name="Google Shape;1146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47" name="Google Shape;1147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0" name="Google Shape;1150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51" name="Google Shape;1151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4" name="Google Shape;1154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55" name="Google Shape;1155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56" name="Google Shape;1156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57" name="Google Shape;1157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58" name="Google Shape;1158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59" name="Google Shape;1159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60" name="Google Shape;116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64" name="Google Shape;1164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66" name="Google Shape;1166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67" name="Google Shape;1167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72" name="Google Shape;1172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78" name="Google Shape;1178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0" name="Google Shape;1180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81" name="Google Shape;1181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7" name="Google Shape;1187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88" name="Google Shape;1188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93" name="Google Shape;1193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7" name="Google Shape;1197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98" name="Google Shape;1198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1" name="Google Shape;1201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02" name="Google Shape;1202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5" name="Google Shape;120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08" name="Google Shape;1208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10" name="Google Shape;1210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211" name="Google Shape;1211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216" name="Google Shape;1216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22" name="Google Shape;1222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24" name="Google Shape;1224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25" name="Google Shape;1225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1" name="Google Shape;1231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32" name="Google Shape;1232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37" name="Google Shape;1237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1" name="Google Shape;1241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42" name="Google Shape;1242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5" name="Google Shape;1245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46" name="Google Shape;1246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9" name="Google Shape;124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52" name="Google Shape;1252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5" name="Google Shape;1255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56" name="Google Shape;1256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2" name="Google Shape;1262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63" name="Google Shape;1263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7" name="Google Shape;1267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74" name="Google Shape;127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7" name="Google Shape;1277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78" name="Google Shape;127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82" name="Google Shape;1282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5" name="Google Shape;1285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87" name="Google Shape;1287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88" name="Google Shape;1288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4" name="Google Shape;1294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95" name="Google Shape;1295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9" name="Google Shape;1299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300" name="Google Shape;1300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4" name="Google Shape;1304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305" name="Google Shape;130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8" name="Google Shape;1308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309" name="Google Shape;1309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2" name="Google Shape;131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315" name="Google Shape;1315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8" name="Google Shape;1318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319" name="Google Shape;1319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3" name="Google Shape;1323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324" name="Google Shape;1324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0" name="Google Shape;1330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31" name="Google Shape;1331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34" name="Google Shape;1334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5" name="Google Shape;1335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36" name="Google Shape;1336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43" name="Google Shape;1343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7" name="Google Shape;1347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48" name="Google Shape;1348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1" name="Google Shape;135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3" name="Google Shape;1353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57" name="Google Shape;1357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58" name="Google Shape;1358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4" name="Google Shape;1364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65" name="Google Shape;1365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70" name="Google Shape;1370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75" name="Google Shape;1375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1" name="Google Shape;1381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82" name="Google Shape;1382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85" name="Google Shape;1385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88" name="Google Shape;1388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89" name="Google Shape;1389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5" name="Google Shape;1395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96" name="Google Shape;1396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0" name="Google Shape;1400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401" name="Google Shape;1401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5" name="Google Shape;1405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1" name="Google Shape;1411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412" name="Google Shape;1412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5" name="Google Shape;1415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416" name="Google Shape;141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420" name="Google Shape;142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3" name="Google Shape;1423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5" name="Google Shape;1425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426" name="Google Shape;1426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7" name="Google Shape;1427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8" name="Google Shape;1428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29" name="Google Shape;1429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34" name="Google Shape;1434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8" name="Google Shape;1438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39" name="Google Shape;1439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45" name="Google Shape;144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7" name="Google Shape;1447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48" name="Google Shape;1448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49" name="Google Shape;1449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50" name="Google Shape;145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1" name="Google Shape;1461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62" name="Google Shape;146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66" name="Google Shape;1466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67" name="Google Shape;1467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68" name="Google Shape;1468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4" name="Google Shape;1474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75" name="Google Shape;1475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9" name="Google Shape;1479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80" name="Google Shape;1480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4" name="Google Shape;1484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85" name="Google Shape;148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8" name="Google Shape;1488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89" name="Google Shape;148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2" name="Google Shape;1492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93" name="Google Shape;1493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97" name="Google Shape;149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00" name="Google Shape;1500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1" name="Google Shape;1501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2" name="Google Shape;1502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6" name="Google Shape;150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8" name="Google Shape;1508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09" name="Google Shape;1509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0" name="Google Shape;1510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3" name="Google Shape;1513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14" name="Google Shape;1514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0" name="Google Shape;1520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21" name="Google Shape;1521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5" name="Google Shape;1525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26" name="Google Shape;1526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0" name="Google Shape;1530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31" name="Google Shape;1531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7" name="Google Shape;1537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38" name="Google Shape;1538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41" name="Google Shape;1541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2" name="Google Shape;1542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3" name="Google Shape;1543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44" name="Google Shape;1544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45" name="Google Shape;154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1" name="Google Shape;1551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52" name="Google Shape;155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6" name="Google Shape;1556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57" name="Google Shape;155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1" name="Google Shape;1561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7" name="Google Shape;1567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68" name="Google Shape;1568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1" name="Google Shape;1571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72" name="Google Shape;1572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75" name="Google Shape;157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7" name="Google Shape;157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78" name="Google Shape;157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0" name="Google Shape;158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81" name="Google Shape;158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82" name="Google Shape;158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3" name="Google Shape;158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4" name="Google Shape;158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6" name="Google Shape;158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87" name="Google Shape;158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3" name="Google Shape;159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94" name="Google Shape;159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8" name="Google Shape;159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99" name="Google Shape;159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3" name="Google Shape;160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604" name="Google Shape;160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0" name="Google Shape;161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14" name="Google Shape;161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5" name="Google Shape;161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6" name="Google Shape;161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17" name="Google Shape;161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18" name="Google Shape;161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4" name="Google Shape;162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25" name="Google Shape;162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9" name="Google Shape;162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30" name="Google Shape;163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4" name="Google Shape;163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0" name="Google Shape;164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41" name="Google Shape;164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4" name="Google Shape;164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45" name="Google Shape;164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48" name="Google Shape;164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49" name="Google Shape;164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52" name="Google Shape;1652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53" name="Google Shape;1653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54" name="Google Shape;1654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55" name="Google Shape;1655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56" name="Google Shape;1656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57" name="Google Shape;1657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3" name="Google Shape;1663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64" name="Google Shape;1664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3" name="Google Shape;1673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74" name="Google Shape;1674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75" name="Google Shape;1675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1" name="Google Shape;1681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82" name="Google Shape;1682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6" name="Google Shape;1686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87" name="Google Shape;1687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1" name="Google Shape;1691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92" name="Google Shape;1692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5" name="Google Shape;1695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96" name="Google Shape;1696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9" name="Google Shape;1699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700" name="Google Shape;1700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3" name="Google Shape;1703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704" name="Google Shape;1704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707" name="Google Shape;1707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8" name="Google Shape;1708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9" name="Google Shape;1709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3" name="Google Shape;171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youtube.com/watch?v=4NSKSwUBvUg" TargetMode="External"/><Relationship Id="rId4" Type="http://schemas.openxmlformats.org/officeDocument/2006/relationships/image" Target="../media/image2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33"/>
          <p:cNvSpPr txBox="1"/>
          <p:nvPr>
            <p:ph type="ctrTitle"/>
          </p:nvPr>
        </p:nvSpPr>
        <p:spPr>
          <a:xfrm>
            <a:off x="5076925" y="1992800"/>
            <a:ext cx="39354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Système de réservation via Chatbot</a:t>
            </a:r>
            <a:endParaRPr sz="4300">
              <a:solidFill>
                <a:schemeClr val="dk2"/>
              </a:solidFill>
            </a:endParaRPr>
          </a:p>
        </p:txBody>
      </p:sp>
      <p:sp>
        <p:nvSpPr>
          <p:cNvPr id="1719" name="Google Shape;1719;p33"/>
          <p:cNvSpPr txBox="1"/>
          <p:nvPr>
            <p:ph idx="1" type="subTitle"/>
          </p:nvPr>
        </p:nvSpPr>
        <p:spPr>
          <a:xfrm>
            <a:off x="5248650" y="3692775"/>
            <a:ext cx="34248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Projet de Semestre 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Mars 2024 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200"/>
              <a:t>Rodrigues dos Santos Fabio</a:t>
            </a:r>
            <a:endParaRPr i="1" sz="22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  <p:pic>
        <p:nvPicPr>
          <p:cNvPr id="1720" name="Google Shape;17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752413"/>
            <a:ext cx="4943858" cy="363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33"/>
          <p:cNvSpPr txBox="1"/>
          <p:nvPr/>
        </p:nvSpPr>
        <p:spPr>
          <a:xfrm>
            <a:off x="855250" y="4278325"/>
            <a:ext cx="2000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</a:t>
            </a:r>
            <a:r>
              <a:rPr i="1" lang="en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shopifieddna.com</a:t>
            </a:r>
            <a:endParaRPr i="1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1722" name="Google Shape;172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34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728" name="Google Shape;172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9" name="Google Shape;1729;p34"/>
          <p:cNvSpPr txBox="1"/>
          <p:nvPr>
            <p:ph idx="1" type="subTitle"/>
          </p:nvPr>
        </p:nvSpPr>
        <p:spPr>
          <a:xfrm>
            <a:off x="2793450" y="1277050"/>
            <a:ext cx="3557100" cy="1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Projet de semestre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Un Chatbot par messages pour des réservations</a:t>
            </a:r>
            <a:endParaRPr/>
          </a:p>
        </p:txBody>
      </p:sp>
      <p:sp>
        <p:nvSpPr>
          <p:cNvPr id="1730" name="Google Shape;1730;p34"/>
          <p:cNvSpPr txBox="1"/>
          <p:nvPr/>
        </p:nvSpPr>
        <p:spPr>
          <a:xfrm>
            <a:off x="2803200" y="2596675"/>
            <a:ext cx="38814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●"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Entre-deux entre réservation web et téléphonique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●"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Pas besoin de Site Web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●"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Facilité d’utilisation et accessibilité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600"/>
              <a:buFont typeface="Barlow Semi Condensed"/>
              <a:buChar char="●"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Système complémentaire à la réservation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731" name="Google Shape;1731;p34"/>
          <p:cNvSpPr txBox="1"/>
          <p:nvPr/>
        </p:nvSpPr>
        <p:spPr>
          <a:xfrm>
            <a:off x="917800" y="3272125"/>
            <a:ext cx="173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Intérêt ?</a:t>
            </a:r>
            <a:endParaRPr b="1" sz="22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732" name="Google Shape;1732;p34"/>
          <p:cNvSpPr txBox="1"/>
          <p:nvPr/>
        </p:nvSpPr>
        <p:spPr>
          <a:xfrm>
            <a:off x="917800" y="1525000"/>
            <a:ext cx="173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Quoi ?</a:t>
            </a:r>
            <a:endParaRPr b="1" sz="22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35"/>
          <p:cNvSpPr txBox="1"/>
          <p:nvPr>
            <p:ph idx="4294967295"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Méthodologie de travail</a:t>
            </a:r>
            <a:endParaRPr/>
          </a:p>
        </p:txBody>
      </p:sp>
      <p:sp>
        <p:nvSpPr>
          <p:cNvPr id="1738" name="Google Shape;173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9" name="Google Shape;1739;p35"/>
          <p:cNvSpPr txBox="1"/>
          <p:nvPr/>
        </p:nvSpPr>
        <p:spPr>
          <a:xfrm>
            <a:off x="3259950" y="3506175"/>
            <a:ext cx="2624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1740" name="Google Shape;17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7328"/>
            <a:ext cx="8839204" cy="1868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36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Méthodologie de travail - Panorama de sources</a:t>
            </a:r>
            <a:endParaRPr/>
          </a:p>
        </p:txBody>
      </p:sp>
      <p:sp>
        <p:nvSpPr>
          <p:cNvPr id="1746" name="Google Shape;174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7" name="Google Shape;17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388" y="1288875"/>
            <a:ext cx="3086425" cy="308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36"/>
          <p:cNvSpPr txBox="1"/>
          <p:nvPr>
            <p:ph idx="1" type="body"/>
          </p:nvPr>
        </p:nvSpPr>
        <p:spPr>
          <a:xfrm>
            <a:off x="675675" y="1152150"/>
            <a:ext cx="4576500" cy="35295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400"/>
              <a:buChar char="➔"/>
            </a:pPr>
            <a:r>
              <a:rPr lang="en" sz="1400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Analyticsvidhya.com, Blogs sur l’I.A.</a:t>
            </a:r>
            <a:endParaRPr sz="140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 Medium"/>
              <a:buChar char="➔"/>
            </a:pPr>
            <a:r>
              <a:rPr lang="en" sz="1400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IBM.com, Informations technologiques</a:t>
            </a:r>
            <a:endParaRPr sz="140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 Medium"/>
              <a:buChar char="➔"/>
            </a:pPr>
            <a:r>
              <a:rPr lang="en" sz="1400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Medium.com, Plateforme de publication</a:t>
            </a:r>
            <a:endParaRPr sz="140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 Medium"/>
              <a:buChar char="➔"/>
            </a:pPr>
            <a:r>
              <a:rPr lang="en" sz="1400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arXiv.org, Archive en ligne de publications scientifiques</a:t>
            </a:r>
            <a:endParaRPr sz="140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749" name="Google Shape;1749;p36"/>
          <p:cNvSpPr txBox="1"/>
          <p:nvPr/>
        </p:nvSpPr>
        <p:spPr>
          <a:xfrm>
            <a:off x="6320050" y="3684100"/>
            <a:ext cx="1835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</a:t>
            </a: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istockphoto.com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37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1755" name="Google Shape;1755;p37"/>
          <p:cNvSpPr txBox="1"/>
          <p:nvPr>
            <p:ph idx="1" type="subTitle"/>
          </p:nvPr>
        </p:nvSpPr>
        <p:spPr>
          <a:xfrm>
            <a:off x="1664208" y="637393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Définition de Chatbot</a:t>
            </a:r>
            <a:endParaRPr sz="2000"/>
          </a:p>
        </p:txBody>
      </p:sp>
      <p:sp>
        <p:nvSpPr>
          <p:cNvPr id="1756" name="Google Shape;1756;p37"/>
          <p:cNvSpPr txBox="1"/>
          <p:nvPr>
            <p:ph idx="3" type="subTitle"/>
          </p:nvPr>
        </p:nvSpPr>
        <p:spPr>
          <a:xfrm>
            <a:off x="1664200" y="1787650"/>
            <a:ext cx="32376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Étude des solutions existantes</a:t>
            </a:r>
            <a:endParaRPr sz="2000"/>
          </a:p>
        </p:txBody>
      </p:sp>
      <p:sp>
        <p:nvSpPr>
          <p:cNvPr id="1757" name="Google Shape;1757;p37"/>
          <p:cNvSpPr txBox="1"/>
          <p:nvPr>
            <p:ph idx="5" type="subTitle"/>
          </p:nvPr>
        </p:nvSpPr>
        <p:spPr>
          <a:xfrm>
            <a:off x="1664208" y="2874777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Détail technologique</a:t>
            </a:r>
            <a:endParaRPr sz="2000"/>
          </a:p>
        </p:txBody>
      </p:sp>
      <p:sp>
        <p:nvSpPr>
          <p:cNvPr id="1758" name="Google Shape;1758;p37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9" name="Google Shape;1759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1760" name="Google Shape;1760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761" name="Google Shape;1761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3" name="Google Shape;1763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764" name="Google Shape;1764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65" name="Google Shape;1765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66" name="Google Shape;1766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767" name="Google Shape;1767;p37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768" name="Google Shape;1768;p37"/>
          <p:cNvGrpSpPr/>
          <p:nvPr/>
        </p:nvGrpSpPr>
        <p:grpSpPr>
          <a:xfrm>
            <a:off x="731647" y="1712898"/>
            <a:ext cx="635100" cy="734640"/>
            <a:chOff x="731647" y="573573"/>
            <a:chExt cx="635100" cy="734640"/>
          </a:xfrm>
        </p:grpSpPr>
        <p:grpSp>
          <p:nvGrpSpPr>
            <p:cNvPr id="1769" name="Google Shape;1769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770" name="Google Shape;1770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2" name="Google Shape;1772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773" name="Google Shape;1773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74" name="Google Shape;1774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75" name="Google Shape;1775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776" name="Google Shape;1776;p37"/>
          <p:cNvSpPr txBox="1"/>
          <p:nvPr>
            <p:ph idx="9" type="title"/>
          </p:nvPr>
        </p:nvSpPr>
        <p:spPr>
          <a:xfrm>
            <a:off x="813816" y="186170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777" name="Google Shape;1777;p37"/>
          <p:cNvGrpSpPr/>
          <p:nvPr/>
        </p:nvGrpSpPr>
        <p:grpSpPr>
          <a:xfrm>
            <a:off x="724872" y="2762573"/>
            <a:ext cx="635100" cy="734640"/>
            <a:chOff x="731647" y="573573"/>
            <a:chExt cx="635100" cy="734640"/>
          </a:xfrm>
        </p:grpSpPr>
        <p:grpSp>
          <p:nvGrpSpPr>
            <p:cNvPr id="1778" name="Google Shape;1778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779" name="Google Shape;1779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1" name="Google Shape;1781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782" name="Google Shape;1782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83" name="Google Shape;1783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84" name="Google Shape;1784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785" name="Google Shape;1785;p37"/>
          <p:cNvSpPr txBox="1"/>
          <p:nvPr>
            <p:ph idx="9" type="title"/>
          </p:nvPr>
        </p:nvSpPr>
        <p:spPr>
          <a:xfrm>
            <a:off x="807041" y="2911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86" name="Google Shape;1786;p37"/>
          <p:cNvSpPr txBox="1"/>
          <p:nvPr>
            <p:ph idx="5" type="subTitle"/>
          </p:nvPr>
        </p:nvSpPr>
        <p:spPr>
          <a:xfrm>
            <a:off x="1664208" y="3961902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Panel</a:t>
            </a:r>
            <a:r>
              <a:rPr lang="en" sz="2000"/>
              <a:t> des technologies étudiées</a:t>
            </a:r>
            <a:endParaRPr sz="2000"/>
          </a:p>
        </p:txBody>
      </p:sp>
      <p:grpSp>
        <p:nvGrpSpPr>
          <p:cNvPr id="1787" name="Google Shape;1787;p37"/>
          <p:cNvGrpSpPr/>
          <p:nvPr/>
        </p:nvGrpSpPr>
        <p:grpSpPr>
          <a:xfrm>
            <a:off x="724872" y="3886973"/>
            <a:ext cx="635100" cy="734640"/>
            <a:chOff x="731647" y="573573"/>
            <a:chExt cx="635100" cy="734640"/>
          </a:xfrm>
        </p:grpSpPr>
        <p:grpSp>
          <p:nvGrpSpPr>
            <p:cNvPr id="1788" name="Google Shape;1788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789" name="Google Shape;1789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1" name="Google Shape;1791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792" name="Google Shape;1792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93" name="Google Shape;1793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794" name="Google Shape;1794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795" name="Google Shape;1795;p37"/>
          <p:cNvSpPr txBox="1"/>
          <p:nvPr>
            <p:ph idx="9" type="title"/>
          </p:nvPr>
        </p:nvSpPr>
        <p:spPr>
          <a:xfrm>
            <a:off x="807041" y="40357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96" name="Google Shape;1796;p37"/>
          <p:cNvSpPr txBox="1"/>
          <p:nvPr>
            <p:ph idx="1" type="subTitle"/>
          </p:nvPr>
        </p:nvSpPr>
        <p:spPr>
          <a:xfrm>
            <a:off x="6055233" y="1178393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Démonstration des prototypes</a:t>
            </a:r>
            <a:endParaRPr sz="2000"/>
          </a:p>
        </p:txBody>
      </p:sp>
      <p:sp>
        <p:nvSpPr>
          <p:cNvPr id="1797" name="Google Shape;1797;p37"/>
          <p:cNvSpPr txBox="1"/>
          <p:nvPr>
            <p:ph idx="9" type="title"/>
          </p:nvPr>
        </p:nvSpPr>
        <p:spPr>
          <a:xfrm>
            <a:off x="5216741" y="132720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8" name="Google Shape;1798;p37"/>
          <p:cNvGrpSpPr/>
          <p:nvPr/>
        </p:nvGrpSpPr>
        <p:grpSpPr>
          <a:xfrm>
            <a:off x="5134572" y="1178398"/>
            <a:ext cx="635100" cy="734640"/>
            <a:chOff x="731647" y="573573"/>
            <a:chExt cx="635100" cy="734640"/>
          </a:xfrm>
        </p:grpSpPr>
        <p:grpSp>
          <p:nvGrpSpPr>
            <p:cNvPr id="1799" name="Google Shape;1799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800" name="Google Shape;1800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2" name="Google Shape;1802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803" name="Google Shape;1803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804" name="Google Shape;1804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805" name="Google Shape;1805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806" name="Google Shape;1806;p37"/>
          <p:cNvSpPr txBox="1"/>
          <p:nvPr>
            <p:ph idx="9" type="title"/>
          </p:nvPr>
        </p:nvSpPr>
        <p:spPr>
          <a:xfrm>
            <a:off x="5216741" y="132720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807" name="Google Shape;1807;p37"/>
          <p:cNvSpPr txBox="1"/>
          <p:nvPr>
            <p:ph idx="1" type="subTitle"/>
          </p:nvPr>
        </p:nvSpPr>
        <p:spPr>
          <a:xfrm>
            <a:off x="6055233" y="3421793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Conclusion</a:t>
            </a:r>
            <a:endParaRPr sz="2000"/>
          </a:p>
        </p:txBody>
      </p:sp>
      <p:sp>
        <p:nvSpPr>
          <p:cNvPr id="1808" name="Google Shape;1808;p37"/>
          <p:cNvSpPr txBox="1"/>
          <p:nvPr>
            <p:ph idx="9" type="title"/>
          </p:nvPr>
        </p:nvSpPr>
        <p:spPr>
          <a:xfrm>
            <a:off x="5216741" y="357060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9" name="Google Shape;1809;p37"/>
          <p:cNvGrpSpPr/>
          <p:nvPr/>
        </p:nvGrpSpPr>
        <p:grpSpPr>
          <a:xfrm>
            <a:off x="5134572" y="3421798"/>
            <a:ext cx="635100" cy="734640"/>
            <a:chOff x="731647" y="573573"/>
            <a:chExt cx="635100" cy="734640"/>
          </a:xfrm>
        </p:grpSpPr>
        <p:grpSp>
          <p:nvGrpSpPr>
            <p:cNvPr id="1810" name="Google Shape;1810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811" name="Google Shape;1811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3" name="Google Shape;1813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814" name="Google Shape;1814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815" name="Google Shape;1815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816" name="Google Shape;1816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817" name="Google Shape;1817;p37"/>
          <p:cNvSpPr txBox="1"/>
          <p:nvPr>
            <p:ph idx="9" type="title"/>
          </p:nvPr>
        </p:nvSpPr>
        <p:spPr>
          <a:xfrm>
            <a:off x="5216741" y="357060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818" name="Google Shape;1818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38"/>
          <p:cNvSpPr txBox="1"/>
          <p:nvPr>
            <p:ph type="title"/>
          </p:nvPr>
        </p:nvSpPr>
        <p:spPr>
          <a:xfrm>
            <a:off x="829650" y="1344698"/>
            <a:ext cx="3566100" cy="15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Définition de Chatbot</a:t>
            </a:r>
            <a:endParaRPr sz="4700"/>
          </a:p>
        </p:txBody>
      </p:sp>
      <p:sp>
        <p:nvSpPr>
          <p:cNvPr id="1824" name="Google Shape;182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pic>
        <p:nvPicPr>
          <p:cNvPr id="1825" name="Google Shape;18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162" y="1059575"/>
            <a:ext cx="4376987" cy="2673591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38"/>
          <p:cNvSpPr txBox="1"/>
          <p:nvPr/>
        </p:nvSpPr>
        <p:spPr>
          <a:xfrm>
            <a:off x="5503175" y="3733175"/>
            <a:ext cx="2762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1827" name="Google Shape;1827;p38"/>
          <p:cNvSpPr txBox="1"/>
          <p:nvPr/>
        </p:nvSpPr>
        <p:spPr>
          <a:xfrm>
            <a:off x="898200" y="2801175"/>
            <a:ext cx="34290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Application avec laquelle communique un utilisateur sous formes de requêtes-réponses.</a:t>
            </a:r>
            <a:endParaRPr i="1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39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Définition de Chatbot : Trois types</a:t>
            </a:r>
            <a:endParaRPr/>
          </a:p>
        </p:txBody>
      </p:sp>
      <p:sp>
        <p:nvSpPr>
          <p:cNvPr id="1833" name="Google Shape;1833;p39"/>
          <p:cNvSpPr txBox="1"/>
          <p:nvPr>
            <p:ph idx="1" type="subTitle"/>
          </p:nvPr>
        </p:nvSpPr>
        <p:spPr>
          <a:xfrm>
            <a:off x="372087" y="1329892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Chatbot à Menu</a:t>
            </a:r>
            <a:endParaRPr sz="18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34" name="Google Shape;183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5" name="Google Shape;1835;p39"/>
          <p:cNvSpPr txBox="1"/>
          <p:nvPr>
            <p:ph idx="2" type="subTitle"/>
          </p:nvPr>
        </p:nvSpPr>
        <p:spPr>
          <a:xfrm>
            <a:off x="3009812" y="1329892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Chatbot par Tokens</a:t>
            </a:r>
            <a:endParaRPr sz="18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36" name="Google Shape;1836;p39"/>
          <p:cNvSpPr txBox="1"/>
          <p:nvPr>
            <p:ph idx="3" type="subTitle"/>
          </p:nvPr>
        </p:nvSpPr>
        <p:spPr>
          <a:xfrm>
            <a:off x="6185487" y="1329892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Chatbot Intelligent</a:t>
            </a:r>
            <a:endParaRPr sz="18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37" name="Google Shape;1837;p39"/>
          <p:cNvSpPr txBox="1"/>
          <p:nvPr>
            <p:ph idx="2" type="subTitle"/>
          </p:nvPr>
        </p:nvSpPr>
        <p:spPr>
          <a:xfrm>
            <a:off x="581613" y="1909512"/>
            <a:ext cx="17649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400"/>
              <a:t>Choix multiples</a:t>
            </a:r>
            <a:endParaRPr sz="14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400"/>
              <a:t>Arbre de décision</a:t>
            </a:r>
            <a:endParaRPr sz="1400"/>
          </a:p>
        </p:txBody>
      </p:sp>
      <p:sp>
        <p:nvSpPr>
          <p:cNvPr id="1838" name="Google Shape;1838;p39"/>
          <p:cNvSpPr txBox="1"/>
          <p:nvPr>
            <p:ph idx="2" type="subTitle"/>
          </p:nvPr>
        </p:nvSpPr>
        <p:spPr>
          <a:xfrm>
            <a:off x="3236488" y="1909513"/>
            <a:ext cx="17649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400"/>
              <a:t>Détection de Tokens</a:t>
            </a:r>
            <a:endParaRPr sz="14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400"/>
              <a:t>Matching de règles</a:t>
            </a:r>
            <a:endParaRPr sz="1400"/>
          </a:p>
        </p:txBody>
      </p:sp>
      <p:sp>
        <p:nvSpPr>
          <p:cNvPr id="1839" name="Google Shape;1839;p39"/>
          <p:cNvSpPr txBox="1"/>
          <p:nvPr>
            <p:ph idx="2" type="subTitle"/>
          </p:nvPr>
        </p:nvSpPr>
        <p:spPr>
          <a:xfrm>
            <a:off x="6350613" y="1909513"/>
            <a:ext cx="19173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400"/>
              <a:t>Analyse de texte</a:t>
            </a:r>
            <a:endParaRPr sz="14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400"/>
              <a:t>Traitement du texte par NLU</a:t>
            </a:r>
            <a:endParaRPr sz="14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/>
              <a:t>(Natural Language understanding)</a:t>
            </a:r>
            <a:endParaRPr sz="1400"/>
          </a:p>
        </p:txBody>
      </p:sp>
      <p:sp>
        <p:nvSpPr>
          <p:cNvPr id="1840" name="Google Shape;1840;p39"/>
          <p:cNvSpPr txBox="1"/>
          <p:nvPr/>
        </p:nvSpPr>
        <p:spPr>
          <a:xfrm>
            <a:off x="529175" y="4674950"/>
            <a:ext cx="148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Vecteezy.com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1841" name="Google Shape;18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837" y="3555327"/>
            <a:ext cx="2960200" cy="644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2" name="Google Shape;184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73" y="3520364"/>
            <a:ext cx="1483200" cy="115458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3" name="Google Shape;1843;p39"/>
          <p:cNvSpPr txBox="1"/>
          <p:nvPr/>
        </p:nvSpPr>
        <p:spPr>
          <a:xfrm>
            <a:off x="3192488" y="4416600"/>
            <a:ext cx="1818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1844" name="Google Shape;184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0000" y="3555325"/>
            <a:ext cx="3169404" cy="1154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5" name="Google Shape;1845;p39"/>
          <p:cNvSpPr txBox="1"/>
          <p:nvPr/>
        </p:nvSpPr>
        <p:spPr>
          <a:xfrm>
            <a:off x="6677975" y="4709900"/>
            <a:ext cx="1818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Medium.com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40"/>
          <p:cNvSpPr txBox="1"/>
          <p:nvPr>
            <p:ph type="title"/>
          </p:nvPr>
        </p:nvSpPr>
        <p:spPr>
          <a:xfrm>
            <a:off x="1305041" y="1427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Définition de Chatbot : Chatbot à menus</a:t>
            </a:r>
            <a:endParaRPr/>
          </a:p>
        </p:txBody>
      </p:sp>
      <p:sp>
        <p:nvSpPr>
          <p:cNvPr id="1851" name="Google Shape;185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‹#›</a:t>
            </a:fld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852" name="Google Shape;18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000" y="1049750"/>
            <a:ext cx="3340001" cy="3151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3" name="Google Shape;1853;p40"/>
          <p:cNvSpPr txBox="1"/>
          <p:nvPr>
            <p:ph idx="1" type="subTitle"/>
          </p:nvPr>
        </p:nvSpPr>
        <p:spPr>
          <a:xfrm>
            <a:off x="488075" y="1973025"/>
            <a:ext cx="20391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Interface utilisateur basique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Implémentation simple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Facilité de modification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54" name="Google Shape;1854;p40"/>
          <p:cNvSpPr/>
          <p:nvPr/>
        </p:nvSpPr>
        <p:spPr>
          <a:xfrm>
            <a:off x="1086575" y="973800"/>
            <a:ext cx="842100" cy="869100"/>
          </a:xfrm>
          <a:prstGeom prst="mathPlus">
            <a:avLst>
              <a:gd fmla="val 23520" name="adj1"/>
            </a:avLst>
          </a:prstGeom>
          <a:solidFill>
            <a:srgbClr val="00FF00"/>
          </a:solidFill>
          <a:ln cap="flat" cmpd="sng" w="9525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40"/>
          <p:cNvSpPr/>
          <p:nvPr/>
        </p:nvSpPr>
        <p:spPr>
          <a:xfrm>
            <a:off x="6979500" y="907200"/>
            <a:ext cx="842100" cy="10023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40"/>
          <p:cNvSpPr txBox="1"/>
          <p:nvPr>
            <p:ph idx="2" type="subTitle"/>
          </p:nvPr>
        </p:nvSpPr>
        <p:spPr>
          <a:xfrm>
            <a:off x="6381000" y="1973025"/>
            <a:ext cx="20391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Plus l’app grandit, plus l’arbre devient complexe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Cadre très restreint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Cas non définis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57" name="Google Shape;1857;p40"/>
          <p:cNvSpPr txBox="1"/>
          <p:nvPr/>
        </p:nvSpPr>
        <p:spPr>
          <a:xfrm>
            <a:off x="3799088" y="4249750"/>
            <a:ext cx="1818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41"/>
          <p:cNvSpPr txBox="1"/>
          <p:nvPr>
            <p:ph type="title"/>
          </p:nvPr>
        </p:nvSpPr>
        <p:spPr>
          <a:xfrm>
            <a:off x="1823550" y="172723"/>
            <a:ext cx="5496900" cy="8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Définition de Chatbot : Chatbot par tokens</a:t>
            </a:r>
            <a:endParaRPr/>
          </a:p>
        </p:txBody>
      </p:sp>
      <p:sp>
        <p:nvSpPr>
          <p:cNvPr id="1863" name="Google Shape;1863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4" name="Google Shape;1864;p41"/>
          <p:cNvSpPr txBox="1"/>
          <p:nvPr>
            <p:ph idx="1" type="subTitle"/>
          </p:nvPr>
        </p:nvSpPr>
        <p:spPr>
          <a:xfrm>
            <a:off x="1402450" y="1508025"/>
            <a:ext cx="31776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Cadre peu restrictif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Moins de données nécessaires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Permet une 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interaction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textuelle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65" name="Google Shape;1865;p41"/>
          <p:cNvSpPr/>
          <p:nvPr/>
        </p:nvSpPr>
        <p:spPr>
          <a:xfrm>
            <a:off x="2570200" y="730375"/>
            <a:ext cx="842100" cy="869100"/>
          </a:xfrm>
          <a:prstGeom prst="mathPlus">
            <a:avLst>
              <a:gd fmla="val 23520" name="adj1"/>
            </a:avLst>
          </a:prstGeom>
          <a:solidFill>
            <a:srgbClr val="00FF00"/>
          </a:solidFill>
          <a:ln cap="flat" cmpd="sng" w="9525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41"/>
          <p:cNvSpPr/>
          <p:nvPr/>
        </p:nvSpPr>
        <p:spPr>
          <a:xfrm>
            <a:off x="6052150" y="663775"/>
            <a:ext cx="842100" cy="10023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41"/>
          <p:cNvSpPr txBox="1"/>
          <p:nvPr>
            <p:ph idx="2" type="subTitle"/>
          </p:nvPr>
        </p:nvSpPr>
        <p:spPr>
          <a:xfrm>
            <a:off x="4580050" y="1313775"/>
            <a:ext cx="3786300" cy="16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Cadre existant, bien que moins strict que menus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Jeu de donnée conséquent pour Tokenisation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Complexité de scalabilité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868" name="Google Shape;18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563" y="2812900"/>
            <a:ext cx="5020875" cy="174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9" name="Google Shape;1869;p41"/>
          <p:cNvSpPr txBox="1"/>
          <p:nvPr/>
        </p:nvSpPr>
        <p:spPr>
          <a:xfrm>
            <a:off x="3662688" y="4562800"/>
            <a:ext cx="1818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42"/>
          <p:cNvSpPr txBox="1"/>
          <p:nvPr>
            <p:ph type="title"/>
          </p:nvPr>
        </p:nvSpPr>
        <p:spPr>
          <a:xfrm>
            <a:off x="1402441" y="13297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Définition de Chatbot : Chatbot Intelligent</a:t>
            </a:r>
            <a:endParaRPr/>
          </a:p>
        </p:txBody>
      </p:sp>
      <p:sp>
        <p:nvSpPr>
          <p:cNvPr id="1875" name="Google Shape;1875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‹#›</a:t>
            </a:fld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76" name="Google Shape;1876;p42"/>
          <p:cNvSpPr txBox="1"/>
          <p:nvPr>
            <p:ph idx="1" type="subTitle"/>
          </p:nvPr>
        </p:nvSpPr>
        <p:spPr>
          <a:xfrm>
            <a:off x="1845350" y="2406225"/>
            <a:ext cx="20391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Conversation dynamique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Cadre modulable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Dialogue plus personnel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77" name="Google Shape;1877;p42"/>
          <p:cNvSpPr/>
          <p:nvPr/>
        </p:nvSpPr>
        <p:spPr>
          <a:xfrm>
            <a:off x="2391750" y="1038675"/>
            <a:ext cx="842100" cy="869100"/>
          </a:xfrm>
          <a:prstGeom prst="mathPlus">
            <a:avLst>
              <a:gd fmla="val 23520" name="adj1"/>
            </a:avLst>
          </a:prstGeom>
          <a:solidFill>
            <a:srgbClr val="00FF00"/>
          </a:solidFill>
          <a:ln cap="flat" cmpd="sng" w="9525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42"/>
          <p:cNvSpPr/>
          <p:nvPr/>
        </p:nvSpPr>
        <p:spPr>
          <a:xfrm>
            <a:off x="5586750" y="1038675"/>
            <a:ext cx="842100" cy="10023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42"/>
          <p:cNvSpPr txBox="1"/>
          <p:nvPr>
            <p:ph idx="2" type="subTitle"/>
          </p:nvPr>
        </p:nvSpPr>
        <p:spPr>
          <a:xfrm>
            <a:off x="4551000" y="2264775"/>
            <a:ext cx="2913600" cy="20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Complexité d’implémentation selon les besoins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Multiples jeux de données conséquents nécessaires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43"/>
          <p:cNvSpPr txBox="1"/>
          <p:nvPr>
            <p:ph type="title"/>
          </p:nvPr>
        </p:nvSpPr>
        <p:spPr>
          <a:xfrm>
            <a:off x="1458150" y="309100"/>
            <a:ext cx="62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Étude des solutions existantes - Agenda.ch</a:t>
            </a:r>
            <a:endParaRPr/>
          </a:p>
        </p:txBody>
      </p:sp>
      <p:sp>
        <p:nvSpPr>
          <p:cNvPr id="1885" name="Google Shape;188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6" name="Google Shape;18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25" y="706450"/>
            <a:ext cx="2284501" cy="171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43"/>
          <p:cNvSpPr txBox="1"/>
          <p:nvPr/>
        </p:nvSpPr>
        <p:spPr>
          <a:xfrm>
            <a:off x="6383350" y="1901150"/>
            <a:ext cx="138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Agenda.ch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1888" name="Google Shape;1888;p43"/>
          <p:cNvSpPr txBox="1"/>
          <p:nvPr>
            <p:ph idx="1" type="subTitle"/>
          </p:nvPr>
        </p:nvSpPr>
        <p:spPr>
          <a:xfrm>
            <a:off x="3057550" y="1130100"/>
            <a:ext cx="28092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en 2011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Basé à Genève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App de réservation en ligne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89" name="Google Shape;1889;p43"/>
          <p:cNvSpPr txBox="1"/>
          <p:nvPr/>
        </p:nvSpPr>
        <p:spPr>
          <a:xfrm>
            <a:off x="3057550" y="2920225"/>
            <a:ext cx="43371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Chatbot à Menus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Templates selon services + 1 Personnalisable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Redirection vers lien externe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Multitude de fonctionnalité selon package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0" name="Google Shape;1890;p43"/>
          <p:cNvSpPr txBox="1"/>
          <p:nvPr/>
        </p:nvSpPr>
        <p:spPr>
          <a:xfrm>
            <a:off x="1134725" y="1328450"/>
            <a:ext cx="120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Qui ?</a:t>
            </a:r>
            <a:endParaRPr sz="30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91" name="Google Shape;1891;p43"/>
          <p:cNvSpPr txBox="1"/>
          <p:nvPr/>
        </p:nvSpPr>
        <p:spPr>
          <a:xfrm>
            <a:off x="1134725" y="3370675"/>
            <a:ext cx="120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Quoi </a:t>
            </a: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?</a:t>
            </a:r>
            <a:endParaRPr sz="30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44"/>
          <p:cNvSpPr txBox="1"/>
          <p:nvPr>
            <p:ph type="title"/>
          </p:nvPr>
        </p:nvSpPr>
        <p:spPr>
          <a:xfrm>
            <a:off x="1458150" y="309100"/>
            <a:ext cx="62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Étude des solutions existantes - Klara.ch</a:t>
            </a:r>
            <a:endParaRPr/>
          </a:p>
        </p:txBody>
      </p:sp>
      <p:sp>
        <p:nvSpPr>
          <p:cNvPr id="1897" name="Google Shape;1897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8" name="Google Shape;1898;p44"/>
          <p:cNvSpPr txBox="1"/>
          <p:nvPr/>
        </p:nvSpPr>
        <p:spPr>
          <a:xfrm>
            <a:off x="6383350" y="1901150"/>
            <a:ext cx="138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Klara.ch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1899" name="Google Shape;1899;p44"/>
          <p:cNvSpPr txBox="1"/>
          <p:nvPr>
            <p:ph idx="1" type="subTitle"/>
          </p:nvPr>
        </p:nvSpPr>
        <p:spPr>
          <a:xfrm>
            <a:off x="3057550" y="1130100"/>
            <a:ext cx="28092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en 2016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Basé à Berne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Outils d’administration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0" name="Google Shape;1900;p44"/>
          <p:cNvSpPr txBox="1"/>
          <p:nvPr/>
        </p:nvSpPr>
        <p:spPr>
          <a:xfrm>
            <a:off x="3153900" y="3256900"/>
            <a:ext cx="4337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Multitude de widgets selon le package choisi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Widget de réservation : Chatbot à menus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Widgets intégrables in-app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1" name="Google Shape;1901;p44"/>
          <p:cNvSpPr txBox="1"/>
          <p:nvPr/>
        </p:nvSpPr>
        <p:spPr>
          <a:xfrm>
            <a:off x="1134725" y="1328450"/>
            <a:ext cx="120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Qui ?</a:t>
            </a:r>
            <a:endParaRPr sz="30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02" name="Google Shape;1902;p44"/>
          <p:cNvSpPr txBox="1"/>
          <p:nvPr/>
        </p:nvSpPr>
        <p:spPr>
          <a:xfrm>
            <a:off x="1134725" y="3370675"/>
            <a:ext cx="120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Quoi ?</a:t>
            </a:r>
            <a:endParaRPr sz="30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1903" name="Google Shape;19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275" y="1018537"/>
            <a:ext cx="2741350" cy="7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45"/>
          <p:cNvSpPr txBox="1"/>
          <p:nvPr>
            <p:ph type="title"/>
          </p:nvPr>
        </p:nvSpPr>
        <p:spPr>
          <a:xfrm>
            <a:off x="1458150" y="318825"/>
            <a:ext cx="62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Étude des solutions existantes - Meetme.io</a:t>
            </a:r>
            <a:endParaRPr/>
          </a:p>
        </p:txBody>
      </p:sp>
      <p:sp>
        <p:nvSpPr>
          <p:cNvPr id="1909" name="Google Shape;190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0" name="Google Shape;1910;p45"/>
          <p:cNvSpPr txBox="1"/>
          <p:nvPr/>
        </p:nvSpPr>
        <p:spPr>
          <a:xfrm>
            <a:off x="6304050" y="2103000"/>
            <a:ext cx="138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Meetme.io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1911" name="Google Shape;1911;p45"/>
          <p:cNvSpPr txBox="1"/>
          <p:nvPr>
            <p:ph idx="1" type="subTitle"/>
          </p:nvPr>
        </p:nvSpPr>
        <p:spPr>
          <a:xfrm>
            <a:off x="3057550" y="1130100"/>
            <a:ext cx="28092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en 2017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Basé à Lausanne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App de réservation en ligne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2" name="Google Shape;1912;p45"/>
          <p:cNvSpPr txBox="1"/>
          <p:nvPr/>
        </p:nvSpPr>
        <p:spPr>
          <a:xfrm>
            <a:off x="3057550" y="3276375"/>
            <a:ext cx="4337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Chatbot à menus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Système de rappel par SMS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3" name="Google Shape;1913;p45"/>
          <p:cNvSpPr txBox="1"/>
          <p:nvPr/>
        </p:nvSpPr>
        <p:spPr>
          <a:xfrm>
            <a:off x="1134725" y="1328450"/>
            <a:ext cx="120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Qui ?</a:t>
            </a:r>
            <a:endParaRPr sz="30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14" name="Google Shape;1914;p45"/>
          <p:cNvSpPr txBox="1"/>
          <p:nvPr/>
        </p:nvSpPr>
        <p:spPr>
          <a:xfrm>
            <a:off x="1134725" y="3370675"/>
            <a:ext cx="120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Quoi ?</a:t>
            </a:r>
            <a:endParaRPr sz="30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1915" name="Google Shape;19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625" y="950400"/>
            <a:ext cx="1183672" cy="115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6"/>
          <p:cNvSpPr txBox="1"/>
          <p:nvPr>
            <p:ph type="title"/>
          </p:nvPr>
        </p:nvSpPr>
        <p:spPr>
          <a:xfrm>
            <a:off x="1323300" y="338300"/>
            <a:ext cx="649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Étude des solutions existantes - Comparaison</a:t>
            </a:r>
            <a:endParaRPr/>
          </a:p>
        </p:txBody>
      </p:sp>
      <p:sp>
        <p:nvSpPr>
          <p:cNvPr id="1921" name="Google Shape;192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22" name="Google Shape;1922;p46"/>
          <p:cNvGraphicFramePr/>
          <p:nvPr/>
        </p:nvGraphicFramePr>
        <p:xfrm>
          <a:off x="1304125" y="13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{E73D6EF7-457A-48DF-9D8F-5289D89EC333}</a:tableStyleId>
              </a:tblPr>
              <a:tblGrid>
                <a:gridCol w="1559750"/>
                <a:gridCol w="895025"/>
                <a:gridCol w="1243625"/>
                <a:gridCol w="1530950"/>
                <a:gridCol w="1306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Prix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In-app ?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Fonctionnalités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 Chatbot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Klara.ch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39 CHF/mois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N°2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Menu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A2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Agenda.ch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60 CHF/mois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Lien externe*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N°1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Menu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Meetme.io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69 CHF/mois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Lien externe*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N°3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Menu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3" name="Google Shape;1923;p46"/>
          <p:cNvSpPr txBox="1"/>
          <p:nvPr/>
        </p:nvSpPr>
        <p:spPr>
          <a:xfrm>
            <a:off x="1304125" y="3783050"/>
            <a:ext cx="28056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*Possible à intégrer in-app avec du page embedding</a:t>
            </a:r>
            <a:endParaRPr i="1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47"/>
          <p:cNvSpPr txBox="1"/>
          <p:nvPr>
            <p:ph idx="1" type="subTitle"/>
          </p:nvPr>
        </p:nvSpPr>
        <p:spPr>
          <a:xfrm>
            <a:off x="3989500" y="1335025"/>
            <a:ext cx="35571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Transformation de textes en données structurées compréhensible par des modèles d’I.A.</a:t>
            </a:r>
            <a:endParaRPr/>
          </a:p>
        </p:txBody>
      </p:sp>
      <p:sp>
        <p:nvSpPr>
          <p:cNvPr id="1929" name="Google Shape;192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0" name="Google Shape;1930;p47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NLP</a:t>
            </a:r>
            <a:endParaRPr/>
          </a:p>
        </p:txBody>
      </p:sp>
      <p:sp>
        <p:nvSpPr>
          <p:cNvPr id="1931" name="Google Shape;1931;p47"/>
          <p:cNvSpPr txBox="1"/>
          <p:nvPr/>
        </p:nvSpPr>
        <p:spPr>
          <a:xfrm>
            <a:off x="937275" y="1490725"/>
            <a:ext cx="21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Qu’est-ce </a:t>
            </a: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?</a:t>
            </a:r>
            <a:endParaRPr b="1" sz="28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32" name="Google Shape;1932;p47"/>
          <p:cNvSpPr txBox="1"/>
          <p:nvPr/>
        </p:nvSpPr>
        <p:spPr>
          <a:xfrm>
            <a:off x="937275" y="2906150"/>
            <a:ext cx="21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Structure ?</a:t>
            </a:r>
            <a:endParaRPr b="1" sz="28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33" name="Google Shape;1933;p47"/>
          <p:cNvSpPr txBox="1"/>
          <p:nvPr>
            <p:ph idx="1" type="subTitle"/>
          </p:nvPr>
        </p:nvSpPr>
        <p:spPr>
          <a:xfrm>
            <a:off x="3989500" y="2906150"/>
            <a:ext cx="3557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Passage de mots à des Tokens</a:t>
            </a:r>
            <a:endParaRPr/>
          </a:p>
        </p:txBody>
      </p:sp>
      <p:pic>
        <p:nvPicPr>
          <p:cNvPr id="1934" name="Google Shape;193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125" y="3675450"/>
            <a:ext cx="6858000" cy="49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5" name="Google Shape;1935;p47"/>
          <p:cNvSpPr txBox="1"/>
          <p:nvPr/>
        </p:nvSpPr>
        <p:spPr>
          <a:xfrm>
            <a:off x="3543825" y="4170750"/>
            <a:ext cx="181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48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NLP</a:t>
            </a:r>
            <a:endParaRPr/>
          </a:p>
        </p:txBody>
      </p:sp>
      <p:sp>
        <p:nvSpPr>
          <p:cNvPr id="1941" name="Google Shape;1941;p48"/>
          <p:cNvSpPr txBox="1"/>
          <p:nvPr>
            <p:ph idx="1" type="subTitle"/>
          </p:nvPr>
        </p:nvSpPr>
        <p:spPr>
          <a:xfrm>
            <a:off x="4603200" y="1135928"/>
            <a:ext cx="35571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 Medium"/>
              <a:buChar char="●"/>
            </a:pP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Compréhension des mots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 Medium"/>
              <a:buChar char="●"/>
            </a:pP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Compréhension des phrases (grammaire)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 Medium"/>
              <a:buChar char="●"/>
            </a:pP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Compréhension des mots entre eux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 Medium"/>
              <a:buChar char="●"/>
            </a:pP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Comparaison </a:t>
            </a: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rétroactive</a:t>
            </a: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à d’autres textes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 Medium"/>
              <a:buChar char="●"/>
            </a:pPr>
            <a:r>
              <a:rPr lang="en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Ressortir le contexte du texte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42" name="Google Shape;194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3" name="Google Shape;194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950" y="1091938"/>
            <a:ext cx="2456525" cy="30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48"/>
          <p:cNvSpPr txBox="1"/>
          <p:nvPr/>
        </p:nvSpPr>
        <p:spPr>
          <a:xfrm>
            <a:off x="1240925" y="4213025"/>
            <a:ext cx="181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</a:t>
            </a: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javatpoint.com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49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NLP</a:t>
            </a:r>
            <a:endParaRPr/>
          </a:p>
        </p:txBody>
      </p:sp>
      <p:sp>
        <p:nvSpPr>
          <p:cNvPr id="1950" name="Google Shape;1950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1" name="Google Shape;195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025" y="1037763"/>
            <a:ext cx="5564798" cy="313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49"/>
          <p:cNvSpPr txBox="1"/>
          <p:nvPr/>
        </p:nvSpPr>
        <p:spPr>
          <a:xfrm>
            <a:off x="3667275" y="4167950"/>
            <a:ext cx="181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datasolut.com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50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NLU</a:t>
            </a:r>
            <a:endParaRPr/>
          </a:p>
        </p:txBody>
      </p:sp>
      <p:sp>
        <p:nvSpPr>
          <p:cNvPr id="1958" name="Google Shape;1958;p50"/>
          <p:cNvSpPr txBox="1"/>
          <p:nvPr>
            <p:ph idx="1" type="subTitle"/>
          </p:nvPr>
        </p:nvSpPr>
        <p:spPr>
          <a:xfrm>
            <a:off x="4690875" y="2419125"/>
            <a:ext cx="3557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Sert à la compréhension de données en langage naturel par des programmes</a:t>
            </a:r>
            <a:endParaRPr/>
          </a:p>
        </p:txBody>
      </p:sp>
      <p:sp>
        <p:nvSpPr>
          <p:cNvPr id="1959" name="Google Shape;195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0" name="Google Shape;1960;p50"/>
          <p:cNvSpPr txBox="1"/>
          <p:nvPr/>
        </p:nvSpPr>
        <p:spPr>
          <a:xfrm>
            <a:off x="937275" y="2419125"/>
            <a:ext cx="21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Qu’est-ce ?</a:t>
            </a:r>
            <a:endParaRPr b="1" sz="28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51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NLU</a:t>
            </a:r>
            <a:endParaRPr/>
          </a:p>
        </p:txBody>
      </p:sp>
      <p:sp>
        <p:nvSpPr>
          <p:cNvPr id="1966" name="Google Shape;1966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7" name="Google Shape;1967;p51"/>
          <p:cNvSpPr txBox="1"/>
          <p:nvPr>
            <p:ph idx="1" type="subTitle"/>
          </p:nvPr>
        </p:nvSpPr>
        <p:spPr>
          <a:xfrm>
            <a:off x="4325025" y="1500475"/>
            <a:ext cx="3557100" cy="25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Détection d’intention : Identification des sentiments et objectifs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Détection d’entités : Extraction d’entités et leurs informations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Entité Numérique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AutoNum type="alphaLcPeriod"/>
            </a:pPr>
            <a:r>
              <a:rPr lang="en"/>
              <a:t>Entité nommé</a:t>
            </a:r>
            <a:endParaRPr/>
          </a:p>
        </p:txBody>
      </p:sp>
      <p:sp>
        <p:nvSpPr>
          <p:cNvPr id="1968" name="Google Shape;1968;p51"/>
          <p:cNvSpPr txBox="1"/>
          <p:nvPr/>
        </p:nvSpPr>
        <p:spPr>
          <a:xfrm>
            <a:off x="1083400" y="2266825"/>
            <a:ext cx="24933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Deux méthodes principales </a:t>
            </a:r>
            <a:endParaRPr b="1" sz="28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52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NLG</a:t>
            </a:r>
            <a:endParaRPr/>
          </a:p>
        </p:txBody>
      </p:sp>
      <p:sp>
        <p:nvSpPr>
          <p:cNvPr id="1974" name="Google Shape;1974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5" name="Google Shape;1975;p52"/>
          <p:cNvSpPr txBox="1"/>
          <p:nvPr>
            <p:ph idx="1" type="subTitle"/>
          </p:nvPr>
        </p:nvSpPr>
        <p:spPr>
          <a:xfrm>
            <a:off x="4008975" y="2318750"/>
            <a:ext cx="3557100" cy="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Génération de texte en langage naturel à partir de données existantes</a:t>
            </a:r>
            <a:endParaRPr/>
          </a:p>
        </p:txBody>
      </p:sp>
      <p:sp>
        <p:nvSpPr>
          <p:cNvPr id="1976" name="Google Shape;1976;p52"/>
          <p:cNvSpPr txBox="1"/>
          <p:nvPr/>
        </p:nvSpPr>
        <p:spPr>
          <a:xfrm>
            <a:off x="966500" y="2318750"/>
            <a:ext cx="21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Qu’est-ce ?</a:t>
            </a:r>
            <a:endParaRPr b="1" sz="28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53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Détail technologique - NLG</a:t>
            </a:r>
            <a:endParaRPr/>
          </a:p>
        </p:txBody>
      </p:sp>
      <p:sp>
        <p:nvSpPr>
          <p:cNvPr id="1982" name="Google Shape;1982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3" name="Google Shape;19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25" y="2905200"/>
            <a:ext cx="8437748" cy="14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4" name="Google Shape;1984;p53"/>
          <p:cNvSpPr txBox="1"/>
          <p:nvPr/>
        </p:nvSpPr>
        <p:spPr>
          <a:xfrm>
            <a:off x="3813375" y="4269325"/>
            <a:ext cx="181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Rodrigues dos Santos Fabio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1985" name="Google Shape;1985;p53"/>
          <p:cNvSpPr txBox="1"/>
          <p:nvPr>
            <p:ph idx="1" type="subTitle"/>
          </p:nvPr>
        </p:nvSpPr>
        <p:spPr>
          <a:xfrm>
            <a:off x="1271025" y="801200"/>
            <a:ext cx="4380000" cy="20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Filtrage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Réordonnancement</a:t>
            </a:r>
            <a:r>
              <a:rPr lang="en"/>
              <a:t> des données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Regroupement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Mots-clés à phrases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Retrait de redondance de mots par expressions référentielles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Corrections orthographiques, accords et autres éléments non syntaxiques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54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technologique</a:t>
            </a:r>
            <a:endParaRPr/>
          </a:p>
        </p:txBody>
      </p:sp>
      <p:sp>
        <p:nvSpPr>
          <p:cNvPr id="1991" name="Google Shape;1991;p54"/>
          <p:cNvSpPr txBox="1"/>
          <p:nvPr>
            <p:ph idx="1" type="subTitle"/>
          </p:nvPr>
        </p:nvSpPr>
        <p:spPr>
          <a:xfrm>
            <a:off x="4700400" y="1780450"/>
            <a:ext cx="3557100" cy="19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Rasa : OpenSource, X, Pro</a:t>
            </a:r>
            <a:endParaRPr sz="18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Chatterbot</a:t>
            </a:r>
            <a:endParaRPr sz="18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Microsoft Bot Framework</a:t>
            </a:r>
            <a:endParaRPr sz="18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NLTK</a:t>
            </a:r>
            <a:endParaRPr sz="18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800"/>
              <a:t>OpenNLP</a:t>
            </a:r>
            <a:endParaRPr sz="1800"/>
          </a:p>
        </p:txBody>
      </p:sp>
      <p:sp>
        <p:nvSpPr>
          <p:cNvPr id="1992" name="Google Shape;199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3" name="Google Shape;1993;p54"/>
          <p:cNvSpPr txBox="1"/>
          <p:nvPr/>
        </p:nvSpPr>
        <p:spPr>
          <a:xfrm>
            <a:off x="1028600" y="2276800"/>
            <a:ext cx="2172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Technologies abordées</a:t>
            </a:r>
            <a:endParaRPr b="1" sz="28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55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technologique - Rasa</a:t>
            </a:r>
            <a:endParaRPr/>
          </a:p>
        </p:txBody>
      </p:sp>
      <p:sp>
        <p:nvSpPr>
          <p:cNvPr id="1999" name="Google Shape;1999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0" name="Google Shape;200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" y="1685325"/>
            <a:ext cx="3652600" cy="17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55"/>
          <p:cNvSpPr txBox="1"/>
          <p:nvPr/>
        </p:nvSpPr>
        <p:spPr>
          <a:xfrm>
            <a:off x="4345000" y="1828200"/>
            <a:ext cx="38196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Framework de création de Chatbots conversationnel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en 2016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SDK disponible sous forme de package Python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2" name="Google Shape;2002;p55"/>
          <p:cNvSpPr txBox="1"/>
          <p:nvPr/>
        </p:nvSpPr>
        <p:spPr>
          <a:xfrm>
            <a:off x="1402775" y="3278725"/>
            <a:ext cx="181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Rasa.com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56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technologique - Rasa</a:t>
            </a:r>
            <a:endParaRPr/>
          </a:p>
        </p:txBody>
      </p:sp>
      <p:sp>
        <p:nvSpPr>
          <p:cNvPr id="2008" name="Google Shape;2008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9" name="Google Shape;2009;p56"/>
          <p:cNvSpPr txBox="1"/>
          <p:nvPr/>
        </p:nvSpPr>
        <p:spPr>
          <a:xfrm>
            <a:off x="657800" y="1354800"/>
            <a:ext cx="15954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Rasa Open Source :</a:t>
            </a:r>
            <a:endParaRPr b="1" sz="21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0" name="Google Shape;2010;p56"/>
          <p:cNvSpPr txBox="1"/>
          <p:nvPr/>
        </p:nvSpPr>
        <p:spPr>
          <a:xfrm>
            <a:off x="2871588" y="1460700"/>
            <a:ext cx="127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Rasa X :</a:t>
            </a:r>
            <a:endParaRPr b="1" sz="21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1" name="Google Shape;2011;p56"/>
          <p:cNvSpPr txBox="1"/>
          <p:nvPr/>
        </p:nvSpPr>
        <p:spPr>
          <a:xfrm>
            <a:off x="4926963" y="1460700"/>
            <a:ext cx="127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Rasa Pro :</a:t>
            </a:r>
            <a:endParaRPr b="1" sz="2100">
              <a:solidFill>
                <a:schemeClr val="accent5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012" name="Google Shape;201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525" y="2115300"/>
            <a:ext cx="2558476" cy="1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56"/>
          <p:cNvSpPr txBox="1"/>
          <p:nvPr/>
        </p:nvSpPr>
        <p:spPr>
          <a:xfrm>
            <a:off x="413600" y="2269050"/>
            <a:ext cx="17526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SDK Gratuit et OpenSource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Python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Usage de NLU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4" name="Google Shape;2014;p56"/>
          <p:cNvSpPr txBox="1"/>
          <p:nvPr/>
        </p:nvSpPr>
        <p:spPr>
          <a:xfrm>
            <a:off x="2592400" y="2269050"/>
            <a:ext cx="17526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Gestion de modèles Rasa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Interface Graphique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Entraînement in-app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Conversation avec corrections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5" name="Google Shape;2015;p56"/>
          <p:cNvSpPr txBox="1"/>
          <p:nvPr/>
        </p:nvSpPr>
        <p:spPr>
          <a:xfrm>
            <a:off x="4403263" y="2269050"/>
            <a:ext cx="21240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Support personnalisé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Modèle CALM </a:t>
            </a:r>
            <a:r>
              <a:rPr i="1"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(Conversational AI with Language Models)</a:t>
            </a:r>
            <a:endParaRPr i="1"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6" name="Google Shape;2016;p56"/>
          <p:cNvSpPr txBox="1"/>
          <p:nvPr/>
        </p:nvSpPr>
        <p:spPr>
          <a:xfrm>
            <a:off x="7298376" y="3124950"/>
            <a:ext cx="139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Rasa.com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57"/>
          <p:cNvSpPr txBox="1"/>
          <p:nvPr>
            <p:ph idx="4294967295" type="title"/>
          </p:nvPr>
        </p:nvSpPr>
        <p:spPr>
          <a:xfrm>
            <a:off x="2018628" y="372999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technologique - Packages de Chatbot</a:t>
            </a:r>
            <a:endParaRPr/>
          </a:p>
        </p:txBody>
      </p:sp>
      <p:sp>
        <p:nvSpPr>
          <p:cNvPr id="2022" name="Google Shape;2022;p57"/>
          <p:cNvSpPr txBox="1"/>
          <p:nvPr>
            <p:ph idx="1" type="subTitle"/>
          </p:nvPr>
        </p:nvSpPr>
        <p:spPr>
          <a:xfrm>
            <a:off x="4138425" y="1319775"/>
            <a:ext cx="3149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Librairie Python Open Source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en 2014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Détection de patterns et similarité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3" name="Google Shape;2023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bout ChatterBot — ChatterBot 1.0.8 documentation" id="2024" name="Google Shape;20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900" y="1853300"/>
            <a:ext cx="2905025" cy="74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57"/>
          <p:cNvSpPr txBox="1"/>
          <p:nvPr/>
        </p:nvSpPr>
        <p:spPr>
          <a:xfrm>
            <a:off x="1007900" y="1319775"/>
            <a:ext cx="187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Chatterbot :</a:t>
            </a:r>
            <a:endParaRPr sz="21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026" name="Google Shape;2026;p57"/>
          <p:cNvSpPr txBox="1"/>
          <p:nvPr/>
        </p:nvSpPr>
        <p:spPr>
          <a:xfrm>
            <a:off x="1007900" y="2740088"/>
            <a:ext cx="18765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Microsoft bot Framework </a:t>
            </a:r>
            <a:r>
              <a:rPr lang="en" sz="21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:</a:t>
            </a:r>
            <a:endParaRPr sz="21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2027" name="Google Shape;202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3800" y="3568100"/>
            <a:ext cx="1106025" cy="11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57"/>
          <p:cNvSpPr txBox="1"/>
          <p:nvPr/>
        </p:nvSpPr>
        <p:spPr>
          <a:xfrm>
            <a:off x="762375" y="4594825"/>
            <a:ext cx="2414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Sources : </a:t>
            </a: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chatterbot.readthedocs.io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 </a:t>
            </a: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et botframework.com 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2029" name="Google Shape;2029;p57"/>
          <p:cNvSpPr txBox="1"/>
          <p:nvPr>
            <p:ph idx="2" type="subTitle"/>
          </p:nvPr>
        </p:nvSpPr>
        <p:spPr>
          <a:xfrm>
            <a:off x="4138425" y="2687725"/>
            <a:ext cx="37053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SDK en Python, Javascript, C# et Java (Plus supporté depuis Novembre 2023)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NLP et NLU avec LUIS </a:t>
            </a:r>
            <a:r>
              <a:rPr i="1" lang="en"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(Language Understanding Intelligent Service)</a:t>
            </a:r>
            <a:endParaRPr i="1" sz="12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Intégration simplifiée vers Teams, Slack, Telegram, etc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Outils de gestion de dialogues, Conversations, Analyse de performance et surveillance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300"/>
              <a:buFont typeface="Barlow Semi Condensed"/>
              <a:buChar char="●"/>
            </a:pPr>
            <a:r>
              <a:rPr lang="en" sz="13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Payant</a:t>
            </a:r>
            <a:endParaRPr sz="13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58"/>
          <p:cNvSpPr txBox="1"/>
          <p:nvPr>
            <p:ph idx="4294967295" type="title"/>
          </p:nvPr>
        </p:nvSpPr>
        <p:spPr>
          <a:xfrm>
            <a:off x="2018625" y="373000"/>
            <a:ext cx="5139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technologique - Packages NLP</a:t>
            </a:r>
            <a:endParaRPr/>
          </a:p>
        </p:txBody>
      </p:sp>
      <p:sp>
        <p:nvSpPr>
          <p:cNvPr id="2035" name="Google Shape;2035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36" name="Google Shape;203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88" y="1244350"/>
            <a:ext cx="2728926" cy="148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58"/>
          <p:cNvSpPr txBox="1"/>
          <p:nvPr/>
        </p:nvSpPr>
        <p:spPr>
          <a:xfrm>
            <a:off x="1455288" y="2763000"/>
            <a:ext cx="139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Medium.com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2038" name="Google Shape;203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357790"/>
            <a:ext cx="3328998" cy="1280886"/>
          </a:xfrm>
          <a:prstGeom prst="rect">
            <a:avLst/>
          </a:prstGeom>
          <a:noFill/>
          <a:ln>
            <a:noFill/>
          </a:ln>
        </p:spPr>
      </p:pic>
      <p:sp>
        <p:nvSpPr>
          <p:cNvPr id="2039" name="Google Shape;2039;p58"/>
          <p:cNvSpPr txBox="1"/>
          <p:nvPr/>
        </p:nvSpPr>
        <p:spPr>
          <a:xfrm>
            <a:off x="1753001" y="891850"/>
            <a:ext cx="956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NLTK : </a:t>
            </a:r>
            <a:endParaRPr sz="21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040" name="Google Shape;2040;p58"/>
          <p:cNvSpPr txBox="1"/>
          <p:nvPr/>
        </p:nvSpPr>
        <p:spPr>
          <a:xfrm>
            <a:off x="1476619" y="3187975"/>
            <a:ext cx="1356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OpenNLP </a:t>
            </a:r>
            <a:r>
              <a:rPr lang="en" sz="210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: </a:t>
            </a:r>
            <a:endParaRPr sz="210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041" name="Google Shape;2041;p58"/>
          <p:cNvSpPr txBox="1"/>
          <p:nvPr/>
        </p:nvSpPr>
        <p:spPr>
          <a:xfrm>
            <a:off x="1502952" y="4467975"/>
            <a:ext cx="15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Source: wikipedia.com</a:t>
            </a:r>
            <a:endParaRPr i="1" sz="12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2042" name="Google Shape;2042;p58"/>
          <p:cNvSpPr txBox="1"/>
          <p:nvPr/>
        </p:nvSpPr>
        <p:spPr>
          <a:xfrm>
            <a:off x="4481525" y="1415725"/>
            <a:ext cx="19812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Package Python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2001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3" name="Google Shape;2043;p58"/>
          <p:cNvSpPr txBox="1"/>
          <p:nvPr/>
        </p:nvSpPr>
        <p:spPr>
          <a:xfrm>
            <a:off x="4481525" y="3278200"/>
            <a:ext cx="34671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Package Java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Crée 2001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Interopérabilité avec Scala ou Kotlin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59"/>
          <p:cNvSpPr txBox="1"/>
          <p:nvPr>
            <p:ph idx="4294967295" type="title"/>
          </p:nvPr>
        </p:nvSpPr>
        <p:spPr>
          <a:xfrm>
            <a:off x="13197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Démonstration des prototypes - NLP Java</a:t>
            </a:r>
            <a:endParaRPr/>
          </a:p>
        </p:txBody>
      </p:sp>
      <p:sp>
        <p:nvSpPr>
          <p:cNvPr id="2049" name="Google Shape;204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Google Shape;20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099" y="1027475"/>
            <a:ext cx="7816375" cy="34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60"/>
          <p:cNvSpPr txBox="1"/>
          <p:nvPr>
            <p:ph type="title"/>
          </p:nvPr>
        </p:nvSpPr>
        <p:spPr>
          <a:xfrm>
            <a:off x="2532900" y="338323"/>
            <a:ext cx="40875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Démonstration des prototypes - NLP Python</a:t>
            </a:r>
            <a:endParaRPr/>
          </a:p>
        </p:txBody>
      </p:sp>
      <p:sp>
        <p:nvSpPr>
          <p:cNvPr id="2056" name="Google Shape;2056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7" name="Google Shape;205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5" y="1738450"/>
            <a:ext cx="8316951" cy="254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61"/>
          <p:cNvSpPr txBox="1"/>
          <p:nvPr>
            <p:ph idx="4294967295" type="title"/>
          </p:nvPr>
        </p:nvSpPr>
        <p:spPr>
          <a:xfrm>
            <a:off x="1904398" y="367550"/>
            <a:ext cx="5335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Démonstration des prototypes - Rasa</a:t>
            </a:r>
            <a:endParaRPr/>
          </a:p>
        </p:txBody>
      </p:sp>
      <p:sp>
        <p:nvSpPr>
          <p:cNvPr id="2063" name="Google Shape;2063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4" name="Google Shape;2064;p61" title="Rasa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100" y="1074925"/>
            <a:ext cx="6095800" cy="3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62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70" name="Google Shape;2070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1" name="Google Shape;2071;p62"/>
          <p:cNvSpPr txBox="1"/>
          <p:nvPr/>
        </p:nvSpPr>
        <p:spPr>
          <a:xfrm>
            <a:off x="888100" y="1162475"/>
            <a:ext cx="5221500" cy="3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Résumé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Documentation sur réalisation de Chatbot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Détermination d’une technologie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Bilan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Approfondissement I.A.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I.A. de traitement de texte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Exploration des avenues pour le projet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Développement d’app avec Rasa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63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Merci</a:t>
            </a:r>
            <a:endParaRPr/>
          </a:p>
        </p:txBody>
      </p:sp>
      <p:sp>
        <p:nvSpPr>
          <p:cNvPr id="2077" name="Google Shape;207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