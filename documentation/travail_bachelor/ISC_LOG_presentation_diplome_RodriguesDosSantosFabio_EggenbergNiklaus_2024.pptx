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4" r:id="rId11"/>
    <p:sldId id="267" r:id="rId12"/>
    <p:sldId id="270" r:id="rId13"/>
    <p:sldId id="271" r:id="rId14"/>
    <p:sldId id="273" r:id="rId15"/>
    <p:sldId id="272" r:id="rId16"/>
    <p:sldId id="274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24.08.2024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Alternative aux systèmes courants de réservation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Sites Web avec menus cliquables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Appels Téléphoniques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Réservations en personne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Exploration d’une direction rarement prise pour de tels systèmes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Déroulement du projet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AE23709-DF63-D5B6-65C3-8FE38DAF5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3943" y="3053017"/>
            <a:ext cx="8306591" cy="751965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A9FB95-BFF9-CF89-4542-F33995C6879F}"/>
              </a:ext>
            </a:extLst>
          </p:cNvPr>
          <p:cNvSpPr txBox="1"/>
          <p:nvPr/>
        </p:nvSpPr>
        <p:spPr>
          <a:xfrm>
            <a:off x="6143496" y="1872367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Semaine typique</a:t>
            </a:r>
          </a:p>
        </p:txBody>
      </p:sp>
    </p:spTree>
    <p:extLst>
      <p:ext uri="{BB962C8B-B14F-4D97-AF65-F5344CB8AC3E}">
        <p14:creationId xmlns:p14="http://schemas.microsoft.com/office/powerpoint/2010/main" val="1761254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8ED4B7-D352-10EC-C1CD-9253B124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>
            <a:normAutofit/>
          </a:bodyPr>
          <a:lstStyle/>
          <a:p>
            <a:r>
              <a:rPr lang="fr-CH" dirty="0"/>
              <a:t>Panorama des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5A0717-8BB5-C6EA-EE19-1593F57DE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3851375" cy="5120640"/>
          </a:xfrm>
        </p:spPr>
        <p:txBody>
          <a:bodyPr>
            <a:normAutofit/>
          </a:bodyPr>
          <a:lstStyle/>
          <a:p>
            <a:r>
              <a:rPr lang="fr-CH" dirty="0"/>
              <a:t>Blogs divers</a:t>
            </a:r>
          </a:p>
          <a:p>
            <a:r>
              <a:rPr lang="fr-CH" dirty="0"/>
              <a:t>Articles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IBM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Medium.com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Analytics Vidhya</a:t>
            </a:r>
          </a:p>
          <a:p>
            <a:r>
              <a:rPr lang="fr-CH" dirty="0"/>
              <a:t>Articles de Recherche : </a:t>
            </a:r>
            <a:r>
              <a:rPr lang="en" sz="2000" dirty="0"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arXiv.org</a:t>
            </a:r>
            <a:endParaRPr lang="fr-CH" dirty="0"/>
          </a:p>
          <a:p>
            <a:pPr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fr-CH" dirty="0"/>
          </a:p>
        </p:txBody>
      </p:sp>
      <p:pic>
        <p:nvPicPr>
          <p:cNvPr id="7" name="Graphique 6" descr="Livres avec un remplissage uni">
            <a:extLst>
              <a:ext uri="{FF2B5EF4-FFF2-40B4-BE49-F238E27FC236}">
                <a16:creationId xmlns:a16="http://schemas.microsoft.com/office/drawing/2014/main" id="{C0B11024-8AEE-03AF-2229-3C2D66757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8120" y="1691640"/>
            <a:ext cx="3474720" cy="3474720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EB3E97C-3E2D-7500-CC21-6FB59A791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8279AA-F576-7E74-F0EA-E82F6874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91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81D2AAC-4347-F3F7-8C85-1D59A345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Sommaire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04D1CC-CB89-8A30-F84F-CED6D01E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fr-CH" dirty="0"/>
              <a:t>Fondements théoriques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Choix technologique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Implémentation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Résultats obtenus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Démonstration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Conclusion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6829452-C558-5EE4-4F23-518653E2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7DFF10-678C-E4A4-5BA1-7B883901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92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EDDFA-8AC6-BE49-9EE5-74A170FDE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dirty="0">
                <a:latin typeface="+mj-lt"/>
              </a:rPr>
              <a:t>Principes importants pour la réalisation du Chatbot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P</a:t>
            </a:r>
            <a:r>
              <a:rPr lang="fr-CH" dirty="0" err="1">
                <a:latin typeface="+mj-lt"/>
              </a:rPr>
              <a:t>rocessing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U</a:t>
            </a:r>
            <a:r>
              <a:rPr lang="fr-CH" dirty="0" err="1">
                <a:latin typeface="+mj-lt"/>
              </a:rPr>
              <a:t>nderstanding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G</a:t>
            </a:r>
            <a:r>
              <a:rPr lang="fr-CH" dirty="0" err="1">
                <a:latin typeface="+mj-lt"/>
              </a:rPr>
              <a:t>eneration</a:t>
            </a:r>
            <a:endParaRPr lang="fr-CH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Framework de traitement NLP - Rasa</a:t>
            </a:r>
          </a:p>
          <a:p>
            <a:pPr>
              <a:buFont typeface="Arial" panose="020B0604020202020204" pitchFamily="34" charset="0"/>
              <a:buChar char="•"/>
            </a:pPr>
            <a:endParaRPr lang="fr-CH" sz="2800" b="1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573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38" y="1123837"/>
            <a:ext cx="3334430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213440" y="5298616"/>
            <a:ext cx="2626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427E80-4706-06FE-135D-A0578DD87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453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sz="1800" dirty="0"/>
              <a:t>Transformation de textes en données structurées compréhensible par des modèles d’I.A.</a:t>
            </a:r>
          </a:p>
          <a:p>
            <a:pPr marL="0" indent="0">
              <a:buNone/>
            </a:pPr>
            <a:endParaRPr lang="fr-CH" sz="2400" dirty="0"/>
          </a:p>
          <a:p>
            <a:pPr marL="0" indent="0">
              <a:buNone/>
            </a:pPr>
            <a:r>
              <a:rPr lang="fr-CH" sz="2800" b="1" dirty="0">
                <a:latin typeface="+mj-lt"/>
              </a:rPr>
              <a:t>Structure</a:t>
            </a:r>
          </a:p>
          <a:p>
            <a:pPr marL="0" indent="0">
              <a:buNone/>
            </a:pPr>
            <a:r>
              <a:rPr lang="fr-CH" dirty="0"/>
              <a:t>Passage de mots à des </a:t>
            </a:r>
            <a:r>
              <a:rPr lang="fr-CH" dirty="0" err="1"/>
              <a:t>Tokens</a:t>
            </a:r>
            <a:endParaRPr lang="fr-CH" dirty="0"/>
          </a:p>
          <a:p>
            <a:pPr marL="0" indent="0">
              <a:buNone/>
            </a:pPr>
            <a:endParaRPr lang="fr-CH" sz="2800" b="1" dirty="0"/>
          </a:p>
        </p:txBody>
      </p:sp>
      <p:pic>
        <p:nvPicPr>
          <p:cNvPr id="3" name="Google Shape;1934;p47">
            <a:extLst>
              <a:ext uri="{FF2B5EF4-FFF2-40B4-BE49-F238E27FC236}">
                <a16:creationId xmlns:a16="http://schemas.microsoft.com/office/drawing/2014/main" id="{17AF2ECB-D6C4-7041-B1A7-C61CA5DCBC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69268" y="4686328"/>
            <a:ext cx="68580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50782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3" y="1123837"/>
            <a:ext cx="3347049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9278291" y="5025318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Javapoint.com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1B43363-E29E-2D17-D556-F602E8408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579" y="1157144"/>
            <a:ext cx="4967868" cy="4435680"/>
          </a:xfrm>
        </p:spPr>
        <p:txBody>
          <a:bodyPr/>
          <a:lstStyle/>
          <a:p>
            <a:pPr marL="539750" lvl="0" indent="-4000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mots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phrases (grammaire)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du sens des mots entre eux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Comparaison rétroactive à d’autres textes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Ressortir le contexte du texte</a:t>
            </a:r>
          </a:p>
          <a:p>
            <a:endParaRPr lang="fr-CH" dirty="0"/>
          </a:p>
        </p:txBody>
      </p:sp>
      <p:pic>
        <p:nvPicPr>
          <p:cNvPr id="9" name="Google Shape;1943;p48">
            <a:extLst>
              <a:ext uri="{FF2B5EF4-FFF2-40B4-BE49-F238E27FC236}">
                <a16:creationId xmlns:a16="http://schemas.microsoft.com/office/drawing/2014/main" id="{AFD19E42-6159-A4D6-BEF1-8E43F5BD026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03114" y="1348012"/>
            <a:ext cx="2947482" cy="36773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9838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64303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pic>
        <p:nvPicPr>
          <p:cNvPr id="7" name="Espace réservé du contenu 6" descr="Une image contenant texte, cercle, Police, logo&#10;&#10;Description générée automatiquement">
            <a:extLst>
              <a:ext uri="{FF2B5EF4-FFF2-40B4-BE49-F238E27FC236}">
                <a16:creationId xmlns:a16="http://schemas.microsoft.com/office/drawing/2014/main" id="{44B8F8DF-0C5A-C562-B4D4-2EE880F38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738" y="1366837"/>
            <a:ext cx="7315200" cy="4114800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527774" y="5417243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Datasolut.com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82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372928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8680"/>
            <a:ext cx="7315200" cy="5120640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Qu’est-ce ?</a:t>
            </a:r>
          </a:p>
          <a:p>
            <a:pPr marL="0" indent="0">
              <a:buNone/>
            </a:pPr>
            <a:r>
              <a:rPr lang="fr-CH" sz="1800" dirty="0"/>
              <a:t>Sert à la compréhension de données en langage naturel par des programmes</a:t>
            </a:r>
          </a:p>
          <a:p>
            <a:pPr marL="0" indent="0">
              <a:buNone/>
            </a:pPr>
            <a:r>
              <a:rPr lang="fr-CH" sz="1800" dirty="0"/>
              <a:t>Sous-section du NLP centré sur : Compréhension Grammaticale et de Contexte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71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90181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712863"/>
            <a:ext cx="7315200" cy="3388715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Deux méthodes principales</a:t>
            </a:r>
          </a:p>
          <a:p>
            <a:pPr marL="59690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+mj-lt"/>
              <a:buAutoNum type="arabicParenR"/>
            </a:pPr>
            <a:r>
              <a:rPr lang="fr-CH" dirty="0"/>
              <a:t>Détection d’intention : Identification des sentiments et objectifs</a:t>
            </a:r>
          </a:p>
          <a:p>
            <a:pPr marL="457200" indent="-317500">
              <a:lnSpc>
                <a:spcPct val="150000"/>
              </a:lnSpc>
              <a:spcBef>
                <a:spcPts val="1000"/>
              </a:spcBef>
              <a:buSzPct val="100000"/>
              <a:buAutoNum type="arabicParenR"/>
            </a:pPr>
            <a:r>
              <a:rPr lang="fr-CH" dirty="0"/>
              <a:t>   Détection d’entités : Extraction d’entités et leurs informations</a:t>
            </a:r>
          </a:p>
          <a:p>
            <a:pPr marL="1371600" lvl="2" indent="-317500">
              <a:spcBef>
                <a:spcPts val="1000"/>
              </a:spcBef>
              <a:spcAft>
                <a:spcPts val="0"/>
              </a:spcAft>
              <a:buSzPts val="1400"/>
              <a:buAutoNum type="alphaLcPeriod"/>
            </a:pPr>
            <a:r>
              <a:rPr lang="fr-CH" dirty="0"/>
              <a:t>Entité Numérique</a:t>
            </a:r>
          </a:p>
          <a:p>
            <a:pPr marL="1371600" lvl="2" indent="-317500">
              <a:spcBef>
                <a:spcPts val="1000"/>
              </a:spcBef>
              <a:spcAft>
                <a:spcPts val="1000"/>
              </a:spcAft>
              <a:buSzPts val="1400"/>
              <a:buAutoNum type="alphaLcPeriod"/>
            </a:pPr>
            <a:r>
              <a:rPr lang="fr-CH" dirty="0"/>
              <a:t>Entité nommée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1C6ECE6-B814-CD07-7424-551C358C0F30}"/>
              </a:ext>
            </a:extLst>
          </p:cNvPr>
          <p:cNvSpPr txBox="1"/>
          <p:nvPr/>
        </p:nvSpPr>
        <p:spPr>
          <a:xfrm>
            <a:off x="6578728" y="4793801"/>
            <a:ext cx="1896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i="1" dirty="0">
                <a:solidFill>
                  <a:schemeClr val="accent6"/>
                </a:solidFill>
              </a:rPr>
              <a:t>Source: Techtarget.com</a:t>
            </a:r>
          </a:p>
        </p:txBody>
      </p:sp>
    </p:spTree>
    <p:extLst>
      <p:ext uri="{BB962C8B-B14F-4D97-AF65-F5344CB8AC3E}">
        <p14:creationId xmlns:p14="http://schemas.microsoft.com/office/powerpoint/2010/main" val="191632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493699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9310" y="1730070"/>
            <a:ext cx="4370541" cy="33887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dirty="0">
                <a:latin typeface="+mj-lt"/>
              </a:rPr>
              <a:t>Un </a:t>
            </a:r>
            <a:r>
              <a:rPr lang="fr-CH" dirty="0" err="1">
                <a:latin typeface="+mj-lt"/>
              </a:rPr>
              <a:t>framework</a:t>
            </a:r>
            <a:r>
              <a:rPr lang="fr-CH" dirty="0">
                <a:latin typeface="+mj-lt"/>
              </a:rPr>
              <a:t> ou boîte à outils pour la création de Chatbots conversationnels en Python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9" name="Image 8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6860948F-7631-75DE-5A2A-BB8DDBC0C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9851" y="2529031"/>
            <a:ext cx="3683189" cy="179079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3CCCE5A8-06F2-7D49-90E9-2249C97235AC}"/>
              </a:ext>
            </a:extLst>
          </p:cNvPr>
          <p:cNvSpPr txBox="1"/>
          <p:nvPr/>
        </p:nvSpPr>
        <p:spPr>
          <a:xfrm>
            <a:off x="9084362" y="409229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010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28205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624" y="778348"/>
            <a:ext cx="6255150" cy="2646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Services disponibles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</a:t>
            </a:r>
            <a:r>
              <a:rPr lang="fr-CH" dirty="0" err="1"/>
              <a:t>OpenSource</a:t>
            </a:r>
            <a:r>
              <a:rPr lang="fr-CH" dirty="0"/>
              <a:t> –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X – Interface utilisateur pour manipuler le bot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Pro – Service proposant un complément d’IA comme intégration d’</a:t>
            </a:r>
            <a:r>
              <a:rPr lang="fr-CH" dirty="0" err="1"/>
              <a:t>OpenAI</a:t>
            </a:r>
            <a:r>
              <a:rPr lang="fr-CH" dirty="0"/>
              <a:t> par ex.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7" name="Image 6" descr="Une image contenant texte, capture d’écran, Police, logo&#10;&#10;Description générée automatiquement">
            <a:extLst>
              <a:ext uri="{FF2B5EF4-FFF2-40B4-BE49-F238E27FC236}">
                <a16:creationId xmlns:a16="http://schemas.microsoft.com/office/drawing/2014/main" id="{1324135E-10B6-B6F1-4C1E-18F0A9C5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031" y="3424428"/>
            <a:ext cx="7100394" cy="237938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CE5155F2-AFAF-E238-AF34-CC2A8B2F3A27}"/>
              </a:ext>
            </a:extLst>
          </p:cNvPr>
          <p:cNvSpPr txBox="1"/>
          <p:nvPr/>
        </p:nvSpPr>
        <p:spPr>
          <a:xfrm>
            <a:off x="6771186" y="5898344"/>
            <a:ext cx="1544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07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7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61" y="1202753"/>
            <a:ext cx="3519577" cy="40835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Structure</a:t>
            </a:r>
            <a:endParaRPr lang="fr-CH" sz="2800" b="1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4 composants principaux</a:t>
            </a:r>
            <a:endParaRPr lang="fr-CH" sz="26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</a:t>
            </a:r>
            <a:r>
              <a:rPr lang="fr-CH" b="1" dirty="0" err="1"/>
              <a:t>Core</a:t>
            </a:r>
            <a:r>
              <a:rPr lang="fr-CH" b="1" dirty="0"/>
              <a:t>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Logique conversationnelle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NLU </a:t>
            </a:r>
            <a:r>
              <a:rPr lang="fr-CH" dirty="0"/>
              <a:t>– Logique d’extraction d’entités et d’</a:t>
            </a:r>
            <a:r>
              <a:rPr lang="fr-CH" dirty="0" err="1"/>
              <a:t>intents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Action Server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Code Python interagissant avec les composants externes à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solidFill>
                  <a:srgbClr val="595959"/>
                </a:solidFill>
              </a:rPr>
              <a:t>Rasa Agent </a:t>
            </a:r>
            <a:r>
              <a:rPr lang="fr-CH" dirty="0">
                <a:solidFill>
                  <a:srgbClr val="595959"/>
                </a:solidFill>
              </a:rPr>
              <a:t>– Interface logicielle dans le but d’interagir avec ces composants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F0A190D-8D24-C1A1-BB8F-89DEFB87EE4C}"/>
              </a:ext>
            </a:extLst>
          </p:cNvPr>
          <p:cNvSpPr txBox="1"/>
          <p:nvPr/>
        </p:nvSpPr>
        <p:spPr>
          <a:xfrm>
            <a:off x="8637008" y="476360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pic>
        <p:nvPicPr>
          <p:cNvPr id="6" name="Image 5" descr="Une image contenant texte, diagramme, capture d’écran, Plan&#10;&#10;Description générée automatiquement">
            <a:extLst>
              <a:ext uri="{FF2B5EF4-FFF2-40B4-BE49-F238E27FC236}">
                <a16:creationId xmlns:a16="http://schemas.microsoft.com/office/drawing/2014/main" id="{C491D1B6-7857-79C3-3696-5A1EE69D40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31" t="631" r="3823" b="548"/>
          <a:stretch/>
        </p:blipFill>
        <p:spPr>
          <a:xfrm>
            <a:off x="6737229" y="1202753"/>
            <a:ext cx="4912100" cy="356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601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Fonctionnement</a:t>
            </a:r>
            <a:endParaRPr lang="fr-CH" sz="3200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Les éléments suivants sont centraux à la réalisation d’un bot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Stories – Suites d’actions représentant un chemin de conversation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Slots – Variables conversationnelles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Actions – Suites d’instructions pouvant interagir avec des composants externes ou internes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Entités – Informations récupérées selon paternes spécifiés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 err="1">
                <a:latin typeface="+mj-lt"/>
              </a:rPr>
              <a:t>Intents</a:t>
            </a:r>
            <a:r>
              <a:rPr lang="fr-CH" dirty="0">
                <a:latin typeface="+mj-lt"/>
              </a:rPr>
              <a:t> – Catégorisation des possibles entrées utilisateur</a:t>
            </a:r>
          </a:p>
          <a:p>
            <a:pPr marL="0" indent="0">
              <a:buNone/>
            </a:pPr>
            <a:endParaRPr lang="fr-CH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31857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1373" y="813331"/>
            <a:ext cx="7315200" cy="1094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Exemple Fonctionnement</a:t>
            </a:r>
            <a:endParaRPr lang="fr-CH" sz="3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6B919D7-9503-CDD3-479E-6254433937ED}"/>
              </a:ext>
            </a:extLst>
          </p:cNvPr>
          <p:cNvSpPr txBox="1"/>
          <p:nvPr/>
        </p:nvSpPr>
        <p:spPr>
          <a:xfrm>
            <a:off x="3701373" y="1958195"/>
            <a:ext cx="3825495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- story: Ask user name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steps: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intent: greet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utter_greet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utter_ask_name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intent: </a:t>
            </a:r>
            <a:r>
              <a:rPr lang="en-US" sz="1600" dirty="0" err="1">
                <a:latin typeface="Consolas" panose="020B0609020204030204" pitchFamily="49" charset="0"/>
              </a:rPr>
              <a:t>say_name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name_saved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slots: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renom_slot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	    	type: text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mappings: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  - type: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from_entity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  		entity: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prenom</a:t>
            </a:r>
            <a:endParaRPr lang="en-US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209B98-828B-D6CA-CE54-B9224CC52DF8}"/>
              </a:ext>
            </a:extLst>
          </p:cNvPr>
          <p:cNvSpPr txBox="1"/>
          <p:nvPr/>
        </p:nvSpPr>
        <p:spPr>
          <a:xfrm>
            <a:off x="7526868" y="1958194"/>
            <a:ext cx="3954889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H" sz="1600" dirty="0" err="1">
                <a:latin typeface="Consolas" panose="020B0609020204030204" pitchFamily="49" charset="0"/>
              </a:rPr>
              <a:t>nlu</a:t>
            </a:r>
            <a:r>
              <a:rPr lang="fr-CH" sz="1600" dirty="0"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 - </a:t>
            </a:r>
            <a:r>
              <a:rPr lang="fr-CH" sz="1600" dirty="0" err="1">
                <a:latin typeface="Consolas" panose="020B0609020204030204" pitchFamily="49" charset="0"/>
              </a:rPr>
              <a:t>intent</a:t>
            </a:r>
            <a:r>
              <a:rPr lang="fr-CH" sz="1600" dirty="0">
                <a:latin typeface="Consolas" panose="020B0609020204030204" pitchFamily="49" charset="0"/>
              </a:rPr>
              <a:t>: </a:t>
            </a:r>
            <a:r>
              <a:rPr lang="fr-CH" sz="1600" dirty="0" err="1">
                <a:latin typeface="Consolas" panose="020B0609020204030204" pitchFamily="49" charset="0"/>
              </a:rPr>
              <a:t>say_name</a:t>
            </a:r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    </a:t>
            </a:r>
            <a:r>
              <a:rPr lang="fr-CH" sz="1600" dirty="0" err="1">
                <a:latin typeface="Consolas" panose="020B0609020204030204" pitchFamily="49" charset="0"/>
              </a:rPr>
              <a:t>examples</a:t>
            </a:r>
            <a:r>
              <a:rPr lang="fr-CH" sz="1600" dirty="0">
                <a:latin typeface="Consolas" panose="020B0609020204030204" pitchFamily="49" charset="0"/>
              </a:rPr>
              <a:t>: |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m’appelle [Jean](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suis [Pierre](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b="0" dirty="0" err="1">
                <a:effectLst/>
                <a:latin typeface="Consolas" panose="020B0609020204030204" pitchFamily="49" charset="0"/>
              </a:rPr>
              <a:t>entities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- 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7804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28324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2128</TotalTime>
  <Words>759</Words>
  <Application>Microsoft Office PowerPoint</Application>
  <PresentationFormat>Grand écran</PresentationFormat>
  <Paragraphs>154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7" baseType="lpstr">
      <vt:lpstr>Aptos</vt:lpstr>
      <vt:lpstr>Barlow Semi Condensed Light</vt:lpstr>
      <vt:lpstr>Barlow Semi Condensed Medium</vt:lpstr>
      <vt:lpstr>Arial</vt:lpstr>
      <vt:lpstr>Consolas</vt:lpstr>
      <vt:lpstr>Corbel</vt:lpstr>
      <vt:lpstr>Courier New</vt:lpstr>
      <vt:lpstr>Wingdings</vt:lpstr>
      <vt:lpstr>Wingdings 2</vt:lpstr>
      <vt:lpstr>Cadre</vt:lpstr>
      <vt:lpstr>SYSTÈME DE RÉSERVATION INTERACTIF VIA CHATBOT  </vt:lpstr>
      <vt:lpstr>Contexte</vt:lpstr>
      <vt:lpstr>Déroulement du projet</vt:lpstr>
      <vt:lpstr>Panorama des sources</vt:lpstr>
      <vt:lpstr>Sommaire</vt:lpstr>
      <vt:lpstr>Fondements théoriques</vt:lpstr>
      <vt:lpstr>Fondements théoriques – NLP </vt:lpstr>
      <vt:lpstr>Fondements théoriques – NLP </vt:lpstr>
      <vt:lpstr>Fondements théoriques – NLP </vt:lpstr>
      <vt:lpstr>Fondements théoriques – NLU </vt:lpstr>
      <vt:lpstr>Fondements théoriques – NLU </vt:lpstr>
      <vt:lpstr>Fondements théoriques – Rasa </vt:lpstr>
      <vt:lpstr>Fondements théoriques – Rasa </vt:lpstr>
      <vt:lpstr>Fondements théoriques – Rasa</vt:lpstr>
      <vt:lpstr>Fondements théoriques – Rasa</vt:lpstr>
      <vt:lpstr>Fondements théoriques – Rasa</vt:lpstr>
      <vt:lpstr>Choix Technologique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54</cp:revision>
  <dcterms:created xsi:type="dcterms:W3CDTF">2024-08-17T12:48:51Z</dcterms:created>
  <dcterms:modified xsi:type="dcterms:W3CDTF">2024-08-24T20:07:10Z</dcterms:modified>
</cp:coreProperties>
</file>