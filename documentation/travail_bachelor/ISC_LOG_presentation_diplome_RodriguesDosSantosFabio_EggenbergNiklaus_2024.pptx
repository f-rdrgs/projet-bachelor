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40" r:id="rId1"/>
  </p:sldMasterIdLst>
  <p:notesMasterIdLst>
    <p:notesMasterId r:id="rId38"/>
  </p:notesMasterIdLst>
  <p:sldIdLst>
    <p:sldId id="256" r:id="rId2"/>
    <p:sldId id="257" r:id="rId3"/>
    <p:sldId id="258" r:id="rId4"/>
    <p:sldId id="291" r:id="rId5"/>
    <p:sldId id="292" r:id="rId6"/>
    <p:sldId id="259" r:id="rId7"/>
    <p:sldId id="260" r:id="rId8"/>
    <p:sldId id="261" r:id="rId9"/>
    <p:sldId id="265" r:id="rId10"/>
    <p:sldId id="266" r:id="rId11"/>
    <p:sldId id="262" r:id="rId12"/>
    <p:sldId id="264" r:id="rId13"/>
    <p:sldId id="267" r:id="rId14"/>
    <p:sldId id="270" r:id="rId15"/>
    <p:sldId id="271" r:id="rId16"/>
    <p:sldId id="273" r:id="rId17"/>
    <p:sldId id="272" r:id="rId18"/>
    <p:sldId id="274" r:id="rId19"/>
    <p:sldId id="268" r:id="rId20"/>
    <p:sldId id="279" r:id="rId21"/>
    <p:sldId id="278" r:id="rId22"/>
    <p:sldId id="289" r:id="rId23"/>
    <p:sldId id="283" r:id="rId24"/>
    <p:sldId id="280" r:id="rId25"/>
    <p:sldId id="281" r:id="rId26"/>
    <p:sldId id="282" r:id="rId27"/>
    <p:sldId id="284" r:id="rId28"/>
    <p:sldId id="277" r:id="rId29"/>
    <p:sldId id="285" r:id="rId30"/>
    <p:sldId id="286" r:id="rId31"/>
    <p:sldId id="288" r:id="rId32"/>
    <p:sldId id="296" r:id="rId33"/>
    <p:sldId id="290" r:id="rId34"/>
    <p:sldId id="294" r:id="rId35"/>
    <p:sldId id="295" r:id="rId36"/>
    <p:sldId id="293" r:id="rId3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22" autoAdjust="0"/>
    <p:restoredTop sz="94660"/>
  </p:normalViewPr>
  <p:slideViewPr>
    <p:cSldViewPr snapToGrid="0">
      <p:cViewPr>
        <p:scale>
          <a:sx n="100" d="100"/>
          <a:sy n="100" d="100"/>
        </p:scale>
        <p:origin x="930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AC3142-495C-4280-881B-1526FF75665B}" type="datetimeFigureOut">
              <a:rPr lang="fr-CH" smtClean="0"/>
              <a:t>28.08.2024</a:t>
            </a:fld>
            <a:endParaRPr lang="fr-CH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H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A1A13C-C183-424C-A414-74278106B563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1845591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BC7A4-560B-4424-86D9-D529C3ED2E24}" type="datetime1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56CEA-0161-4B0B-A6F9-D90790302E09}" type="datetime1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ECC23-A5A0-44D4-B496-B55A434D5385}" type="datetime1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DEE0E-910E-4647-A748-0A8F2A962DCA}" type="datetime1">
              <a:rPr lang="en-US" smtClean="0"/>
              <a:t>8/28/2024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9AEDB-DA47-42B1-AA20-FA4193278BFB}" type="datetime1">
              <a:rPr lang="en-US" smtClean="0"/>
              <a:t>8/28/2024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3806D-CEFF-4C7C-B69E-E8C6C2135F0C}" type="datetime1">
              <a:rPr lang="en-US" smtClean="0"/>
              <a:t>8/28/2024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799852-6437-4F59-8BA4-BD526AE7B018}" type="datetime1">
              <a:rPr lang="en-US" smtClean="0"/>
              <a:t>8/28/2024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EB050-0ECA-42EF-A435-70711370D85B}" type="datetime1">
              <a:rPr lang="en-US" smtClean="0"/>
              <a:t>8/28/2024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52ABD-58D4-4C9E-B1B8-CEC2AA8DBD93}" type="datetime1">
              <a:rPr lang="en-US" smtClean="0"/>
              <a:t>8/28/2024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01063-52CC-4584-9EE9-3A5FBF2927BA}" type="datetime1">
              <a:rPr lang="en-US" smtClean="0"/>
              <a:t>8/28/2024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B21167-5961-4EAA-A2C5-C443E1B8357A}" type="datetime1">
              <a:rPr lang="en-US" smtClean="0"/>
              <a:t>8/28/2024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C4EEF54E-F662-454E-AE7D-91A1E3F52308}" type="datetime1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3.png"/><Relationship Id="rId3" Type="http://schemas.openxmlformats.org/officeDocument/2006/relationships/image" Target="../media/image14.svg"/><Relationship Id="rId7" Type="http://schemas.openxmlformats.org/officeDocument/2006/relationships/image" Target="../media/image18.png"/><Relationship Id="rId12" Type="http://schemas.openxmlformats.org/officeDocument/2006/relationships/image" Target="../media/image1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sv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F4AD318-2FB6-4C6E-931E-58E404FA1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A118E35-1CBF-4863-8497-F4DF1A166D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582" y="752748"/>
            <a:ext cx="1001483" cy="4744251"/>
          </a:xfrm>
          <a:custGeom>
            <a:avLst/>
            <a:gdLst>
              <a:gd name="connsiteX0" fmla="*/ 0 w 1001483"/>
              <a:gd name="connsiteY0" fmla="*/ 0 h 4744251"/>
              <a:gd name="connsiteX1" fmla="*/ 1001483 w 1001483"/>
              <a:gd name="connsiteY1" fmla="*/ 0 h 4744251"/>
              <a:gd name="connsiteX2" fmla="*/ 0 w 1001483"/>
              <a:gd name="connsiteY2" fmla="*/ 4744251 h 4744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01483" h="4744251">
                <a:moveTo>
                  <a:pt x="0" y="0"/>
                </a:moveTo>
                <a:lnTo>
                  <a:pt x="1001483" y="0"/>
                </a:lnTo>
                <a:lnTo>
                  <a:pt x="0" y="474425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CH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6E187274-5DC2-4BE0-AF99-925D6D9735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87094" y="761999"/>
            <a:ext cx="4208489" cy="5334001"/>
          </a:xfrm>
          <a:custGeom>
            <a:avLst/>
            <a:gdLst>
              <a:gd name="connsiteX0" fmla="*/ 1015642 w 4208489"/>
              <a:gd name="connsiteY0" fmla="*/ 0 h 5334001"/>
              <a:gd name="connsiteX1" fmla="*/ 4208489 w 4208489"/>
              <a:gd name="connsiteY1" fmla="*/ 0 h 5334001"/>
              <a:gd name="connsiteX2" fmla="*/ 4208489 w 4208489"/>
              <a:gd name="connsiteY2" fmla="*/ 5334001 h 5334001"/>
              <a:gd name="connsiteX3" fmla="*/ 0 w 4208489"/>
              <a:gd name="connsiteY3" fmla="*/ 5334001 h 5334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08489" h="5334001">
                <a:moveTo>
                  <a:pt x="1015642" y="0"/>
                </a:moveTo>
                <a:lnTo>
                  <a:pt x="4208489" y="0"/>
                </a:lnTo>
                <a:lnTo>
                  <a:pt x="4208489" y="5334001"/>
                </a:lnTo>
                <a:lnTo>
                  <a:pt x="0" y="533400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CH"/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EEAC6F88-0753-9667-2E37-B001DE3E12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69849" y="1298448"/>
            <a:ext cx="7073487" cy="3255264"/>
          </a:xfrm>
        </p:spPr>
        <p:txBody>
          <a:bodyPr>
            <a:normAutofit fontScale="90000"/>
          </a:bodyPr>
          <a:lstStyle/>
          <a:p>
            <a:r>
              <a:rPr lang="fr-CH" dirty="0">
                <a:solidFill>
                  <a:schemeClr val="accent1"/>
                </a:solidFill>
              </a:rPr>
              <a:t>SYSTÈME DE RÉSERVATION INTERACTIF VIA CHATBOT  </a:t>
            </a:r>
          </a:p>
        </p:txBody>
      </p:sp>
      <p:sp>
        <p:nvSpPr>
          <p:cNvPr id="8" name="Sous-titre 7">
            <a:extLst>
              <a:ext uri="{FF2B5EF4-FFF2-40B4-BE49-F238E27FC236}">
                <a16:creationId xmlns:a16="http://schemas.microsoft.com/office/drawing/2014/main" id="{23E8BC3D-40C5-E08A-67A9-5EC2943CC2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28702" y="4084889"/>
            <a:ext cx="3021621" cy="1709159"/>
          </a:xfrm>
        </p:spPr>
        <p:txBody>
          <a:bodyPr>
            <a:normAutofit/>
          </a:bodyPr>
          <a:lstStyle/>
          <a:p>
            <a:pPr algn="r"/>
            <a:r>
              <a:rPr lang="fr-CH" sz="1800" dirty="0">
                <a:solidFill>
                  <a:srgbClr val="FFFFFF"/>
                </a:solidFill>
              </a:rPr>
              <a:t>Réalisé par : </a:t>
            </a:r>
          </a:p>
          <a:p>
            <a:pPr algn="r"/>
            <a:r>
              <a:rPr lang="fr-CH" sz="1800" dirty="0">
                <a:solidFill>
                  <a:srgbClr val="FFFFFF"/>
                </a:solidFill>
              </a:rPr>
              <a:t>Rodrigues dos Santos Fabio</a:t>
            </a:r>
          </a:p>
          <a:p>
            <a:pPr algn="r"/>
            <a:r>
              <a:rPr lang="fr-CH" sz="1800" dirty="0">
                <a:solidFill>
                  <a:srgbClr val="FFFFFF"/>
                </a:solidFill>
              </a:rPr>
              <a:t>Suivi par : </a:t>
            </a:r>
          </a:p>
          <a:p>
            <a:pPr algn="r"/>
            <a:r>
              <a:rPr lang="fr-CH" sz="1800" dirty="0" err="1">
                <a:solidFill>
                  <a:srgbClr val="FFFFFF"/>
                </a:solidFill>
              </a:rPr>
              <a:t>Eggenberg</a:t>
            </a:r>
            <a:r>
              <a:rPr lang="fr-CH" sz="1800" dirty="0">
                <a:solidFill>
                  <a:srgbClr val="FFFFFF"/>
                </a:solidFill>
              </a:rPr>
              <a:t> </a:t>
            </a:r>
            <a:r>
              <a:rPr lang="fr-CH" sz="1800" dirty="0" err="1">
                <a:solidFill>
                  <a:srgbClr val="FFFFFF"/>
                </a:solidFill>
              </a:rPr>
              <a:t>Niklaus</a:t>
            </a:r>
            <a:endParaRPr lang="fr-CH" sz="1800" dirty="0">
              <a:solidFill>
                <a:srgbClr val="FFFFFF"/>
              </a:solidFill>
            </a:endParaRPr>
          </a:p>
        </p:txBody>
      </p:sp>
      <p:sp>
        <p:nvSpPr>
          <p:cNvPr id="9" name="Titre 6">
            <a:extLst>
              <a:ext uri="{FF2B5EF4-FFF2-40B4-BE49-F238E27FC236}">
                <a16:creationId xmlns:a16="http://schemas.microsoft.com/office/drawing/2014/main" id="{392FAAAB-2693-E193-F32F-53F308B81A30}"/>
              </a:ext>
            </a:extLst>
          </p:cNvPr>
          <p:cNvSpPr txBox="1">
            <a:spLocks/>
          </p:cNvSpPr>
          <p:nvPr/>
        </p:nvSpPr>
        <p:spPr>
          <a:xfrm>
            <a:off x="1069849" y="4705568"/>
            <a:ext cx="5669816" cy="46780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900" kern="1200" spc="-10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sz="2400" i="1" dirty="0">
                <a:solidFill>
                  <a:schemeClr val="accent2"/>
                </a:solidFill>
              </a:rPr>
              <a:t>Projet de </a:t>
            </a:r>
            <a:r>
              <a:rPr lang="fr-CH" sz="2400" i="1" dirty="0" err="1">
                <a:solidFill>
                  <a:schemeClr val="accent2"/>
                </a:solidFill>
              </a:rPr>
              <a:t>Bachelor</a:t>
            </a:r>
            <a:r>
              <a:rPr lang="fr-CH" sz="2400" i="1" dirty="0">
                <a:solidFill>
                  <a:schemeClr val="accent2"/>
                </a:solidFill>
              </a:rPr>
              <a:t> , Septembre 2024</a:t>
            </a:r>
          </a:p>
        </p:txBody>
      </p:sp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DD4D5C53-4E19-C45C-A7EF-80A191756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CC8AA71E-6A37-272E-AF57-38BD43C9D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44082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43EF90D-D65A-8A6C-6357-72A38FFD0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sz="4400" dirty="0"/>
              <a:t>Contexte</a:t>
            </a:r>
            <a:endParaRPr lang="fr-CH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F40A75D-D479-8D68-5819-89FEE7EEC6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fr-CH" dirty="0"/>
              <a:t>Projet réalisé dans le cadre du travail de </a:t>
            </a:r>
            <a:r>
              <a:rPr lang="fr-CH" dirty="0" err="1"/>
              <a:t>Bachelor</a:t>
            </a:r>
            <a:endParaRPr lang="fr-CH" dirty="0"/>
          </a:p>
          <a:p>
            <a:pPr>
              <a:buFont typeface="Arial" panose="020B0604020202020204" pitchFamily="34" charset="0"/>
              <a:buChar char="•"/>
            </a:pPr>
            <a:r>
              <a:rPr lang="fr-CH" dirty="0"/>
              <a:t>Idée de projet initiale par M. </a:t>
            </a:r>
            <a:r>
              <a:rPr lang="fr-CH" dirty="0" err="1"/>
              <a:t>Niklaus</a:t>
            </a:r>
            <a:r>
              <a:rPr lang="fr-CH" dirty="0"/>
              <a:t> </a:t>
            </a:r>
            <a:r>
              <a:rPr lang="fr-CH" dirty="0" err="1"/>
              <a:t>Eggenberg</a:t>
            </a:r>
            <a:endParaRPr lang="fr-CH" dirty="0"/>
          </a:p>
          <a:p>
            <a:pPr>
              <a:buFont typeface="Arial" panose="020B0604020202020204" pitchFamily="34" charset="0"/>
              <a:buChar char="•"/>
            </a:pPr>
            <a:r>
              <a:rPr lang="fr-CH" dirty="0"/>
              <a:t>Bot de réservation conversationnel</a:t>
            </a:r>
          </a:p>
          <a:p>
            <a:pPr lvl="1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fr-CH" dirty="0"/>
              <a:t>Alternative aux systèmes courants de réservation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CH" dirty="0"/>
              <a:t>Sites Web avec menus cliquables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CH" dirty="0"/>
              <a:t>Appels Téléphoniques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CH" dirty="0"/>
              <a:t>Réservations en personne</a:t>
            </a:r>
          </a:p>
          <a:p>
            <a:pPr lvl="1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fr-CH" dirty="0"/>
              <a:t>Complément/ajout à un système existant de réservation</a:t>
            </a:r>
          </a:p>
          <a:p>
            <a:pPr lvl="1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fr-CH" dirty="0"/>
              <a:t>Exploration d’une direction rarement prise pour de tels systèmes</a:t>
            </a:r>
          </a:p>
          <a:p>
            <a:pPr lvl="1">
              <a:lnSpc>
                <a:spcPct val="150000"/>
              </a:lnSpc>
              <a:buFont typeface="Courier New" panose="02070309020205020404" pitchFamily="49" charset="0"/>
              <a:buChar char="o"/>
            </a:pPr>
            <a:endParaRPr lang="fr-CH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F17B811-EEE8-9F17-0919-33990C1D5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901B04D-6E8F-5582-B597-B5B902DEF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44753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AB9D38-1BFF-1201-3804-547361FAB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Déroulement du projet</a:t>
            </a:r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AAE23709-DF63-D5B6-65C3-8FE38DAF5A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63943" y="3053017"/>
            <a:ext cx="8306591" cy="751965"/>
          </a:xfrm>
        </p:spPr>
      </p:pic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5B55C2C-769D-4CF0-A2B6-0DE9CFB2B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34632FE-DE84-4BA1-AA8A-001E68E5E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3A9FB95-BFF9-CF89-4542-F33995C6879F}"/>
              </a:ext>
            </a:extLst>
          </p:cNvPr>
          <p:cNvSpPr txBox="1"/>
          <p:nvPr/>
        </p:nvSpPr>
        <p:spPr>
          <a:xfrm>
            <a:off x="6143496" y="1872367"/>
            <a:ext cx="294748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H" sz="3200" b="1" i="1" dirty="0">
                <a:latin typeface="+mj-lt"/>
              </a:rPr>
              <a:t>Semaine typique</a:t>
            </a:r>
          </a:p>
        </p:txBody>
      </p:sp>
    </p:spTree>
    <p:extLst>
      <p:ext uri="{BB962C8B-B14F-4D97-AF65-F5344CB8AC3E}">
        <p14:creationId xmlns:p14="http://schemas.microsoft.com/office/powerpoint/2010/main" val="17612549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AB9D38-1BFF-1201-3804-547361FAB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/>
              <a:t>Déroulement du projet</a:t>
            </a:r>
            <a:endParaRPr lang="fr-CH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5B55C2C-769D-4CF0-A2B6-0DE9CFB2B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34632FE-DE84-4BA1-AA8A-001E68E5E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10" name="Espace réservé du contenu 9">
            <a:extLst>
              <a:ext uri="{FF2B5EF4-FFF2-40B4-BE49-F238E27FC236}">
                <a16:creationId xmlns:a16="http://schemas.microsoft.com/office/drawing/2014/main" id="{A3A6F596-4181-B9F6-08AB-E88DDDA67F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10233821" y="575741"/>
            <a:ext cx="1512621" cy="6050484"/>
          </a:xfr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C32E221E-B5F1-069C-AB5C-3971074CC8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482832" y="1631836"/>
            <a:ext cx="6750989" cy="4457813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8E134ED3-FCDF-4FBA-13AA-39E0C458B387}"/>
              </a:ext>
            </a:extLst>
          </p:cNvPr>
          <p:cNvSpPr txBox="1"/>
          <p:nvPr/>
        </p:nvSpPr>
        <p:spPr>
          <a:xfrm>
            <a:off x="5623756" y="651901"/>
            <a:ext cx="294748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H" sz="3200" b="1" i="1" dirty="0">
                <a:latin typeface="+mj-lt"/>
              </a:rPr>
              <a:t>Issue </a:t>
            </a:r>
            <a:r>
              <a:rPr lang="fr-CH" sz="3200" b="1" i="1" dirty="0" err="1">
                <a:latin typeface="+mj-lt"/>
              </a:rPr>
              <a:t>Board</a:t>
            </a:r>
            <a:r>
              <a:rPr lang="fr-CH" sz="3200" b="1" i="1" dirty="0">
                <a:latin typeface="+mj-lt"/>
              </a:rPr>
              <a:t> employé</a:t>
            </a:r>
          </a:p>
        </p:txBody>
      </p:sp>
    </p:spTree>
    <p:extLst>
      <p:ext uri="{BB962C8B-B14F-4D97-AF65-F5344CB8AC3E}">
        <p14:creationId xmlns:p14="http://schemas.microsoft.com/office/powerpoint/2010/main" val="36994886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AB9D38-1BFF-1201-3804-547361FAB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/>
              <a:t>Déroulement du projet</a:t>
            </a:r>
            <a:endParaRPr lang="fr-CH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5B55C2C-769D-4CF0-A2B6-0DE9CFB2B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34632FE-DE84-4BA1-AA8A-001E68E5E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C32E221E-B5F1-069C-AB5C-3971074CC8A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764493" y="1838345"/>
            <a:ext cx="7511132" cy="3886675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8E134ED3-FCDF-4FBA-13AA-39E0C458B387}"/>
              </a:ext>
            </a:extLst>
          </p:cNvPr>
          <p:cNvSpPr txBox="1"/>
          <p:nvPr/>
        </p:nvSpPr>
        <p:spPr>
          <a:xfrm>
            <a:off x="6046317" y="668406"/>
            <a:ext cx="294748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H" sz="3200" b="1" i="1" dirty="0">
                <a:latin typeface="+mj-lt"/>
              </a:rPr>
              <a:t>Extrait du journal de bord</a:t>
            </a:r>
          </a:p>
        </p:txBody>
      </p:sp>
    </p:spTree>
    <p:extLst>
      <p:ext uri="{BB962C8B-B14F-4D97-AF65-F5344CB8AC3E}">
        <p14:creationId xmlns:p14="http://schemas.microsoft.com/office/powerpoint/2010/main" val="30543536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68ED4B7-D352-10EC-C1CD-9253B1245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</p:spPr>
        <p:txBody>
          <a:bodyPr>
            <a:normAutofit/>
          </a:bodyPr>
          <a:lstStyle/>
          <a:p>
            <a:r>
              <a:rPr lang="fr-CH" dirty="0"/>
              <a:t>Panorama des sources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45A0717-8BB5-C6EA-EE19-1593F57DE9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0475" y="864108"/>
            <a:ext cx="4429125" cy="5120640"/>
          </a:xfrm>
        </p:spPr>
        <p:txBody>
          <a:bodyPr>
            <a:normAutofit/>
          </a:bodyPr>
          <a:lstStyle/>
          <a:p>
            <a:r>
              <a:rPr lang="fr-CH" sz="2400" dirty="0"/>
              <a:t>Blogs divers</a:t>
            </a:r>
          </a:p>
          <a:p>
            <a:r>
              <a:rPr lang="fr-CH" sz="2400" dirty="0"/>
              <a:t>Articles web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fr-CH" sz="2000" dirty="0"/>
              <a:t>IBM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fr-CH" sz="2000" dirty="0"/>
              <a:t>Medium.com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fr-CH" sz="2000" dirty="0"/>
              <a:t>Analytics Vidhya</a:t>
            </a:r>
          </a:p>
          <a:p>
            <a:r>
              <a:rPr lang="fr-CH" sz="2400" dirty="0"/>
              <a:t>Articles de Recherche : </a:t>
            </a:r>
            <a:r>
              <a:rPr lang="en" sz="2400" dirty="0"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rPr>
              <a:t>arXiv.org</a:t>
            </a:r>
            <a:endParaRPr lang="fr-CH" sz="2400" dirty="0"/>
          </a:p>
          <a:p>
            <a:pPr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fr-CH" dirty="0"/>
          </a:p>
        </p:txBody>
      </p:sp>
      <p:pic>
        <p:nvPicPr>
          <p:cNvPr id="7" name="Graphique 6" descr="Livres avec un remplissage uni">
            <a:extLst>
              <a:ext uri="{FF2B5EF4-FFF2-40B4-BE49-F238E27FC236}">
                <a16:creationId xmlns:a16="http://schemas.microsoft.com/office/drawing/2014/main" id="{C0B11024-8AEE-03AF-2229-3C2D667570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43425" y="1687068"/>
            <a:ext cx="3474720" cy="3474720"/>
          </a:xfrm>
          <a:prstGeom prst="rect">
            <a:avLst/>
          </a:prstGeom>
        </p:spPr>
      </p:pic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EB3E97C-3E2D-7500-CC21-6FB59A791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69268" y="6356350"/>
            <a:ext cx="5911517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fr-CH"/>
              <a:t>Présentation BA - Chatbot Réservation - Rodrigues dos Santos Fabio</a:t>
            </a:r>
            <a:endParaRPr lang="en-US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D8279AA-F576-7E74-F0EA-E82F6874B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34135" y="6356350"/>
            <a:ext cx="1530927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4FAB73BC-B049-4115-A692-8D63A059BFB8}" type="slidenum">
              <a:rPr lang="en-US" smtClean="0"/>
              <a:pPr>
                <a:spcAft>
                  <a:spcPts val="600"/>
                </a:spcAft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915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5">
            <a:extLst>
              <a:ext uri="{FF2B5EF4-FFF2-40B4-BE49-F238E27FC236}">
                <a16:creationId xmlns:a16="http://schemas.microsoft.com/office/drawing/2014/main" id="{781D2AAC-4347-F3F7-8C85-1D59A3459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Sommaire</a:t>
            </a:r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F904D1CC-CB89-8A30-F84F-CED6D01EE1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spcAft>
                <a:spcPts val="1200"/>
              </a:spcAft>
              <a:buFont typeface="+mj-lt"/>
              <a:buAutoNum type="arabicParenR"/>
            </a:pPr>
            <a:r>
              <a:rPr lang="fr-CH" sz="3200" dirty="0"/>
              <a:t>Fondements théoriques</a:t>
            </a:r>
          </a:p>
          <a:p>
            <a:pPr marL="514350" indent="-514350">
              <a:spcAft>
                <a:spcPts val="1200"/>
              </a:spcAft>
              <a:buFont typeface="+mj-lt"/>
              <a:buAutoNum type="arabicParenR"/>
            </a:pPr>
            <a:r>
              <a:rPr lang="fr-CH" sz="3200" dirty="0"/>
              <a:t>Choix technologique</a:t>
            </a:r>
          </a:p>
          <a:p>
            <a:pPr marL="514350" indent="-514350">
              <a:spcAft>
                <a:spcPts val="1200"/>
              </a:spcAft>
              <a:buFont typeface="+mj-lt"/>
              <a:buAutoNum type="arabicParenR"/>
            </a:pPr>
            <a:r>
              <a:rPr lang="fr-CH" sz="3200" dirty="0"/>
              <a:t>Implémentation</a:t>
            </a:r>
          </a:p>
          <a:p>
            <a:pPr marL="514350" indent="-514350">
              <a:spcAft>
                <a:spcPts val="1200"/>
              </a:spcAft>
              <a:buFont typeface="+mj-lt"/>
              <a:buAutoNum type="arabicParenR"/>
            </a:pPr>
            <a:r>
              <a:rPr lang="fr-CH" sz="3200" dirty="0"/>
              <a:t>Résultats obtenus</a:t>
            </a:r>
          </a:p>
          <a:p>
            <a:pPr marL="514350" indent="-514350">
              <a:spcAft>
                <a:spcPts val="1200"/>
              </a:spcAft>
              <a:buFont typeface="+mj-lt"/>
              <a:buAutoNum type="arabicParenR"/>
            </a:pPr>
            <a:r>
              <a:rPr lang="fr-CH" sz="3200" dirty="0"/>
              <a:t>Démonstration</a:t>
            </a:r>
          </a:p>
          <a:p>
            <a:pPr marL="514350" indent="-514350">
              <a:spcAft>
                <a:spcPts val="1200"/>
              </a:spcAft>
              <a:buFont typeface="+mj-lt"/>
              <a:buAutoNum type="arabicParenR"/>
            </a:pPr>
            <a:r>
              <a:rPr lang="fr-CH" sz="3200" dirty="0"/>
              <a:t>Conclusion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6829452-C558-5EE4-4F23-518653E23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17DFF10-678C-E4A4-5BA1-7B883901C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29223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1090E5-E219-5050-37F6-7B7502DAE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Fondements théoriques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9AEDDFA-8AC6-BE49-9EE5-74A170FDE1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CH" sz="3200" dirty="0">
                <a:latin typeface="+mj-lt"/>
              </a:rPr>
              <a:t>Principes importants pour la réalisation du Chatbot </a:t>
            </a:r>
          </a:p>
          <a:p>
            <a:pPr marL="0" indent="0">
              <a:buNone/>
            </a:pPr>
            <a:endParaRPr lang="fr-CH" sz="2800" dirty="0">
              <a:latin typeface="+mj-lt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fr-CH" sz="2400" b="1" dirty="0">
                <a:latin typeface="+mj-lt"/>
              </a:rPr>
              <a:t>N</a:t>
            </a:r>
            <a:r>
              <a:rPr lang="fr-CH" sz="2400" dirty="0">
                <a:latin typeface="+mj-lt"/>
              </a:rPr>
              <a:t>atural </a:t>
            </a:r>
            <a:r>
              <a:rPr lang="fr-CH" sz="2400" b="1" dirty="0" err="1">
                <a:latin typeface="+mj-lt"/>
              </a:rPr>
              <a:t>L</a:t>
            </a:r>
            <a:r>
              <a:rPr lang="fr-CH" sz="2400" dirty="0" err="1">
                <a:latin typeface="+mj-lt"/>
              </a:rPr>
              <a:t>anguage</a:t>
            </a:r>
            <a:r>
              <a:rPr lang="fr-CH" sz="2400" dirty="0">
                <a:latin typeface="+mj-lt"/>
              </a:rPr>
              <a:t> </a:t>
            </a:r>
            <a:r>
              <a:rPr lang="fr-CH" sz="2400" b="1" dirty="0" err="1">
                <a:latin typeface="+mj-lt"/>
              </a:rPr>
              <a:t>P</a:t>
            </a:r>
            <a:r>
              <a:rPr lang="fr-CH" sz="2400" dirty="0" err="1">
                <a:latin typeface="+mj-lt"/>
              </a:rPr>
              <a:t>rocessing</a:t>
            </a:r>
            <a:endParaRPr lang="fr-CH" sz="2400" dirty="0">
              <a:latin typeface="+mj-lt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fr-CH" sz="2000" b="1" dirty="0">
                <a:latin typeface="+mj-lt"/>
              </a:rPr>
              <a:t>N</a:t>
            </a:r>
            <a:r>
              <a:rPr lang="fr-CH" sz="2000" dirty="0">
                <a:latin typeface="+mj-lt"/>
              </a:rPr>
              <a:t>atural </a:t>
            </a:r>
            <a:r>
              <a:rPr lang="fr-CH" sz="2000" b="1" dirty="0" err="1">
                <a:latin typeface="+mj-lt"/>
              </a:rPr>
              <a:t>L</a:t>
            </a:r>
            <a:r>
              <a:rPr lang="fr-CH" sz="2000" dirty="0" err="1">
                <a:latin typeface="+mj-lt"/>
              </a:rPr>
              <a:t>anguage</a:t>
            </a:r>
            <a:r>
              <a:rPr lang="fr-CH" sz="2000" dirty="0">
                <a:latin typeface="+mj-lt"/>
              </a:rPr>
              <a:t> </a:t>
            </a:r>
            <a:r>
              <a:rPr lang="fr-CH" sz="2000" b="1" dirty="0" err="1">
                <a:latin typeface="+mj-lt"/>
              </a:rPr>
              <a:t>U</a:t>
            </a:r>
            <a:r>
              <a:rPr lang="fr-CH" sz="2000" dirty="0" err="1">
                <a:latin typeface="+mj-lt"/>
              </a:rPr>
              <a:t>nderstanding</a:t>
            </a:r>
            <a:endParaRPr lang="fr-CH" sz="2000" dirty="0">
              <a:latin typeface="+mj-lt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fr-CH" sz="2000" b="1" dirty="0">
                <a:latin typeface="+mj-lt"/>
              </a:rPr>
              <a:t>N</a:t>
            </a:r>
            <a:r>
              <a:rPr lang="fr-CH" sz="2000" dirty="0">
                <a:latin typeface="+mj-lt"/>
              </a:rPr>
              <a:t>atural </a:t>
            </a:r>
            <a:r>
              <a:rPr lang="fr-CH" sz="2000" b="1" dirty="0" err="1">
                <a:latin typeface="+mj-lt"/>
              </a:rPr>
              <a:t>L</a:t>
            </a:r>
            <a:r>
              <a:rPr lang="fr-CH" sz="2000" dirty="0" err="1">
                <a:latin typeface="+mj-lt"/>
              </a:rPr>
              <a:t>anguage</a:t>
            </a:r>
            <a:r>
              <a:rPr lang="fr-CH" sz="2000" dirty="0">
                <a:latin typeface="+mj-lt"/>
              </a:rPr>
              <a:t> </a:t>
            </a:r>
            <a:r>
              <a:rPr lang="fr-CH" sz="2000" b="1" dirty="0" err="1">
                <a:latin typeface="+mj-lt"/>
              </a:rPr>
              <a:t>G</a:t>
            </a:r>
            <a:r>
              <a:rPr lang="fr-CH" sz="2000" dirty="0" err="1">
                <a:latin typeface="+mj-lt"/>
              </a:rPr>
              <a:t>eneration</a:t>
            </a:r>
            <a:endParaRPr lang="fr-CH" sz="2000" dirty="0">
              <a:latin typeface="+mj-lt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fr-CH" sz="2400" dirty="0">
                <a:latin typeface="+mj-lt"/>
              </a:rPr>
              <a:t>Framework de traitement NLP - Rasa</a:t>
            </a:r>
          </a:p>
          <a:p>
            <a:pPr>
              <a:buFont typeface="Arial" panose="020B0604020202020204" pitchFamily="34" charset="0"/>
              <a:buChar char="•"/>
            </a:pPr>
            <a:endParaRPr lang="fr-CH" sz="2800" b="1" dirty="0">
              <a:latin typeface="+mj-lt"/>
            </a:endParaRP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C8EAD72-0445-8B67-7544-0DFD57C5D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D103D54-09E4-8217-70C4-707EED93E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15736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1090E5-E219-5050-37F6-7B7502DAE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638" y="1123837"/>
            <a:ext cx="3334430" cy="4601183"/>
          </a:xfrm>
        </p:spPr>
        <p:txBody>
          <a:bodyPr/>
          <a:lstStyle/>
          <a:p>
            <a:r>
              <a:rPr lang="fr-CH" dirty="0"/>
              <a:t>Fondements théoriques – NLP 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C8EAD72-0445-8B67-7544-0DFD57C5D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D103D54-09E4-8217-70C4-707EED93E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593E144-8D32-2268-B6FA-4559EE356115}"/>
              </a:ext>
            </a:extLst>
          </p:cNvPr>
          <p:cNvSpPr txBox="1"/>
          <p:nvPr/>
        </p:nvSpPr>
        <p:spPr>
          <a:xfrm>
            <a:off x="6213440" y="5298616"/>
            <a:ext cx="26268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i="1" dirty="0">
                <a:solidFill>
                  <a:schemeClr val="accent6"/>
                </a:solidFill>
                <a:ea typeface="Barlow Semi Condensed Light"/>
                <a:cs typeface="Barlow Semi Condensed Light"/>
                <a:sym typeface="Barlow Semi Condensed Light"/>
              </a:rPr>
              <a:t>Source: Rodrigues dos Santos Fabio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89427E80-4706-06FE-135D-A0578DD872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864108"/>
            <a:ext cx="7315200" cy="45373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CH" sz="3200" b="1" dirty="0">
                <a:latin typeface="+mj-lt"/>
              </a:rPr>
              <a:t>Qu’est-ce ?</a:t>
            </a:r>
          </a:p>
          <a:p>
            <a:pPr marL="0" indent="0">
              <a:buNone/>
            </a:pPr>
            <a:r>
              <a:rPr lang="fr-CH" dirty="0"/>
              <a:t>Transformation de textes en données structurées compréhensible par des modèles d’I.A.</a:t>
            </a:r>
          </a:p>
          <a:p>
            <a:pPr marL="0" indent="0">
              <a:buNone/>
            </a:pPr>
            <a:endParaRPr lang="fr-CH" sz="2800" dirty="0"/>
          </a:p>
          <a:p>
            <a:pPr marL="0" indent="0">
              <a:buNone/>
            </a:pPr>
            <a:r>
              <a:rPr lang="fr-CH" sz="3200" b="1" dirty="0">
                <a:latin typeface="+mj-lt"/>
              </a:rPr>
              <a:t>Structure</a:t>
            </a:r>
          </a:p>
          <a:p>
            <a:pPr marL="0" indent="0">
              <a:buNone/>
            </a:pPr>
            <a:r>
              <a:rPr lang="fr-CH" sz="2400" dirty="0"/>
              <a:t>Passage de mots à des </a:t>
            </a:r>
            <a:r>
              <a:rPr lang="fr-CH" sz="2400" dirty="0" err="1"/>
              <a:t>Tokens</a:t>
            </a:r>
            <a:endParaRPr lang="fr-CH" sz="2400" dirty="0"/>
          </a:p>
          <a:p>
            <a:pPr marL="0" indent="0">
              <a:buNone/>
            </a:pPr>
            <a:endParaRPr lang="fr-CH" sz="3200" b="1" dirty="0"/>
          </a:p>
        </p:txBody>
      </p:sp>
      <p:pic>
        <p:nvPicPr>
          <p:cNvPr id="3" name="Google Shape;1934;p47">
            <a:extLst>
              <a:ext uri="{FF2B5EF4-FFF2-40B4-BE49-F238E27FC236}">
                <a16:creationId xmlns:a16="http://schemas.microsoft.com/office/drawing/2014/main" id="{17AF2ECB-D6C4-7041-B1A7-C61CA5DCBCA7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869268" y="4686328"/>
            <a:ext cx="6858000" cy="4953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</p:spTree>
    <p:extLst>
      <p:ext uri="{BB962C8B-B14F-4D97-AF65-F5344CB8AC3E}">
        <p14:creationId xmlns:p14="http://schemas.microsoft.com/office/powerpoint/2010/main" val="15078293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1090E5-E219-5050-37F6-7B7502DAE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3" y="1123837"/>
            <a:ext cx="3347049" cy="4601183"/>
          </a:xfrm>
        </p:spPr>
        <p:txBody>
          <a:bodyPr/>
          <a:lstStyle/>
          <a:p>
            <a:r>
              <a:rPr lang="fr-CH" dirty="0"/>
              <a:t>Fondements théoriques – NLP 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C8EAD72-0445-8B67-7544-0DFD57C5D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D103D54-09E4-8217-70C4-707EED93E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593E144-8D32-2268-B6FA-4559EE356115}"/>
              </a:ext>
            </a:extLst>
          </p:cNvPr>
          <p:cNvSpPr txBox="1"/>
          <p:nvPr/>
        </p:nvSpPr>
        <p:spPr>
          <a:xfrm>
            <a:off x="9278291" y="5025318"/>
            <a:ext cx="19971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1400" dirty="0">
                <a:solidFill>
                  <a:schemeClr val="accent4"/>
                </a:solidFill>
              </a:rPr>
              <a:t>Source: Javapoint.com</a:t>
            </a:r>
            <a:endParaRPr lang="fr-CH" sz="1400" i="1" dirty="0">
              <a:solidFill>
                <a:schemeClr val="accent4"/>
              </a:solidFill>
            </a:endParaRP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1B43363-E29E-2D17-D556-F602E84089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75579" y="1157144"/>
            <a:ext cx="4967868" cy="4435680"/>
          </a:xfrm>
        </p:spPr>
        <p:txBody>
          <a:bodyPr/>
          <a:lstStyle/>
          <a:p>
            <a:pPr marL="539750" lvl="0" indent="-4000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+mj-lt"/>
              <a:buAutoNum type="romanUcPeriod"/>
            </a:pPr>
            <a:r>
              <a:rPr lang="fr-CH" dirty="0">
                <a:solidFill>
                  <a:schemeClr val="dk2"/>
                </a:solidFill>
                <a:ea typeface="Barlow Semi Condensed Medium"/>
                <a:cs typeface="Barlow Semi Condensed Medium"/>
                <a:sym typeface="Barlow Semi Condensed Medium"/>
              </a:rPr>
              <a:t>Compréhension des mots</a:t>
            </a:r>
          </a:p>
          <a:p>
            <a:pPr marL="539750" lvl="0" indent="-40005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+mj-lt"/>
              <a:buAutoNum type="romanUcPeriod"/>
            </a:pPr>
            <a:r>
              <a:rPr lang="fr-CH" dirty="0">
                <a:solidFill>
                  <a:schemeClr val="dk2"/>
                </a:solidFill>
                <a:ea typeface="Barlow Semi Condensed Medium"/>
                <a:cs typeface="Barlow Semi Condensed Medium"/>
                <a:sym typeface="Barlow Semi Condensed Medium"/>
              </a:rPr>
              <a:t>Compréhension des phrases (grammaire)</a:t>
            </a:r>
          </a:p>
          <a:p>
            <a:pPr marL="539750" lvl="0" indent="-40005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+mj-lt"/>
              <a:buAutoNum type="romanUcPeriod"/>
            </a:pPr>
            <a:r>
              <a:rPr lang="fr-CH" dirty="0">
                <a:solidFill>
                  <a:schemeClr val="dk2"/>
                </a:solidFill>
                <a:ea typeface="Barlow Semi Condensed Medium"/>
                <a:cs typeface="Barlow Semi Condensed Medium"/>
                <a:sym typeface="Barlow Semi Condensed Medium"/>
              </a:rPr>
              <a:t>Compréhension du sens des mots entre eux</a:t>
            </a:r>
          </a:p>
          <a:p>
            <a:pPr marL="539750" lvl="0" indent="-40005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+mj-lt"/>
              <a:buAutoNum type="romanUcPeriod"/>
            </a:pPr>
            <a:r>
              <a:rPr lang="fr-CH" dirty="0">
                <a:solidFill>
                  <a:schemeClr val="dk2"/>
                </a:solidFill>
                <a:ea typeface="Barlow Semi Condensed Medium"/>
                <a:cs typeface="Barlow Semi Condensed Medium"/>
                <a:sym typeface="Barlow Semi Condensed Medium"/>
              </a:rPr>
              <a:t>Comparaison rétroactive à d’autres textes</a:t>
            </a:r>
          </a:p>
          <a:p>
            <a:pPr marL="539750" lvl="0" indent="-400050" algn="l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Clr>
                <a:schemeClr val="dk2"/>
              </a:buClr>
              <a:buSzPts val="1400"/>
              <a:buFont typeface="+mj-lt"/>
              <a:buAutoNum type="romanUcPeriod"/>
            </a:pPr>
            <a:r>
              <a:rPr lang="fr-CH" dirty="0">
                <a:solidFill>
                  <a:schemeClr val="dk2"/>
                </a:solidFill>
                <a:ea typeface="Barlow Semi Condensed Medium"/>
                <a:cs typeface="Barlow Semi Condensed Medium"/>
                <a:sym typeface="Barlow Semi Condensed Medium"/>
              </a:rPr>
              <a:t>Ressortir le contexte du texte</a:t>
            </a:r>
          </a:p>
          <a:p>
            <a:endParaRPr lang="fr-CH" dirty="0"/>
          </a:p>
        </p:txBody>
      </p:sp>
      <p:pic>
        <p:nvPicPr>
          <p:cNvPr id="9" name="Google Shape;1943;p48">
            <a:extLst>
              <a:ext uri="{FF2B5EF4-FFF2-40B4-BE49-F238E27FC236}">
                <a16:creationId xmlns:a16="http://schemas.microsoft.com/office/drawing/2014/main" id="{AFD19E42-6159-A4D6-BEF1-8E43F5BD0269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643447" y="1157144"/>
            <a:ext cx="3107149" cy="386817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898380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1090E5-E219-5050-37F6-7B7502DAE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" y="1123837"/>
            <a:ext cx="3364303" cy="4601183"/>
          </a:xfrm>
        </p:spPr>
        <p:txBody>
          <a:bodyPr/>
          <a:lstStyle/>
          <a:p>
            <a:r>
              <a:rPr lang="fr-CH" dirty="0"/>
              <a:t>Fondements théoriques – NLP </a:t>
            </a:r>
          </a:p>
        </p:txBody>
      </p:sp>
      <p:pic>
        <p:nvPicPr>
          <p:cNvPr id="7" name="Espace réservé du contenu 6" descr="Une image contenant texte, cercle, Police, logo&#10;&#10;Description générée automatiquement">
            <a:extLst>
              <a:ext uri="{FF2B5EF4-FFF2-40B4-BE49-F238E27FC236}">
                <a16:creationId xmlns:a16="http://schemas.microsoft.com/office/drawing/2014/main" id="{44B8F8DF-0C5A-C562-B4D4-2EE880F381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68738" y="1366837"/>
            <a:ext cx="7315200" cy="4114800"/>
          </a:xfrm>
        </p:spPr>
      </p:pic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C8EAD72-0445-8B67-7544-0DFD57C5D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D103D54-09E4-8217-70C4-707EED93E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593E144-8D32-2268-B6FA-4559EE356115}"/>
              </a:ext>
            </a:extLst>
          </p:cNvPr>
          <p:cNvSpPr txBox="1"/>
          <p:nvPr/>
        </p:nvSpPr>
        <p:spPr>
          <a:xfrm>
            <a:off x="6527774" y="5417243"/>
            <a:ext cx="19971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1400" dirty="0">
                <a:solidFill>
                  <a:schemeClr val="accent4"/>
                </a:solidFill>
              </a:rPr>
              <a:t>Source: Datasolut.com</a:t>
            </a:r>
            <a:endParaRPr lang="fr-CH" sz="1400" i="1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21824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CB46EB-D775-0ADD-C2CB-933B09120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1123837"/>
            <a:ext cx="3372928" cy="4601183"/>
          </a:xfrm>
        </p:spPr>
        <p:txBody>
          <a:bodyPr/>
          <a:lstStyle/>
          <a:p>
            <a:r>
              <a:rPr lang="fr-CH" dirty="0"/>
              <a:t>Fondements théoriques – NLU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20EA06-7A2D-8774-FBC9-EC668D4A3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868680"/>
            <a:ext cx="7315200" cy="5120640"/>
          </a:xfrm>
        </p:spPr>
        <p:txBody>
          <a:bodyPr/>
          <a:lstStyle/>
          <a:p>
            <a:pPr marL="0" indent="0">
              <a:buNone/>
            </a:pPr>
            <a:r>
              <a:rPr lang="fr-CH" sz="2800" b="1" dirty="0"/>
              <a:t>Qu’est-ce ?</a:t>
            </a:r>
          </a:p>
          <a:p>
            <a:pPr marL="0" indent="0">
              <a:buNone/>
            </a:pPr>
            <a:r>
              <a:rPr lang="fr-CH" sz="1800" dirty="0"/>
              <a:t>Sert à la compréhension de données en langage naturel par des programmes</a:t>
            </a:r>
          </a:p>
          <a:p>
            <a:pPr marL="0" indent="0">
              <a:buNone/>
            </a:pPr>
            <a:r>
              <a:rPr lang="fr-CH" sz="1800" dirty="0"/>
              <a:t>Sous-section du NLP centré sur : Compréhension Grammaticale et de Contexte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E8E29F7-A8D9-B247-62A1-EE62F1806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402CA1-2104-9FE9-E0B5-D0086A3DC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37195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CB46EB-D775-0ADD-C2CB-933B09120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" y="1123837"/>
            <a:ext cx="3390181" cy="4601183"/>
          </a:xfrm>
        </p:spPr>
        <p:txBody>
          <a:bodyPr/>
          <a:lstStyle/>
          <a:p>
            <a:r>
              <a:rPr lang="fr-CH" dirty="0"/>
              <a:t>Fondements théoriques – NLU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20EA06-7A2D-8774-FBC9-EC668D4A3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1712863"/>
            <a:ext cx="7315200" cy="3388715"/>
          </a:xfrm>
        </p:spPr>
        <p:txBody>
          <a:bodyPr/>
          <a:lstStyle/>
          <a:p>
            <a:pPr marL="0" indent="0">
              <a:buNone/>
            </a:pPr>
            <a:r>
              <a:rPr lang="fr-CH" sz="2800" b="1" dirty="0"/>
              <a:t>Deux méthodes principales</a:t>
            </a:r>
          </a:p>
          <a:p>
            <a:pPr marL="59690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+mj-lt"/>
              <a:buAutoNum type="arabicParenR"/>
            </a:pPr>
            <a:r>
              <a:rPr lang="fr-CH" dirty="0"/>
              <a:t>Détection d’intention : Identification des sentiments et objectifs</a:t>
            </a:r>
          </a:p>
          <a:p>
            <a:pPr marL="457200" indent="-317500">
              <a:lnSpc>
                <a:spcPct val="150000"/>
              </a:lnSpc>
              <a:spcBef>
                <a:spcPts val="1000"/>
              </a:spcBef>
              <a:buSzPct val="100000"/>
              <a:buAutoNum type="arabicParenR"/>
            </a:pPr>
            <a:r>
              <a:rPr lang="fr-CH" dirty="0"/>
              <a:t>   Détection d’entités : Extraction d’entités et leurs informations</a:t>
            </a:r>
          </a:p>
          <a:p>
            <a:pPr marL="1371600" lvl="2" indent="-317500">
              <a:spcBef>
                <a:spcPts val="1000"/>
              </a:spcBef>
              <a:spcAft>
                <a:spcPts val="0"/>
              </a:spcAft>
              <a:buSzPts val="1400"/>
              <a:buAutoNum type="alphaLcPeriod"/>
            </a:pPr>
            <a:r>
              <a:rPr lang="fr-CH" dirty="0"/>
              <a:t>Entité Numérique</a:t>
            </a:r>
          </a:p>
          <a:p>
            <a:pPr marL="1371600" lvl="2" indent="-317500">
              <a:spcBef>
                <a:spcPts val="1000"/>
              </a:spcBef>
              <a:spcAft>
                <a:spcPts val="1000"/>
              </a:spcAft>
              <a:buSzPts val="1400"/>
              <a:buAutoNum type="alphaLcPeriod"/>
            </a:pPr>
            <a:r>
              <a:rPr lang="fr-CH" dirty="0"/>
              <a:t>Entité nommée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E8E29F7-A8D9-B247-62A1-EE62F1806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402CA1-2104-9FE9-E0B5-D0086A3DC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1C6ECE6-B814-CD07-7424-551C358C0F30}"/>
              </a:ext>
            </a:extLst>
          </p:cNvPr>
          <p:cNvSpPr txBox="1"/>
          <p:nvPr/>
        </p:nvSpPr>
        <p:spPr>
          <a:xfrm>
            <a:off x="6578728" y="4793801"/>
            <a:ext cx="18962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1400" i="1" dirty="0">
                <a:solidFill>
                  <a:schemeClr val="accent6"/>
                </a:solidFill>
              </a:rPr>
              <a:t>Source: Techtarget.com</a:t>
            </a:r>
          </a:p>
        </p:txBody>
      </p:sp>
    </p:spTree>
    <p:extLst>
      <p:ext uri="{BB962C8B-B14F-4D97-AF65-F5344CB8AC3E}">
        <p14:creationId xmlns:p14="http://schemas.microsoft.com/office/powerpoint/2010/main" val="19163298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CB46EB-D775-0ADD-C2CB-933B09120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" y="1123837"/>
            <a:ext cx="3493699" cy="4601183"/>
          </a:xfrm>
        </p:spPr>
        <p:txBody>
          <a:bodyPr/>
          <a:lstStyle/>
          <a:p>
            <a:r>
              <a:rPr lang="fr-CH" dirty="0"/>
              <a:t>Fondements théoriques – Rasa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20EA06-7A2D-8774-FBC9-EC668D4A3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9310" y="1730070"/>
            <a:ext cx="4370541" cy="33887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CH" sz="2800" b="1" dirty="0">
                <a:latin typeface="+mj-lt"/>
              </a:rPr>
              <a:t>Qu’est-ce ?</a:t>
            </a:r>
          </a:p>
          <a:p>
            <a:pPr marL="0" indent="0">
              <a:buNone/>
            </a:pPr>
            <a:r>
              <a:rPr lang="fr-CH" dirty="0">
                <a:latin typeface="+mj-lt"/>
              </a:rPr>
              <a:t>Un </a:t>
            </a:r>
            <a:r>
              <a:rPr lang="fr-CH" dirty="0" err="1">
                <a:latin typeface="+mj-lt"/>
              </a:rPr>
              <a:t>framework</a:t>
            </a:r>
            <a:r>
              <a:rPr lang="fr-CH" dirty="0">
                <a:latin typeface="+mj-lt"/>
              </a:rPr>
              <a:t> ou boîte à outils pour la création de Chatbots conversationnels en Python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E8E29F7-A8D9-B247-62A1-EE62F1806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402CA1-2104-9FE9-E0B5-D0086A3DC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9" name="Image 8" descr="Une image contenant Graphique, capture d’écran, violet, Caractère coloré&#10;&#10;Description générée automatiquement">
            <a:extLst>
              <a:ext uri="{FF2B5EF4-FFF2-40B4-BE49-F238E27FC236}">
                <a16:creationId xmlns:a16="http://schemas.microsoft.com/office/drawing/2014/main" id="{6860948F-7631-75DE-5A2A-BB8DDBC0C1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9851" y="2529031"/>
            <a:ext cx="3683189" cy="1790792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3CCCE5A8-06F2-7D49-90E9-2249C97235AC}"/>
              </a:ext>
            </a:extLst>
          </p:cNvPr>
          <p:cNvSpPr txBox="1"/>
          <p:nvPr/>
        </p:nvSpPr>
        <p:spPr>
          <a:xfrm>
            <a:off x="9084362" y="4092296"/>
            <a:ext cx="19971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1400" dirty="0">
                <a:solidFill>
                  <a:schemeClr val="accent4"/>
                </a:solidFill>
              </a:rPr>
              <a:t>Source: Rasa.com</a:t>
            </a:r>
            <a:endParaRPr lang="fr-CH" sz="1400" i="1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10107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CB46EB-D775-0ADD-C2CB-933B09120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" y="1123837"/>
            <a:ext cx="3528205" cy="4601183"/>
          </a:xfrm>
        </p:spPr>
        <p:txBody>
          <a:bodyPr/>
          <a:lstStyle/>
          <a:p>
            <a:r>
              <a:rPr lang="fr-CH" dirty="0"/>
              <a:t>Fondements théoriques – Rasa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20EA06-7A2D-8774-FBC9-EC668D4A3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4624" y="778348"/>
            <a:ext cx="6255150" cy="26460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CH" sz="2800" b="1" dirty="0">
                <a:latin typeface="+mj-lt"/>
              </a:rPr>
              <a:t>Services disponibles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dirty="0"/>
              <a:t>Rasa </a:t>
            </a:r>
            <a:r>
              <a:rPr lang="fr-CH" dirty="0" err="1"/>
              <a:t>OpenSource</a:t>
            </a:r>
            <a:r>
              <a:rPr lang="fr-CH" dirty="0"/>
              <a:t> – Framework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dirty="0"/>
              <a:t>Rasa X – Interface utilisateur pour manipuler le bot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dirty="0"/>
              <a:t>Rasa Pro – Service proposant un complément d’IA comme intégration d’</a:t>
            </a:r>
            <a:r>
              <a:rPr lang="fr-CH" dirty="0" err="1"/>
              <a:t>OpenAI</a:t>
            </a:r>
            <a:r>
              <a:rPr lang="fr-CH" dirty="0"/>
              <a:t> par ex.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E8E29F7-A8D9-B247-62A1-EE62F1806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402CA1-2104-9FE9-E0B5-D0086A3DC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7" name="Image 6" descr="Une image contenant texte, capture d’écran, Police, logo&#10;&#10;Description générée automatiquement">
            <a:extLst>
              <a:ext uri="{FF2B5EF4-FFF2-40B4-BE49-F238E27FC236}">
                <a16:creationId xmlns:a16="http://schemas.microsoft.com/office/drawing/2014/main" id="{1324135E-10B6-B6F1-4C1E-18F0A9C53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3031" y="3424428"/>
            <a:ext cx="7100394" cy="2379387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CE5155F2-AFAF-E238-AF34-CC2A8B2F3A27}"/>
              </a:ext>
            </a:extLst>
          </p:cNvPr>
          <p:cNvSpPr txBox="1"/>
          <p:nvPr/>
        </p:nvSpPr>
        <p:spPr>
          <a:xfrm>
            <a:off x="6771186" y="5898344"/>
            <a:ext cx="1544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1400" dirty="0">
                <a:solidFill>
                  <a:schemeClr val="accent4"/>
                </a:solidFill>
              </a:rPr>
              <a:t>Source: Rasa.com</a:t>
            </a:r>
            <a:endParaRPr lang="fr-CH" sz="1400" i="1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20764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CB46EB-D775-0ADD-C2CB-933B09120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" y="1123837"/>
            <a:ext cx="3519577" cy="4601183"/>
          </a:xfrm>
        </p:spPr>
        <p:txBody>
          <a:bodyPr/>
          <a:lstStyle/>
          <a:p>
            <a:r>
              <a:rPr lang="fr-CH" dirty="0"/>
              <a:t>Fondements théoriques – Rasa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20EA06-7A2D-8774-FBC9-EC668D4A3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9961" y="1202753"/>
            <a:ext cx="3519577" cy="408358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fr-CH" sz="3400" b="1" dirty="0">
                <a:latin typeface="+mj-lt"/>
              </a:rPr>
              <a:t>Structure</a:t>
            </a:r>
            <a:endParaRPr lang="fr-CH" sz="2800" b="1" dirty="0">
              <a:latin typeface="+mj-lt"/>
            </a:endParaRPr>
          </a:p>
          <a:p>
            <a:pPr marL="0" indent="0">
              <a:buNone/>
            </a:pPr>
            <a:r>
              <a:rPr lang="fr-CH" sz="2400" dirty="0">
                <a:latin typeface="+mj-lt"/>
              </a:rPr>
              <a:t>4 composants principaux</a:t>
            </a:r>
            <a:endParaRPr lang="fr-CH" sz="2600" dirty="0">
              <a:latin typeface="+mj-lt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fr-CH" b="1" dirty="0"/>
              <a:t>Rasa </a:t>
            </a:r>
            <a:r>
              <a:rPr lang="fr-CH" b="1" dirty="0" err="1"/>
              <a:t>Core</a:t>
            </a:r>
            <a:r>
              <a:rPr lang="fr-CH" b="1" dirty="0"/>
              <a:t> </a:t>
            </a:r>
            <a:r>
              <a:rPr lang="fr-CH" kern="1200" dirty="0">
                <a:solidFill>
                  <a:srgbClr val="595959"/>
                </a:solidFill>
                <a:effectLst/>
                <a:ea typeface="+mn-ea"/>
                <a:cs typeface="+mn-cs"/>
              </a:rPr>
              <a:t>– Logique conversationnelle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b="1" dirty="0"/>
              <a:t>Rasa NLU </a:t>
            </a:r>
            <a:r>
              <a:rPr lang="fr-CH" dirty="0"/>
              <a:t>– Logique d’extraction d’entités et d’</a:t>
            </a:r>
            <a:r>
              <a:rPr lang="fr-CH" dirty="0" err="1"/>
              <a:t>intents</a:t>
            </a:r>
            <a:endParaRPr lang="fr-CH" dirty="0"/>
          </a:p>
          <a:p>
            <a:pPr>
              <a:buFont typeface="Arial" panose="020B0604020202020204" pitchFamily="34" charset="0"/>
              <a:buChar char="•"/>
            </a:pPr>
            <a:r>
              <a:rPr lang="fr-CH" b="1" dirty="0"/>
              <a:t>Rasa Action Server </a:t>
            </a:r>
            <a:r>
              <a:rPr lang="fr-CH" kern="1200" dirty="0">
                <a:solidFill>
                  <a:srgbClr val="595959"/>
                </a:solidFill>
                <a:effectLst/>
                <a:ea typeface="+mn-ea"/>
                <a:cs typeface="+mn-cs"/>
              </a:rPr>
              <a:t>– Code Python interagissant avec les composants externes à Rasa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b="1" dirty="0">
                <a:solidFill>
                  <a:srgbClr val="595959"/>
                </a:solidFill>
              </a:rPr>
              <a:t>Rasa Agent </a:t>
            </a:r>
            <a:r>
              <a:rPr lang="fr-CH" dirty="0">
                <a:solidFill>
                  <a:srgbClr val="595959"/>
                </a:solidFill>
              </a:rPr>
              <a:t>– Interface logicielle dans le but d’interagir avec ces composants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E8E29F7-A8D9-B247-62A1-EE62F1806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402CA1-2104-9FE9-E0B5-D0086A3DC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7F0A190D-8D24-C1A1-BB8F-89DEFB87EE4C}"/>
              </a:ext>
            </a:extLst>
          </p:cNvPr>
          <p:cNvSpPr txBox="1"/>
          <p:nvPr/>
        </p:nvSpPr>
        <p:spPr>
          <a:xfrm>
            <a:off x="8637008" y="4763606"/>
            <a:ext cx="19971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1400" dirty="0">
                <a:solidFill>
                  <a:schemeClr val="accent4"/>
                </a:solidFill>
              </a:rPr>
              <a:t>Source: Rasa.com</a:t>
            </a:r>
            <a:endParaRPr lang="fr-CH" sz="1400" i="1" dirty="0">
              <a:solidFill>
                <a:schemeClr val="accent4"/>
              </a:solidFill>
            </a:endParaRPr>
          </a:p>
        </p:txBody>
      </p:sp>
      <p:pic>
        <p:nvPicPr>
          <p:cNvPr id="6" name="Image 5" descr="Une image contenant texte, diagramme, capture d’écran, Plan&#10;&#10;Description générée automatiquement">
            <a:extLst>
              <a:ext uri="{FF2B5EF4-FFF2-40B4-BE49-F238E27FC236}">
                <a16:creationId xmlns:a16="http://schemas.microsoft.com/office/drawing/2014/main" id="{C491D1B6-7857-79C3-3696-5A1EE69D40E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231" t="631" r="3823" b="548"/>
          <a:stretch/>
        </p:blipFill>
        <p:spPr>
          <a:xfrm>
            <a:off x="6737229" y="1202753"/>
            <a:ext cx="4912100" cy="3560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6012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CB46EB-D775-0ADD-C2CB-933B09120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" y="1123837"/>
            <a:ext cx="3519578" cy="4601183"/>
          </a:xfrm>
        </p:spPr>
        <p:txBody>
          <a:bodyPr/>
          <a:lstStyle/>
          <a:p>
            <a:r>
              <a:rPr lang="fr-CH" dirty="0"/>
              <a:t>Fondements théoriques – Rasa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E8E29F7-A8D9-B247-62A1-EE62F1806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402CA1-2104-9FE9-E0B5-D0086A3DC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12" name="Espace réservé du contenu 11">
            <a:extLst>
              <a:ext uri="{FF2B5EF4-FFF2-40B4-BE49-F238E27FC236}">
                <a16:creationId xmlns:a16="http://schemas.microsoft.com/office/drawing/2014/main" id="{8F1EC90A-EEB7-D5F1-EB19-04D0702742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CH" sz="3400" b="1" dirty="0">
                <a:latin typeface="+mj-lt"/>
              </a:rPr>
              <a:t>Fonctionnement</a:t>
            </a:r>
            <a:endParaRPr lang="fr-CH" sz="3200" dirty="0">
              <a:latin typeface="+mj-lt"/>
            </a:endParaRPr>
          </a:p>
          <a:p>
            <a:pPr marL="0" indent="0">
              <a:buNone/>
            </a:pPr>
            <a:r>
              <a:rPr lang="fr-CH" sz="2400" dirty="0">
                <a:latin typeface="+mj-lt"/>
              </a:rPr>
              <a:t>Les éléments suivants sont centraux à la réalisation d’un bot Rasa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dirty="0">
                <a:latin typeface="+mj-lt"/>
              </a:rPr>
              <a:t>Stories – Suites d’actions représentant un chemin de conversation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dirty="0">
                <a:latin typeface="+mj-lt"/>
              </a:rPr>
              <a:t>Slots – Variables conversationnelles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dirty="0">
                <a:latin typeface="+mj-lt"/>
              </a:rPr>
              <a:t>Actions – Suites d’instructions pouvant interagir avec des composants externes ou internes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dirty="0">
                <a:latin typeface="+mj-lt"/>
              </a:rPr>
              <a:t>Entités – Informations récupérées selon paternes spécifiés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dirty="0" err="1">
                <a:latin typeface="+mj-lt"/>
              </a:rPr>
              <a:t>Intents</a:t>
            </a:r>
            <a:r>
              <a:rPr lang="fr-CH" dirty="0">
                <a:latin typeface="+mj-lt"/>
              </a:rPr>
              <a:t> – Catégorisation des possibles entrées utilisateur</a:t>
            </a:r>
          </a:p>
          <a:p>
            <a:pPr marL="0" indent="0">
              <a:buNone/>
            </a:pPr>
            <a:endParaRPr lang="fr-CH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9318571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CB46EB-D775-0ADD-C2CB-933B09120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" y="1123837"/>
            <a:ext cx="3519578" cy="4601183"/>
          </a:xfrm>
        </p:spPr>
        <p:txBody>
          <a:bodyPr/>
          <a:lstStyle/>
          <a:p>
            <a:r>
              <a:rPr lang="fr-CH" dirty="0"/>
              <a:t>Fondements théoriques – Rasa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E8E29F7-A8D9-B247-62A1-EE62F1806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402CA1-2104-9FE9-E0B5-D0086A3DC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12" name="Espace réservé du contenu 11">
            <a:extLst>
              <a:ext uri="{FF2B5EF4-FFF2-40B4-BE49-F238E27FC236}">
                <a16:creationId xmlns:a16="http://schemas.microsoft.com/office/drawing/2014/main" id="{8F1EC90A-EEB7-D5F1-EB19-04D0702742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01373" y="813331"/>
            <a:ext cx="7315200" cy="10940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CH" sz="3400" b="1" dirty="0">
                <a:latin typeface="+mj-lt"/>
              </a:rPr>
              <a:t>Exemple de fonctionnement</a:t>
            </a:r>
            <a:endParaRPr lang="fr-CH" sz="3200" dirty="0">
              <a:latin typeface="+mj-lt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6B919D7-9503-CDD3-479E-6254433937ED}"/>
              </a:ext>
            </a:extLst>
          </p:cNvPr>
          <p:cNvSpPr txBox="1"/>
          <p:nvPr/>
        </p:nvSpPr>
        <p:spPr>
          <a:xfrm>
            <a:off x="3701373" y="1958195"/>
            <a:ext cx="3825495" cy="353943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stories: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- story: </a:t>
            </a:r>
            <a:r>
              <a:rPr lang="en-US" sz="1600" b="1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Ask user name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steps: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- intent: greet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- action: </a:t>
            </a:r>
            <a:r>
              <a:rPr lang="en-US" sz="1600" dirty="0" err="1">
                <a:latin typeface="Consolas" panose="020B0609020204030204" pitchFamily="49" charset="0"/>
              </a:rPr>
              <a:t>utter_greet</a:t>
            </a:r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   - action: </a:t>
            </a:r>
            <a:r>
              <a:rPr lang="en-US" sz="1600" dirty="0" err="1">
                <a:latin typeface="Consolas" panose="020B0609020204030204" pitchFamily="49" charset="0"/>
              </a:rPr>
              <a:t>utter_ask_name</a:t>
            </a:r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   - </a:t>
            </a:r>
            <a:r>
              <a:rPr lang="en-US" sz="1600" b="1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intent</a:t>
            </a:r>
            <a:r>
              <a:rPr lang="en-US" sz="1600" dirty="0">
                <a:latin typeface="Consolas" panose="020B0609020204030204" pitchFamily="49" charset="0"/>
              </a:rPr>
              <a:t>: </a:t>
            </a:r>
            <a:r>
              <a:rPr lang="en-US" sz="1600" b="1" dirty="0" err="1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say_name</a:t>
            </a:r>
            <a:endParaRPr lang="en-US" sz="1600" b="1" dirty="0">
              <a:solidFill>
                <a:schemeClr val="bg2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   - </a:t>
            </a:r>
            <a:r>
              <a:rPr lang="en-US" sz="1600" b="1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action</a:t>
            </a:r>
            <a:r>
              <a:rPr lang="en-US" sz="1600" dirty="0">
                <a:latin typeface="Consolas" panose="020B0609020204030204" pitchFamily="49" charset="0"/>
              </a:rPr>
              <a:t>: </a:t>
            </a:r>
            <a:r>
              <a:rPr lang="en-US" sz="1600" b="1" dirty="0" err="1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name_saved</a:t>
            </a:r>
            <a:endParaRPr lang="en-US" sz="1600" b="1" dirty="0">
              <a:solidFill>
                <a:schemeClr val="bg2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slots: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b="1" dirty="0" err="1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p</a:t>
            </a:r>
            <a:r>
              <a:rPr lang="en-US" sz="1600" b="1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renom_slot</a:t>
            </a:r>
            <a:r>
              <a:rPr lang="en-US" sz="1600" dirty="0"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sz="1600" dirty="0">
                <a:effectLst/>
                <a:latin typeface="Consolas" panose="020B0609020204030204" pitchFamily="49" charset="0"/>
              </a:rPr>
              <a:t>	    	type: text</a:t>
            </a:r>
          </a:p>
          <a:p>
            <a:r>
              <a:rPr lang="en-US" sz="1600" dirty="0">
                <a:effectLst/>
                <a:latin typeface="Consolas" panose="020B0609020204030204" pitchFamily="49" charset="0"/>
              </a:rPr>
              <a:t>    		mappings:</a:t>
            </a:r>
          </a:p>
          <a:p>
            <a:r>
              <a:rPr lang="en-US" sz="1600" dirty="0">
                <a:effectLst/>
                <a:latin typeface="Consolas" panose="020B0609020204030204" pitchFamily="49" charset="0"/>
              </a:rPr>
              <a:t>    		  - type: </a:t>
            </a:r>
            <a:r>
              <a:rPr lang="en-US" sz="1600" b="1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from_entity</a:t>
            </a:r>
            <a:endParaRPr lang="en-US" sz="1600" b="1" dirty="0">
              <a:solidFill>
                <a:schemeClr val="bg2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dirty="0">
                <a:effectLst/>
                <a:latin typeface="Consolas" panose="020B0609020204030204" pitchFamily="49" charset="0"/>
              </a:rPr>
              <a:t>        		entity: </a:t>
            </a:r>
            <a:r>
              <a:rPr lang="en-US" sz="1600" dirty="0" err="1">
                <a:effectLst/>
                <a:latin typeface="Consolas" panose="020B0609020204030204" pitchFamily="49" charset="0"/>
              </a:rPr>
              <a:t>prenom</a:t>
            </a:r>
            <a:endParaRPr lang="en-US" sz="1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8209B98-828B-D6CA-CE54-B9224CC52DF8}"/>
              </a:ext>
            </a:extLst>
          </p:cNvPr>
          <p:cNvSpPr txBox="1"/>
          <p:nvPr/>
        </p:nvSpPr>
        <p:spPr>
          <a:xfrm>
            <a:off x="7526868" y="1958194"/>
            <a:ext cx="3954889" cy="353943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H" sz="1600" dirty="0" err="1">
                <a:latin typeface="Consolas" panose="020B0609020204030204" pitchFamily="49" charset="0"/>
              </a:rPr>
              <a:t>nlu</a:t>
            </a:r>
            <a:r>
              <a:rPr lang="fr-CH" sz="1600" dirty="0">
                <a:latin typeface="Consolas" panose="020B0609020204030204" pitchFamily="49" charset="0"/>
              </a:rPr>
              <a:t>:</a:t>
            </a:r>
          </a:p>
          <a:p>
            <a:r>
              <a:rPr lang="fr-CH" sz="1600" dirty="0">
                <a:latin typeface="Consolas" panose="020B0609020204030204" pitchFamily="49" charset="0"/>
              </a:rPr>
              <a:t> - </a:t>
            </a:r>
            <a:r>
              <a:rPr lang="fr-CH" sz="1600" dirty="0" err="1">
                <a:latin typeface="Consolas" panose="020B0609020204030204" pitchFamily="49" charset="0"/>
              </a:rPr>
              <a:t>intent</a:t>
            </a:r>
            <a:r>
              <a:rPr lang="fr-CH" sz="1600" dirty="0">
                <a:latin typeface="Consolas" panose="020B0609020204030204" pitchFamily="49" charset="0"/>
              </a:rPr>
              <a:t>: </a:t>
            </a:r>
            <a:r>
              <a:rPr lang="fr-CH" sz="1600" b="1" dirty="0" err="1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say_name</a:t>
            </a:r>
            <a:endParaRPr lang="fr-CH" sz="1600" b="1" dirty="0">
              <a:solidFill>
                <a:schemeClr val="bg2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r>
              <a:rPr lang="fr-CH" sz="1600" dirty="0">
                <a:latin typeface="Consolas" panose="020B0609020204030204" pitchFamily="49" charset="0"/>
              </a:rPr>
              <a:t>    </a:t>
            </a:r>
            <a:r>
              <a:rPr lang="fr-CH" sz="1600" dirty="0" err="1">
                <a:latin typeface="Consolas" panose="020B0609020204030204" pitchFamily="49" charset="0"/>
              </a:rPr>
              <a:t>examples</a:t>
            </a:r>
            <a:r>
              <a:rPr lang="fr-CH" sz="1600" dirty="0">
                <a:latin typeface="Consolas" panose="020B0609020204030204" pitchFamily="49" charset="0"/>
              </a:rPr>
              <a:t>: |</a:t>
            </a:r>
          </a:p>
          <a:p>
            <a:r>
              <a:rPr lang="fr-CH" sz="1600" dirty="0">
                <a:latin typeface="Consolas" panose="020B0609020204030204" pitchFamily="49" charset="0"/>
              </a:rPr>
              <a:t>	- Je m’appelle [Jean](</a:t>
            </a:r>
            <a:r>
              <a:rPr lang="fr-CH" sz="1600" dirty="0" err="1">
                <a:latin typeface="Consolas" panose="020B0609020204030204" pitchFamily="49" charset="0"/>
              </a:rPr>
              <a:t>prenom</a:t>
            </a:r>
            <a:r>
              <a:rPr lang="fr-CH" sz="1600" dirty="0">
                <a:latin typeface="Consolas" panose="020B0609020204030204" pitchFamily="49" charset="0"/>
              </a:rPr>
              <a:t>)</a:t>
            </a:r>
          </a:p>
          <a:p>
            <a:r>
              <a:rPr lang="fr-CH" sz="1600" dirty="0">
                <a:latin typeface="Consolas" panose="020B0609020204030204" pitchFamily="49" charset="0"/>
              </a:rPr>
              <a:t>	- Je suis [Pierre](</a:t>
            </a:r>
            <a:r>
              <a:rPr lang="fr-CH" sz="1600" b="1" dirty="0" err="1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prenom</a:t>
            </a:r>
            <a:r>
              <a:rPr lang="fr-CH" sz="1600" dirty="0">
                <a:latin typeface="Consolas" panose="020B0609020204030204" pitchFamily="49" charset="0"/>
              </a:rPr>
              <a:t>)</a:t>
            </a:r>
          </a:p>
          <a:p>
            <a:endParaRPr lang="fr-CH" sz="1600" dirty="0">
              <a:latin typeface="Consolas" panose="020B0609020204030204" pitchFamily="49" charset="0"/>
            </a:endParaRPr>
          </a:p>
          <a:p>
            <a:endParaRPr lang="fr-CH" sz="1600" dirty="0">
              <a:latin typeface="Consolas" panose="020B0609020204030204" pitchFamily="49" charset="0"/>
            </a:endParaRPr>
          </a:p>
          <a:p>
            <a:endParaRPr lang="fr-CH" sz="1600" dirty="0">
              <a:latin typeface="Consolas" panose="020B0609020204030204" pitchFamily="49" charset="0"/>
            </a:endParaRPr>
          </a:p>
          <a:p>
            <a:r>
              <a:rPr lang="fr-CH" sz="1600" dirty="0" err="1">
                <a:effectLst/>
                <a:latin typeface="Consolas" panose="020B0609020204030204" pitchFamily="49" charset="0"/>
              </a:rPr>
              <a:t>entities</a:t>
            </a:r>
            <a:r>
              <a:rPr lang="fr-CH" sz="1600" dirty="0"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fr-CH" sz="1600" dirty="0">
                <a:latin typeface="Consolas" panose="020B0609020204030204" pitchFamily="49" charset="0"/>
              </a:rPr>
              <a:t>- </a:t>
            </a:r>
            <a:r>
              <a:rPr lang="fr-CH" sz="1600" b="1" dirty="0" err="1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prenom</a:t>
            </a:r>
            <a:endParaRPr lang="fr-CH" sz="1600" b="1" dirty="0">
              <a:solidFill>
                <a:schemeClr val="bg2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endParaRPr lang="fr-CH" sz="1600" dirty="0">
              <a:latin typeface="Consolas" panose="020B0609020204030204" pitchFamily="49" charset="0"/>
            </a:endParaRPr>
          </a:p>
          <a:p>
            <a:endParaRPr lang="fr-CH" sz="1600" dirty="0">
              <a:latin typeface="Consolas" panose="020B0609020204030204" pitchFamily="49" charset="0"/>
            </a:endParaRPr>
          </a:p>
          <a:p>
            <a:endParaRPr lang="fr-CH" sz="1600" dirty="0">
              <a:latin typeface="Consolas" panose="020B0609020204030204" pitchFamily="49" charset="0"/>
            </a:endParaRPr>
          </a:p>
          <a:p>
            <a:endParaRPr lang="fr-CH" sz="1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78048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6DBEBEE-FE11-1D96-3A92-5F67EDCA7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Choix Technologique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7978ADA-316E-9170-49D0-F40F52F8FB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fr-CH" sz="1800" dirty="0">
              <a:latin typeface="+mj-lt"/>
            </a:endParaRPr>
          </a:p>
          <a:p>
            <a:pPr marL="0" indent="0">
              <a:buNone/>
            </a:pPr>
            <a:endParaRPr lang="fr-CH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9FFDE94-6FDE-014D-B677-22A77B1CC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96BD369-0379-DDFD-42CE-537A6A480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19</a:t>
            </a:fld>
            <a:endParaRPr lang="en-US" dirty="0"/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6F703A9D-BBE8-7E2F-A174-548C5BDF12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0082268"/>
              </p:ext>
            </p:extLst>
          </p:nvPr>
        </p:nvGraphicFramePr>
        <p:xfrm>
          <a:off x="3711669" y="732855"/>
          <a:ext cx="7687929" cy="5385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2643">
                  <a:extLst>
                    <a:ext uri="{9D8B030D-6E8A-4147-A177-3AD203B41FA5}">
                      <a16:colId xmlns:a16="http://schemas.microsoft.com/office/drawing/2014/main" val="3564024515"/>
                    </a:ext>
                  </a:extLst>
                </a:gridCol>
                <a:gridCol w="2562643">
                  <a:extLst>
                    <a:ext uri="{9D8B030D-6E8A-4147-A177-3AD203B41FA5}">
                      <a16:colId xmlns:a16="http://schemas.microsoft.com/office/drawing/2014/main" val="449509177"/>
                    </a:ext>
                  </a:extLst>
                </a:gridCol>
                <a:gridCol w="2562643">
                  <a:extLst>
                    <a:ext uri="{9D8B030D-6E8A-4147-A177-3AD203B41FA5}">
                      <a16:colId xmlns:a16="http://schemas.microsoft.com/office/drawing/2014/main" val="2147953765"/>
                    </a:ext>
                  </a:extLst>
                </a:gridCol>
              </a:tblGrid>
              <a:tr h="569880">
                <a:tc>
                  <a:txBody>
                    <a:bodyPr/>
                    <a:lstStyle/>
                    <a:p>
                      <a:pPr algn="ctr"/>
                      <a:r>
                        <a:rPr lang="fr-CH" sz="2000" dirty="0"/>
                        <a:t>Frontends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sz="2000" dirty="0"/>
                        <a:t>Backends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sz="2000" dirty="0"/>
                        <a:t>Chatbot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1078941"/>
                  </a:ext>
                </a:extLst>
              </a:tr>
              <a:tr h="4809307">
                <a:tc>
                  <a:txBody>
                    <a:bodyPr/>
                    <a:lstStyle/>
                    <a:p>
                      <a:pPr marL="0" indent="0">
                        <a:spcAft>
                          <a:spcPts val="600"/>
                        </a:spcAft>
                        <a:buFont typeface="Arial" panose="020B0604020202020204" pitchFamily="34" charset="0"/>
                        <a:buNone/>
                      </a:pPr>
                      <a:endParaRPr lang="fr-CH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fr-CH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104428"/>
                  </a:ext>
                </a:extLst>
              </a:tr>
            </a:tbl>
          </a:graphicData>
        </a:graphic>
      </p:graphicFrame>
      <p:pic>
        <p:nvPicPr>
          <p:cNvPr id="16" name="Graphique 15">
            <a:extLst>
              <a:ext uri="{FF2B5EF4-FFF2-40B4-BE49-F238E27FC236}">
                <a16:creationId xmlns:a16="http://schemas.microsoft.com/office/drawing/2014/main" id="{5EDDEC57-2A68-7070-48A5-49A558BB73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64848" y="1389846"/>
            <a:ext cx="1134657" cy="1085584"/>
          </a:xfrm>
          <a:prstGeom prst="rect">
            <a:avLst/>
          </a:prstGeom>
          <a:effectLst>
            <a:softEdge rad="0"/>
          </a:effectLst>
        </p:spPr>
      </p:pic>
      <p:pic>
        <p:nvPicPr>
          <p:cNvPr id="19" name="Image 18" descr="Une image contenant Police, logo, Graphique, symbole&#10;&#10;Description générée automatiquement">
            <a:extLst>
              <a:ext uri="{FF2B5EF4-FFF2-40B4-BE49-F238E27FC236}">
                <a16:creationId xmlns:a16="http://schemas.microsoft.com/office/drawing/2014/main" id="{BEA7BF2A-5CC5-840A-36A9-D2650E595A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2873" y="3048435"/>
            <a:ext cx="2337060" cy="1096849"/>
          </a:xfrm>
          <a:prstGeom prst="rect">
            <a:avLst/>
          </a:prstGeom>
          <a:effectLst>
            <a:softEdge rad="101600"/>
          </a:effectLst>
        </p:spPr>
      </p:pic>
      <p:pic>
        <p:nvPicPr>
          <p:cNvPr id="21" name="Image 20" descr="Une image contenant Graphique, cercle, symbole, logo&#10;&#10;Description générée automatiquement">
            <a:extLst>
              <a:ext uri="{FF2B5EF4-FFF2-40B4-BE49-F238E27FC236}">
                <a16:creationId xmlns:a16="http://schemas.microsoft.com/office/drawing/2014/main" id="{91CBC207-88C6-782D-8CDA-1295D94C4F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6693" y="4415651"/>
            <a:ext cx="1096849" cy="1096849"/>
          </a:xfrm>
          <a:prstGeom prst="rect">
            <a:avLst/>
          </a:prstGeom>
        </p:spPr>
      </p:pic>
      <p:sp>
        <p:nvSpPr>
          <p:cNvPr id="22" name="ZoneTexte 21">
            <a:extLst>
              <a:ext uri="{FF2B5EF4-FFF2-40B4-BE49-F238E27FC236}">
                <a16:creationId xmlns:a16="http://schemas.microsoft.com/office/drawing/2014/main" id="{F116FC8E-DF0A-44A0-79F6-050A54629672}"/>
              </a:ext>
            </a:extLst>
          </p:cNvPr>
          <p:cNvSpPr txBox="1"/>
          <p:nvPr/>
        </p:nvSpPr>
        <p:spPr>
          <a:xfrm>
            <a:off x="5347754" y="2440945"/>
            <a:ext cx="10203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b="1" dirty="0"/>
              <a:t>Vite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FE72548B-4897-67DE-300A-40CE745F3BC9}"/>
              </a:ext>
            </a:extLst>
          </p:cNvPr>
          <p:cNvSpPr txBox="1"/>
          <p:nvPr/>
        </p:nvSpPr>
        <p:spPr>
          <a:xfrm>
            <a:off x="5008298" y="4640909"/>
            <a:ext cx="11832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b="1" dirty="0"/>
              <a:t>API Telegram</a:t>
            </a:r>
          </a:p>
        </p:txBody>
      </p:sp>
      <p:pic>
        <p:nvPicPr>
          <p:cNvPr id="25" name="Image 24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C41EA951-F140-66AF-9D39-00273F7DDD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4495" y="1345500"/>
            <a:ext cx="1962276" cy="707801"/>
          </a:xfrm>
          <a:prstGeom prst="rect">
            <a:avLst/>
          </a:prstGeom>
          <a:solidFill>
            <a:schemeClr val="bg1"/>
          </a:solidFill>
          <a:effectLst>
            <a:softEdge rad="76200"/>
          </a:effectLst>
        </p:spPr>
      </p:pic>
      <p:pic>
        <p:nvPicPr>
          <p:cNvPr id="27" name="Image 26" descr="Une image contenant cheval, Silhouette d’animal, art, créativité&#10;&#10;Description générée automatiquement">
            <a:extLst>
              <a:ext uri="{FF2B5EF4-FFF2-40B4-BE49-F238E27FC236}">
                <a16:creationId xmlns:a16="http://schemas.microsoft.com/office/drawing/2014/main" id="{B9115D81-ACE0-B8B0-7E5B-DBE18CA33A5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0427" y="2020467"/>
            <a:ext cx="1314769" cy="1314769"/>
          </a:xfrm>
          <a:prstGeom prst="rect">
            <a:avLst/>
          </a:prstGeom>
          <a:noFill/>
          <a:effectLst>
            <a:softEdge rad="0"/>
          </a:effectLst>
        </p:spPr>
      </p:pic>
      <p:pic>
        <p:nvPicPr>
          <p:cNvPr id="29" name="Image 28" descr="Une image contenant Police, Graphique, logo, conception&#10;&#10;Description générée automatiquement">
            <a:extLst>
              <a:ext uri="{FF2B5EF4-FFF2-40B4-BE49-F238E27FC236}">
                <a16:creationId xmlns:a16="http://schemas.microsoft.com/office/drawing/2014/main" id="{E2479D63-CF7C-DFFD-87FA-F15DEFBFCB1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2376" y="3359070"/>
            <a:ext cx="1795889" cy="988969"/>
          </a:xfrm>
          <a:prstGeom prst="rect">
            <a:avLst/>
          </a:prstGeom>
          <a:effectLst>
            <a:softEdge rad="63500"/>
          </a:effectLst>
        </p:spPr>
      </p:pic>
      <p:pic>
        <p:nvPicPr>
          <p:cNvPr id="32" name="Image 31" descr="Une image contenant Police, Graphique, graphisme, typographie&#10;&#10;Description générée automatiquement">
            <a:extLst>
              <a:ext uri="{FF2B5EF4-FFF2-40B4-BE49-F238E27FC236}">
                <a16:creationId xmlns:a16="http://schemas.microsoft.com/office/drawing/2014/main" id="{1D4FB89E-A79E-43D6-ABC0-B53A69910AE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60132" y="5421203"/>
            <a:ext cx="2454493" cy="515878"/>
          </a:xfrm>
          <a:prstGeom prst="rect">
            <a:avLst/>
          </a:prstGeom>
          <a:solidFill>
            <a:schemeClr val="bg1"/>
          </a:solidFill>
          <a:effectLst>
            <a:softEdge rad="38100"/>
          </a:effectLst>
        </p:spPr>
      </p:pic>
      <p:pic>
        <p:nvPicPr>
          <p:cNvPr id="36" name="Image 35" descr="Une image contenant Graphique, Police, symbole, clipart&#10;&#10;Description générée automatiquement">
            <a:extLst>
              <a:ext uri="{FF2B5EF4-FFF2-40B4-BE49-F238E27FC236}">
                <a16:creationId xmlns:a16="http://schemas.microsoft.com/office/drawing/2014/main" id="{73AD55D3-D6CB-E98E-1F46-605A943CCE0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40664" y="1249118"/>
            <a:ext cx="1956504" cy="2175309"/>
          </a:xfrm>
          <a:prstGeom prst="rect">
            <a:avLst/>
          </a:prstGeom>
          <a:solidFill>
            <a:schemeClr val="bg1"/>
          </a:solidFill>
          <a:effectLst>
            <a:softEdge rad="127000"/>
          </a:effectLst>
        </p:spPr>
      </p:pic>
      <p:pic>
        <p:nvPicPr>
          <p:cNvPr id="38" name="Image 37">
            <a:extLst>
              <a:ext uri="{FF2B5EF4-FFF2-40B4-BE49-F238E27FC236}">
                <a16:creationId xmlns:a16="http://schemas.microsoft.com/office/drawing/2014/main" id="{AB919388-CBFE-E2D8-E140-4913ABA0594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44865" y="1359421"/>
            <a:ext cx="1387759" cy="1387759"/>
          </a:xfrm>
          <a:prstGeom prst="rect">
            <a:avLst/>
          </a:prstGeom>
          <a:effectLst>
            <a:softEdge rad="139700"/>
          </a:effectLst>
        </p:spPr>
      </p:pic>
      <p:pic>
        <p:nvPicPr>
          <p:cNvPr id="40" name="Image 39" descr="Une image contenant Graphique, capture d’écran, violet, Caractère coloré&#10;&#10;Description générée automatiquement">
            <a:extLst>
              <a:ext uri="{FF2B5EF4-FFF2-40B4-BE49-F238E27FC236}">
                <a16:creationId xmlns:a16="http://schemas.microsoft.com/office/drawing/2014/main" id="{3A58CB84-1643-3D36-E182-D04053EA32C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71342" y="3433573"/>
            <a:ext cx="2013126" cy="978796"/>
          </a:xfrm>
          <a:prstGeom prst="rect">
            <a:avLst/>
          </a:prstGeom>
        </p:spPr>
      </p:pic>
      <p:pic>
        <p:nvPicPr>
          <p:cNvPr id="44" name="Image 43">
            <a:extLst>
              <a:ext uri="{FF2B5EF4-FFF2-40B4-BE49-F238E27FC236}">
                <a16:creationId xmlns:a16="http://schemas.microsoft.com/office/drawing/2014/main" id="{D41F91C9-9487-F978-1C39-90CB171E258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98339" y="4277677"/>
            <a:ext cx="1148775" cy="1230830"/>
          </a:xfrm>
          <a:prstGeom prst="rect">
            <a:avLst/>
          </a:prstGeom>
        </p:spPr>
      </p:pic>
      <p:sp>
        <p:nvSpPr>
          <p:cNvPr id="45" name="ZoneTexte 44">
            <a:extLst>
              <a:ext uri="{FF2B5EF4-FFF2-40B4-BE49-F238E27FC236}">
                <a16:creationId xmlns:a16="http://schemas.microsoft.com/office/drawing/2014/main" id="{C3B6F3CA-8F60-1A80-848C-DC9682859BE9}"/>
              </a:ext>
            </a:extLst>
          </p:cNvPr>
          <p:cNvSpPr txBox="1"/>
          <p:nvPr/>
        </p:nvSpPr>
        <p:spPr>
          <a:xfrm>
            <a:off x="9670008" y="5508507"/>
            <a:ext cx="11112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b="1" dirty="0" err="1"/>
              <a:t>Duckling</a:t>
            </a:r>
            <a:endParaRPr lang="fr-CH" b="1" dirty="0"/>
          </a:p>
        </p:txBody>
      </p:sp>
      <p:pic>
        <p:nvPicPr>
          <p:cNvPr id="46" name="Image 45" descr="Une image contenant Police, logo, Graphique, symbole&#10;&#10;Description générée automatiquement">
            <a:extLst>
              <a:ext uri="{FF2B5EF4-FFF2-40B4-BE49-F238E27FC236}">
                <a16:creationId xmlns:a16="http://schemas.microsoft.com/office/drawing/2014/main" id="{8142AF80-ACF2-397A-250B-418E7D7A4D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9281" y="4277677"/>
            <a:ext cx="2337060" cy="1096849"/>
          </a:xfrm>
          <a:prstGeom prst="rect">
            <a:avLst/>
          </a:prstGeom>
          <a:effectLst>
            <a:softEdge rad="101600"/>
          </a:effectLst>
        </p:spPr>
      </p:pic>
    </p:spTree>
    <p:extLst>
      <p:ext uri="{BB962C8B-B14F-4D97-AF65-F5344CB8AC3E}">
        <p14:creationId xmlns:p14="http://schemas.microsoft.com/office/powerpoint/2010/main" val="1320283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6DBEBEE-FE11-1D96-3A92-5F67EDCA7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Choix Technologique – Justification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9FFDE94-6FDE-014D-B677-22A77B1CC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96BD369-0379-DDFD-42CE-537A6A480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0210A45A-6C2D-423D-B501-3520E8F1D6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CH" sz="3200" b="1" dirty="0">
                <a:latin typeface="+mj-lt"/>
              </a:rPr>
              <a:t>Frontend</a:t>
            </a:r>
          </a:p>
          <a:p>
            <a:pPr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fr-CH" dirty="0"/>
              <a:t> </a:t>
            </a:r>
            <a:r>
              <a:rPr lang="fr-CH" b="1" dirty="0" err="1"/>
              <a:t>React</a:t>
            </a:r>
            <a:r>
              <a:rPr lang="fr-CH" dirty="0"/>
              <a:t> + </a:t>
            </a:r>
            <a:r>
              <a:rPr lang="fr-CH" b="1" dirty="0"/>
              <a:t>Vite</a:t>
            </a:r>
            <a:r>
              <a:rPr lang="fr-CH" dirty="0"/>
              <a:t> : Choix de </a:t>
            </a:r>
            <a:r>
              <a:rPr lang="fr-CH" dirty="0" err="1"/>
              <a:t>React</a:t>
            </a:r>
            <a:r>
              <a:rPr lang="fr-CH" dirty="0"/>
              <a:t> par curiosité de la technologie et Vite pour faciliter le développement</a:t>
            </a:r>
          </a:p>
          <a:p>
            <a:pPr marL="0" indent="0">
              <a:buNone/>
            </a:pPr>
            <a:r>
              <a:rPr lang="fr-CH" sz="3200" b="1" dirty="0">
                <a:latin typeface="+mj-lt"/>
              </a:rPr>
              <a:t>Backend</a:t>
            </a:r>
            <a:endParaRPr lang="fr-CH" b="1" dirty="0">
              <a:latin typeface="+mj-lt"/>
            </a:endParaRPr>
          </a:p>
          <a:p>
            <a:pPr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fr-CH" dirty="0"/>
              <a:t> </a:t>
            </a:r>
            <a:r>
              <a:rPr lang="fr-CH" b="1" dirty="0" err="1"/>
              <a:t>NodeJS</a:t>
            </a:r>
            <a:r>
              <a:rPr lang="fr-CH" dirty="0"/>
              <a:t> + </a:t>
            </a:r>
            <a:r>
              <a:rPr lang="fr-CH" b="1" dirty="0" err="1"/>
              <a:t>ExpressJS</a:t>
            </a:r>
            <a:r>
              <a:rPr lang="fr-CH" dirty="0"/>
              <a:t> vs </a:t>
            </a:r>
            <a:r>
              <a:rPr lang="fr-CH" b="1" dirty="0" err="1"/>
              <a:t>FastAPI</a:t>
            </a:r>
            <a:r>
              <a:rPr lang="fr-CH" dirty="0"/>
              <a:t> + </a:t>
            </a:r>
            <a:r>
              <a:rPr lang="fr-CH" b="1" dirty="0" err="1"/>
              <a:t>Uvicorn</a:t>
            </a:r>
            <a:r>
              <a:rPr lang="fr-CH" dirty="0"/>
              <a:t> : </a:t>
            </a:r>
          </a:p>
          <a:p>
            <a:pPr lvl="1">
              <a:spcAft>
                <a:spcPts val="600"/>
              </a:spcAft>
              <a:buFont typeface="Courier New" panose="02070309020205020404" pitchFamily="49" charset="0"/>
              <a:buChar char="o"/>
            </a:pPr>
            <a:r>
              <a:rPr lang="fr-CH" dirty="0"/>
              <a:t>Connaissances plus approfondies de Socket.io en </a:t>
            </a:r>
            <a:r>
              <a:rPr lang="fr-CH" dirty="0" err="1"/>
              <a:t>Typescript</a:t>
            </a:r>
            <a:r>
              <a:rPr lang="fr-CH" dirty="0"/>
              <a:t>/JS</a:t>
            </a:r>
          </a:p>
          <a:p>
            <a:pPr lvl="1">
              <a:spcAft>
                <a:spcPts val="1200"/>
              </a:spcAft>
              <a:buFont typeface="Courier New" panose="02070309020205020404" pitchFamily="49" charset="0"/>
              <a:buChar char="o"/>
            </a:pPr>
            <a:r>
              <a:rPr lang="fr-CH" dirty="0"/>
              <a:t>Assurance de robustesse, support et qualité avec Node et Express 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fr-CH" sz="3200" b="1" dirty="0"/>
              <a:t>Chatbot</a:t>
            </a:r>
          </a:p>
          <a:p>
            <a:pPr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fr-CH" b="1" dirty="0"/>
              <a:t>PostgreSQL </a:t>
            </a:r>
            <a:r>
              <a:rPr lang="fr-CH" dirty="0"/>
              <a:t>: Curiosité technologique et une alternative </a:t>
            </a:r>
            <a:r>
              <a:rPr lang="fr-CH" dirty="0" err="1"/>
              <a:t>OpenSource</a:t>
            </a:r>
            <a:r>
              <a:rPr lang="fr-CH" dirty="0"/>
              <a:t> populaire à SQL</a:t>
            </a:r>
          </a:p>
        </p:txBody>
      </p:sp>
    </p:spTree>
    <p:extLst>
      <p:ext uri="{BB962C8B-B14F-4D97-AF65-F5344CB8AC3E}">
        <p14:creationId xmlns:p14="http://schemas.microsoft.com/office/powerpoint/2010/main" val="245588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B1C023-5BCE-7D45-07EB-E48A5BFAF3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004" y="1123837"/>
            <a:ext cx="3185962" cy="4601183"/>
          </a:xfrm>
        </p:spPr>
        <p:txBody>
          <a:bodyPr/>
          <a:lstStyle/>
          <a:p>
            <a:r>
              <a:rPr lang="fr-CH" dirty="0"/>
              <a:t>Implémentation – Architecture </a:t>
            </a:r>
          </a:p>
        </p:txBody>
      </p:sp>
      <p:pic>
        <p:nvPicPr>
          <p:cNvPr id="9" name="Espace réservé du contenu 8" descr="Une image contenant texte, capture d’écran, diagramme, affichage&#10;&#10;Description générée automatiquement">
            <a:extLst>
              <a:ext uri="{FF2B5EF4-FFF2-40B4-BE49-F238E27FC236}">
                <a16:creationId xmlns:a16="http://schemas.microsoft.com/office/drawing/2014/main" id="{FF638C40-71B9-C491-7870-C9699E7656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14751" y="136525"/>
            <a:ext cx="7915274" cy="6438707"/>
          </a:xfrm>
        </p:spPr>
      </p:pic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3369707-7252-705A-C594-0D52FF5E48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220CD11-BD18-7FEA-DA41-209AE31DF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FCE8A839-267D-98C9-11BA-FBC3B916A5E2}"/>
              </a:ext>
            </a:extLst>
          </p:cNvPr>
          <p:cNvSpPr txBox="1"/>
          <p:nvPr/>
        </p:nvSpPr>
        <p:spPr>
          <a:xfrm>
            <a:off x="3869268" y="5725020"/>
            <a:ext cx="26268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i="1" dirty="0">
                <a:solidFill>
                  <a:schemeClr val="accent6"/>
                </a:solidFill>
                <a:ea typeface="Barlow Semi Condensed Light"/>
                <a:cs typeface="Barlow Semi Condensed Light"/>
                <a:sym typeface="Barlow Semi Condensed Light"/>
              </a:rPr>
              <a:t>Source: Rodrigues dos Santos Fabio</a:t>
            </a:r>
          </a:p>
        </p:txBody>
      </p:sp>
    </p:spTree>
    <p:extLst>
      <p:ext uri="{BB962C8B-B14F-4D97-AF65-F5344CB8AC3E}">
        <p14:creationId xmlns:p14="http://schemas.microsoft.com/office/powerpoint/2010/main" val="41383079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B1C023-5BCE-7D45-07EB-E48A5BFAF3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004" y="1123837"/>
            <a:ext cx="3185962" cy="4601183"/>
          </a:xfrm>
        </p:spPr>
        <p:txBody>
          <a:bodyPr/>
          <a:lstStyle/>
          <a:p>
            <a:r>
              <a:rPr lang="fr-CH" dirty="0"/>
              <a:t>Implémentation – Schéma BDD 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3369707-7252-705A-C594-0D52FF5E48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220CD11-BD18-7FEA-DA41-209AE31DF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8" name="Espace réservé du contenu 7">
            <a:extLst>
              <a:ext uri="{FF2B5EF4-FFF2-40B4-BE49-F238E27FC236}">
                <a16:creationId xmlns:a16="http://schemas.microsoft.com/office/drawing/2014/main" id="{6EC3D03E-BB59-73D8-7061-9684058233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3423" t="6128"/>
          <a:stretch/>
        </p:blipFill>
        <p:spPr>
          <a:xfrm>
            <a:off x="3470988" y="1189653"/>
            <a:ext cx="8290524" cy="4478694"/>
          </a:xfr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FB050B46-056A-981D-3F19-23DA8771D005}"/>
              </a:ext>
            </a:extLst>
          </p:cNvPr>
          <p:cNvSpPr txBox="1"/>
          <p:nvPr/>
        </p:nvSpPr>
        <p:spPr>
          <a:xfrm>
            <a:off x="6225181" y="5668347"/>
            <a:ext cx="26268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i="1" dirty="0">
                <a:solidFill>
                  <a:schemeClr val="accent6"/>
                </a:solidFill>
                <a:ea typeface="Barlow Semi Condensed Light"/>
                <a:cs typeface="Barlow Semi Condensed Light"/>
                <a:sym typeface="Barlow Semi Condensed Light"/>
              </a:rPr>
              <a:t>Source: Rodrigues dos Santos Fabio</a:t>
            </a:r>
          </a:p>
        </p:txBody>
      </p:sp>
    </p:spTree>
    <p:extLst>
      <p:ext uri="{BB962C8B-B14F-4D97-AF65-F5344CB8AC3E}">
        <p14:creationId xmlns:p14="http://schemas.microsoft.com/office/powerpoint/2010/main" val="35369072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A285B4-FD70-2A71-8251-87E83297F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628" y="1123837"/>
            <a:ext cx="3272590" cy="4601183"/>
          </a:xfrm>
        </p:spPr>
        <p:txBody>
          <a:bodyPr/>
          <a:lstStyle/>
          <a:p>
            <a:r>
              <a:rPr lang="fr-CH" dirty="0"/>
              <a:t>Implémentation </a:t>
            </a:r>
            <a:r>
              <a:rPr lang="fr-CH" sz="3600" dirty="0">
                <a:latin typeface="+mj-lt"/>
              </a:rPr>
              <a:t>– Suite d’actions</a:t>
            </a:r>
            <a:endParaRPr lang="fr-CH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38321E0-ECEB-C769-218D-848393A7F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1B83CF1-45C8-8781-5866-C75222901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73B8C03F-1B46-4D7A-6A0B-048B1A0DB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501650"/>
            <a:ext cx="6193027" cy="8596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CH" sz="3600" b="1" dirty="0">
                <a:latin typeface="+mj-lt"/>
              </a:rPr>
              <a:t>Cas choix date</a:t>
            </a:r>
            <a:endParaRPr lang="fr-CH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863049CF-956E-959B-9DD7-E8AE825847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562962" y="1218742"/>
            <a:ext cx="1481280" cy="5137608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6BCA603E-F4CD-7E3B-1DB2-61595017FD71}"/>
              </a:ext>
            </a:extLst>
          </p:cNvPr>
          <p:cNvSpPr txBox="1"/>
          <p:nvPr/>
        </p:nvSpPr>
        <p:spPr>
          <a:xfrm>
            <a:off x="3769743" y="3160017"/>
            <a:ext cx="25879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i="1" dirty="0"/>
              <a:t>« Je veux réserver pour le 11 janvier »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BBE74174-2FAA-808F-E024-D050E5B3599A}"/>
              </a:ext>
            </a:extLst>
          </p:cNvPr>
          <p:cNvSpPr txBox="1"/>
          <p:nvPr/>
        </p:nvSpPr>
        <p:spPr>
          <a:xfrm>
            <a:off x="8216243" y="3325881"/>
            <a:ext cx="36921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i="1" dirty="0"/>
              <a:t>« Date choisie : 11/01/20xx »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9ECE6E22-8292-00BB-77ED-1C93C8353BEA}"/>
              </a:ext>
            </a:extLst>
          </p:cNvPr>
          <p:cNvSpPr txBox="1"/>
          <p:nvPr/>
        </p:nvSpPr>
        <p:spPr>
          <a:xfrm>
            <a:off x="8467357" y="5771575"/>
            <a:ext cx="26268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i="1" dirty="0">
                <a:solidFill>
                  <a:schemeClr val="accent6"/>
                </a:solidFill>
                <a:ea typeface="Barlow Semi Condensed Light"/>
                <a:cs typeface="Barlow Semi Condensed Light"/>
                <a:sym typeface="Barlow Semi Condensed Light"/>
              </a:rPr>
              <a:t>Source: Rodrigues dos Santos Fabio</a:t>
            </a:r>
          </a:p>
        </p:txBody>
      </p:sp>
    </p:spTree>
    <p:extLst>
      <p:ext uri="{BB962C8B-B14F-4D97-AF65-F5344CB8AC3E}">
        <p14:creationId xmlns:p14="http://schemas.microsoft.com/office/powerpoint/2010/main" val="19201318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A285B4-FD70-2A71-8251-87E83297F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628" y="1123837"/>
            <a:ext cx="3272590" cy="4601183"/>
          </a:xfrm>
        </p:spPr>
        <p:txBody>
          <a:bodyPr/>
          <a:lstStyle/>
          <a:p>
            <a:r>
              <a:rPr lang="fr-CH" dirty="0"/>
              <a:t>Implémentation – Extraits de code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38321E0-ECEB-C769-218D-848393A7F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1B83CF1-45C8-8781-5866-C75222901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3ED7AAC-00C4-725B-283B-61574061CF4E}"/>
              </a:ext>
            </a:extLst>
          </p:cNvPr>
          <p:cNvSpPr txBox="1"/>
          <p:nvPr/>
        </p:nvSpPr>
        <p:spPr>
          <a:xfrm>
            <a:off x="4171192" y="2126608"/>
            <a:ext cx="4118791" cy="304698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rgbClr val="00B0F0"/>
                </a:solidFill>
                <a:effectLst/>
                <a:latin typeface="Consolas" panose="020B0609020204030204" pitchFamily="49" charset="0"/>
              </a:rPr>
              <a:t>Stories.yml</a:t>
            </a:r>
            <a:endParaRPr lang="en-US" sz="1600" dirty="0">
              <a:solidFill>
                <a:srgbClr val="00B0F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dirty="0">
                <a:effectLst/>
                <a:latin typeface="Consolas" panose="020B0609020204030204" pitchFamily="49" charset="0"/>
              </a:rPr>
              <a:t>stories: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. . .</a:t>
            </a:r>
            <a:endParaRPr lang="en-US" sz="1600" dirty="0">
              <a:effectLst/>
              <a:latin typeface="Consolas" panose="020B0609020204030204" pitchFamily="49" charset="0"/>
            </a:endParaRPr>
          </a:p>
          <a:p>
            <a:r>
              <a:rPr lang="en-US" sz="1600" dirty="0">
                <a:effectLst/>
                <a:latin typeface="Consolas" panose="020B0609020204030204" pitchFamily="49" charset="0"/>
              </a:rPr>
              <a:t> - action: </a:t>
            </a:r>
            <a:r>
              <a:rPr lang="en-US" sz="1600" dirty="0" err="1">
                <a:effectLst/>
                <a:latin typeface="Consolas" panose="020B0609020204030204" pitchFamily="49" charset="0"/>
              </a:rPr>
              <a:t>get_date_heure_form</a:t>
            </a:r>
            <a:endParaRPr lang="en-US" sz="1600" dirty="0">
              <a:effectLst/>
              <a:latin typeface="Consolas" panose="020B0609020204030204" pitchFamily="49" charset="0"/>
            </a:endParaRPr>
          </a:p>
          <a:p>
            <a:r>
              <a:rPr lang="en-US" sz="1600" dirty="0">
                <a:effectLst/>
                <a:latin typeface="Consolas" panose="020B0609020204030204" pitchFamily="49" charset="0"/>
              </a:rPr>
              <a:t> - </a:t>
            </a:r>
            <a:r>
              <a:rPr lang="en-US" sz="1600" b="1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active_loop</a:t>
            </a:r>
            <a:r>
              <a:rPr lang="en-US" sz="1600" b="1" dirty="0">
                <a:effectLst/>
                <a:latin typeface="Consolas" panose="020B0609020204030204" pitchFamily="49" charset="0"/>
              </a:rPr>
              <a:t>: </a:t>
            </a:r>
            <a:r>
              <a:rPr lang="en-US" sz="1600" b="1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get_date_heure_form</a:t>
            </a:r>
            <a:endParaRPr lang="en-US" sz="1600" b="1" dirty="0">
              <a:solidFill>
                <a:schemeClr val="bg2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dirty="0">
                <a:effectLst/>
                <a:latin typeface="Consolas" panose="020B0609020204030204" pitchFamily="49" charset="0"/>
              </a:rPr>
              <a:t> - </a:t>
            </a:r>
            <a:r>
              <a:rPr lang="en-US" sz="1600" b="1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slot_was_set</a:t>
            </a:r>
            <a:r>
              <a:rPr lang="en-US" sz="1600" dirty="0"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sz="1600" dirty="0">
                <a:effectLst/>
                <a:latin typeface="Consolas" panose="020B0609020204030204" pitchFamily="49" charset="0"/>
              </a:rPr>
              <a:t>      - date: "20/05/2024"</a:t>
            </a:r>
          </a:p>
          <a:p>
            <a:r>
              <a:rPr lang="en-US" sz="1600" dirty="0">
                <a:effectLst/>
                <a:latin typeface="Consolas" panose="020B0609020204030204" pitchFamily="49" charset="0"/>
              </a:rPr>
              <a:t> - </a:t>
            </a:r>
            <a:r>
              <a:rPr lang="en-US" sz="1600" dirty="0" err="1">
                <a:effectLst/>
                <a:latin typeface="Consolas" panose="020B0609020204030204" pitchFamily="49" charset="0"/>
              </a:rPr>
              <a:t>slot_was_set</a:t>
            </a:r>
            <a:r>
              <a:rPr lang="en-US" sz="1600" dirty="0"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sz="1600" dirty="0">
                <a:effectLst/>
                <a:latin typeface="Consolas" panose="020B0609020204030204" pitchFamily="49" charset="0"/>
              </a:rPr>
              <a:t>      - </a:t>
            </a:r>
            <a:r>
              <a:rPr lang="en-US" sz="1600" dirty="0" err="1">
                <a:effectLst/>
                <a:latin typeface="Consolas" panose="020B0609020204030204" pitchFamily="49" charset="0"/>
              </a:rPr>
              <a:t>heure</a:t>
            </a:r>
            <a:r>
              <a:rPr lang="en-US" sz="1600" dirty="0">
                <a:effectLst/>
                <a:latin typeface="Consolas" panose="020B0609020204030204" pitchFamily="49" charset="0"/>
              </a:rPr>
              <a:t>: "12h23"</a:t>
            </a:r>
          </a:p>
          <a:p>
            <a:r>
              <a:rPr lang="en-US" sz="1600" dirty="0">
                <a:effectLst/>
                <a:latin typeface="Consolas" panose="020B0609020204030204" pitchFamily="49" charset="0"/>
              </a:rPr>
              <a:t> - </a:t>
            </a:r>
            <a:r>
              <a:rPr lang="en-US" sz="1600" b="1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active_loop</a:t>
            </a:r>
            <a:r>
              <a:rPr lang="en-US" sz="1600" dirty="0">
                <a:effectLst/>
                <a:latin typeface="Consolas" panose="020B0609020204030204" pitchFamily="49" charset="0"/>
              </a:rPr>
              <a:t>: null</a:t>
            </a:r>
          </a:p>
          <a:p>
            <a:r>
              <a:rPr lang="en-US" sz="1600" dirty="0">
                <a:effectLst/>
                <a:latin typeface="Consolas" panose="020B0609020204030204" pitchFamily="49" charset="0"/>
              </a:rPr>
              <a:t> - </a:t>
            </a:r>
            <a:r>
              <a:rPr lang="en-US" sz="1600" b="1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action</a:t>
            </a:r>
            <a:r>
              <a:rPr lang="en-US" sz="1600" dirty="0">
                <a:effectLst/>
                <a:latin typeface="Consolas" panose="020B0609020204030204" pitchFamily="49" charset="0"/>
              </a:rPr>
              <a:t>: </a:t>
            </a:r>
            <a:r>
              <a:rPr lang="en-US" sz="1600" dirty="0" err="1">
                <a:effectLst/>
                <a:latin typeface="Consolas" panose="020B0609020204030204" pitchFamily="49" charset="0"/>
              </a:rPr>
              <a:t>action_utter_date_heure</a:t>
            </a:r>
            <a:endParaRPr lang="en-US" sz="1600" dirty="0">
              <a:effectLst/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. . .</a:t>
            </a:r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73B8C03F-1B46-4D7A-6A0B-048B1A0DB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1191912"/>
            <a:ext cx="7315200" cy="705899"/>
          </a:xfrm>
        </p:spPr>
        <p:txBody>
          <a:bodyPr/>
          <a:lstStyle/>
          <a:p>
            <a:pPr marL="0" indent="0">
              <a:buNone/>
            </a:pPr>
            <a:r>
              <a:rPr lang="fr-CH" sz="3600" b="1" dirty="0">
                <a:latin typeface="+mj-lt"/>
              </a:rPr>
              <a:t>Cas choix date :</a:t>
            </a:r>
            <a:endParaRPr lang="fr-CH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5DC07F8F-D977-7F9F-2126-34F24B8D8E45}"/>
              </a:ext>
            </a:extLst>
          </p:cNvPr>
          <p:cNvSpPr txBox="1"/>
          <p:nvPr/>
        </p:nvSpPr>
        <p:spPr>
          <a:xfrm>
            <a:off x="8289983" y="2126658"/>
            <a:ext cx="2646076" cy="304698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1600" dirty="0">
              <a:solidFill>
                <a:srgbClr val="00B0F0"/>
              </a:solidFill>
              <a:latin typeface="Consolas" panose="020B0609020204030204" pitchFamily="49" charset="0"/>
            </a:endParaRPr>
          </a:p>
          <a:p>
            <a:endParaRPr lang="en-US" sz="1600" b="0" dirty="0">
              <a:solidFill>
                <a:srgbClr val="00B0F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 err="1">
                <a:solidFill>
                  <a:srgbClr val="00B0F0"/>
                </a:solidFill>
                <a:effectLst/>
                <a:latin typeface="Consolas" panose="020B0609020204030204" pitchFamily="49" charset="0"/>
              </a:rPr>
              <a:t>Forms.yml</a:t>
            </a:r>
            <a:endParaRPr lang="en-US" sz="1600" b="0" dirty="0">
              <a:solidFill>
                <a:srgbClr val="00B0F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 err="1">
                <a:effectLst/>
                <a:latin typeface="Consolas" panose="020B0609020204030204" pitchFamily="49" charset="0"/>
              </a:rPr>
              <a:t>get_date_heure_form</a:t>
            </a:r>
            <a:r>
              <a:rPr lang="en-US" sz="1600" b="0" dirty="0"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  </a:t>
            </a:r>
            <a:r>
              <a:rPr lang="en-US" sz="1600" b="1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required_slots</a:t>
            </a:r>
            <a:r>
              <a:rPr lang="en-US" sz="1600" b="0" dirty="0"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    - </a:t>
            </a:r>
            <a:r>
              <a:rPr lang="en-US" sz="1600" b="1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date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    - </a:t>
            </a:r>
            <a:r>
              <a:rPr lang="en-US" sz="1600" b="0" dirty="0" err="1">
                <a:effectLst/>
                <a:latin typeface="Consolas" panose="020B0609020204030204" pitchFamily="49" charset="0"/>
              </a:rPr>
              <a:t>heure</a:t>
            </a:r>
            <a:endParaRPr lang="en-US" sz="1600" b="0" dirty="0"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 err="1">
                <a:effectLst/>
                <a:latin typeface="Consolas" panose="020B0609020204030204" pitchFamily="49" charset="0"/>
              </a:rPr>
              <a:t>ignored_intents</a:t>
            </a:r>
            <a:r>
              <a:rPr lang="en-US" sz="1600" b="0" dirty="0"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    - </a:t>
            </a:r>
            <a:r>
              <a:rPr lang="en-US" sz="1600" b="0" dirty="0" err="1">
                <a:effectLst/>
                <a:latin typeface="Consolas" panose="020B0609020204030204" pitchFamily="49" charset="0"/>
              </a:rPr>
              <a:t>ressource_gather</a:t>
            </a:r>
            <a:endParaRPr lang="en-US" sz="1600" b="0" dirty="0">
              <a:effectLst/>
              <a:latin typeface="Consolas" panose="020B0609020204030204" pitchFamily="49" charset="0"/>
            </a:endParaRPr>
          </a:p>
          <a:p>
            <a:endParaRPr lang="en-US" sz="1600" dirty="0">
              <a:latin typeface="Consolas" panose="020B0609020204030204" pitchFamily="49" charset="0"/>
            </a:endParaRPr>
          </a:p>
          <a:p>
            <a:endParaRPr lang="en-US" sz="1600" b="0" dirty="0">
              <a:effectLst/>
              <a:latin typeface="Consolas" panose="020B0609020204030204" pitchFamily="49" charset="0"/>
            </a:endParaRPr>
          </a:p>
          <a:p>
            <a:endParaRPr lang="en-US" sz="1600" b="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61805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A285B4-FD70-2A71-8251-87E83297F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628" y="1123837"/>
            <a:ext cx="3272590" cy="4601183"/>
          </a:xfrm>
        </p:spPr>
        <p:txBody>
          <a:bodyPr/>
          <a:lstStyle/>
          <a:p>
            <a:r>
              <a:rPr lang="fr-CH" dirty="0"/>
              <a:t>Implémentation – Extraits de code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38321E0-ECEB-C769-218D-848393A7F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1B83CF1-45C8-8781-5866-C75222901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3ED7AAC-00C4-725B-283B-61574061CF4E}"/>
              </a:ext>
            </a:extLst>
          </p:cNvPr>
          <p:cNvSpPr txBox="1"/>
          <p:nvPr/>
        </p:nvSpPr>
        <p:spPr>
          <a:xfrm>
            <a:off x="5118528" y="1939368"/>
            <a:ext cx="4662257" cy="37856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0" dirty="0" err="1">
                <a:solidFill>
                  <a:srgbClr val="00B0F0"/>
                </a:solidFill>
                <a:effectLst/>
                <a:latin typeface="Consolas" panose="020B0609020204030204" pitchFamily="49" charset="0"/>
              </a:rPr>
              <a:t>Intents.yml</a:t>
            </a:r>
            <a:endParaRPr lang="en-US" sz="1600" b="0" dirty="0">
              <a:solidFill>
                <a:srgbClr val="00B0F0"/>
              </a:solidFill>
              <a:effectLst/>
              <a:latin typeface="Consolas" panose="020B0609020204030204" pitchFamily="49" charset="0"/>
            </a:endParaRP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- 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intent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: 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inform_date</a:t>
            </a:r>
            <a:endParaRPr lang="fr-CH" sz="1600" b="0" dirty="0">
              <a:effectLst/>
              <a:latin typeface="Consolas" panose="020B0609020204030204" pitchFamily="49" charset="0"/>
            </a:endParaRP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examples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: | 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  - Le [</a:t>
            </a:r>
            <a:r>
              <a:rPr lang="fr-CH" sz="1600" b="1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9 janvier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](</a:t>
            </a:r>
            <a:r>
              <a:rPr lang="fr-CH" sz="1600" b="1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date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  - [27 novembre](date)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  - [08/11](date)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  - le [27/03](date)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  - à la date du [5 mars](date)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  - Le [18 avril 2025](date)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  - à la date du [04/06/24](date)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  - le [</a:t>
            </a:r>
            <a:r>
              <a:rPr lang="fr-CH" sz="1600" b="1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20/09/2025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](</a:t>
            </a:r>
            <a:r>
              <a:rPr lang="fr-CH" sz="1600" b="1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date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  - [14/05/2024](date)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  - [12 décembre](date)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  - à la date du [25 Février](date)</a:t>
            </a:r>
          </a:p>
          <a:p>
            <a:r>
              <a:rPr lang="fr-CH" sz="1600" dirty="0">
                <a:latin typeface="Consolas" panose="020B0609020204030204" pitchFamily="49" charset="0"/>
              </a:rPr>
              <a:t>. . .</a:t>
            </a:r>
            <a:endParaRPr lang="fr-CH" sz="1600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73B8C03F-1B46-4D7A-6A0B-048B1A0DB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1191912"/>
            <a:ext cx="7315200" cy="705899"/>
          </a:xfrm>
        </p:spPr>
        <p:txBody>
          <a:bodyPr/>
          <a:lstStyle/>
          <a:p>
            <a:pPr marL="0" indent="0">
              <a:buNone/>
            </a:pPr>
            <a:r>
              <a:rPr lang="fr-CH" sz="3600" b="1" dirty="0">
                <a:latin typeface="+mj-lt"/>
              </a:rPr>
              <a:t>Cas choix date :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18198442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A285B4-FD70-2A71-8251-87E83297F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628" y="1123837"/>
            <a:ext cx="3272590" cy="4601183"/>
          </a:xfrm>
        </p:spPr>
        <p:txBody>
          <a:bodyPr/>
          <a:lstStyle/>
          <a:p>
            <a:r>
              <a:rPr lang="fr-CH" dirty="0"/>
              <a:t>Implémentation – Extraits de code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38321E0-ECEB-C769-218D-848393A7F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1B83CF1-45C8-8781-5866-C75222901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3ED7AAC-00C4-725B-283B-61574061CF4E}"/>
              </a:ext>
            </a:extLst>
          </p:cNvPr>
          <p:cNvSpPr txBox="1"/>
          <p:nvPr/>
        </p:nvSpPr>
        <p:spPr>
          <a:xfrm>
            <a:off x="3609975" y="1528292"/>
            <a:ext cx="8115299" cy="452431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0" dirty="0">
                <a:solidFill>
                  <a:srgbClr val="00B0F0"/>
                </a:solidFill>
                <a:effectLst/>
                <a:latin typeface="Consolas" panose="020B0609020204030204" pitchFamily="49" charset="0"/>
              </a:rPr>
              <a:t>Actions.py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class 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ValidateDatesHeuresForm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(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FormValidationAction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def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 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name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(self)-&gt;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Text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    return "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validate_get_date_heure_form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"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def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 </a:t>
            </a:r>
            <a:r>
              <a:rPr lang="fr-CH" sz="1600" b="1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validate_date</a:t>
            </a:r>
            <a:r>
              <a:rPr lang="fr-CH" sz="1600" b="1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 -&gt; Dict[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Text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, 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Any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]: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	. . .</a:t>
            </a:r>
          </a:p>
          <a:p>
            <a:endParaRPr lang="fr-CH" sz="1600" b="0" dirty="0">
              <a:effectLst/>
              <a:latin typeface="Consolas" panose="020B0609020204030204" pitchFamily="49" charset="0"/>
            </a:endParaRP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		</a:t>
            </a:r>
            <a:r>
              <a:rPr lang="fr-CH" sz="1600" b="1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 = {"locale":"fr_FR","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text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":</a:t>
            </a:r>
            <a:r>
              <a:rPr lang="fr-CH" sz="1600" b="1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date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 }</a:t>
            </a:r>
          </a:p>
          <a:p>
            <a:r>
              <a:rPr lang="fr-CH" sz="1600" b="0" spc="-150" dirty="0">
                <a:effectLst/>
                <a:latin typeface="Consolas" panose="020B0609020204030204" pitchFamily="49" charset="0"/>
              </a:rPr>
              <a:t>		</a:t>
            </a:r>
            <a:r>
              <a:rPr lang="fr-CH" sz="1600" b="1" spc="-15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date_duckling</a:t>
            </a:r>
            <a:r>
              <a:rPr lang="fr-CH" sz="1600" b="1" spc="-15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CH" sz="1600" b="0" spc="-150" dirty="0">
                <a:effectLst/>
                <a:latin typeface="Consolas" panose="020B0609020204030204" pitchFamily="49" charset="0"/>
              </a:rPr>
              <a:t>= </a:t>
            </a:r>
            <a:r>
              <a:rPr lang="fr-CH" sz="1600" b="0" spc="-150" dirty="0" err="1">
                <a:effectLst/>
                <a:latin typeface="Consolas" panose="020B0609020204030204" pitchFamily="49" charset="0"/>
              </a:rPr>
              <a:t>requests.post</a:t>
            </a:r>
            <a:r>
              <a:rPr lang="fr-CH" sz="1600" b="0" spc="-150" dirty="0">
                <a:effectLst/>
                <a:latin typeface="Consolas" panose="020B0609020204030204" pitchFamily="49" charset="0"/>
              </a:rPr>
              <a:t>("</a:t>
            </a:r>
            <a:r>
              <a:rPr lang="fr-CH" sz="1600" b="1" spc="-15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http://duckling:8000/</a:t>
            </a:r>
            <a:r>
              <a:rPr lang="fr-CH" sz="1600" b="1" spc="-15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parse</a:t>
            </a:r>
            <a:r>
              <a:rPr lang="fr-CH" sz="1600" b="0" spc="-150" dirty="0" err="1">
                <a:effectLst/>
                <a:latin typeface="Consolas" panose="020B0609020204030204" pitchFamily="49" charset="0"/>
              </a:rPr>
              <a:t>",data</a:t>
            </a:r>
            <a:r>
              <a:rPr lang="fr-CH" sz="1600" b="0" spc="-150" dirty="0">
                <a:effectLst/>
                <a:latin typeface="Consolas" panose="020B0609020204030204" pitchFamily="49" charset="0"/>
              </a:rPr>
              <a:t>=</a:t>
            </a:r>
            <a:r>
              <a:rPr lang="fr-CH" sz="1600" b="1" spc="-15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fr-CH" sz="1600" b="0" spc="-150" dirty="0"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fr-CH" sz="1600" dirty="0">
                <a:latin typeface="Consolas" panose="020B0609020204030204" pitchFamily="49" charset="0"/>
              </a:rPr>
              <a:t>	. . .</a:t>
            </a:r>
            <a:endParaRPr lang="fr-CH" sz="1600" b="0" dirty="0">
              <a:effectLst/>
              <a:latin typeface="Consolas" panose="020B0609020204030204" pitchFamily="49" charset="0"/>
            </a:endParaRPr>
          </a:p>
          <a:p>
            <a:r>
              <a:rPr lang="fr-CH" sz="1600" dirty="0">
                <a:latin typeface="Consolas" panose="020B0609020204030204" pitchFamily="49" charset="0"/>
              </a:rPr>
              <a:t>		</a:t>
            </a:r>
            <a:r>
              <a:rPr lang="fr-CH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dates_dispo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 = </a:t>
            </a:r>
            <a:r>
              <a:rPr lang="fr-CH" sz="1600" b="1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get_jours_disponibles</a:t>
            </a:r>
            <a:r>
              <a:rPr lang="fr-CH" sz="1600" b="1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()</a:t>
            </a:r>
            <a:endParaRPr lang="fr-CH" sz="1600" b="1" dirty="0">
              <a:solidFill>
                <a:schemeClr val="bg2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r>
              <a:rPr lang="fr-CH" sz="1600" dirty="0">
                <a:latin typeface="Consolas" panose="020B0609020204030204" pitchFamily="49" charset="0"/>
              </a:rPr>
              <a:t>	. . .</a:t>
            </a:r>
          </a:p>
          <a:p>
            <a:pPr lvl="1"/>
            <a:r>
              <a:rPr lang="fr-CH" sz="1600" b="0" dirty="0">
                <a:effectLst/>
                <a:latin typeface="Consolas" panose="020B0609020204030204" pitchFamily="49" charset="0"/>
              </a:rPr>
              <a:t>	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dispatcher.utter_message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(&lt;</a:t>
            </a:r>
            <a:r>
              <a:rPr lang="fr-CH" sz="1600" b="1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réponse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&gt;)</a:t>
            </a:r>
          </a:p>
          <a:p>
            <a:pPr lvl="1"/>
            <a:r>
              <a:rPr lang="fr-CH" sz="1600" dirty="0">
                <a:latin typeface="Consolas" panose="020B0609020204030204" pitchFamily="49" charset="0"/>
              </a:rPr>
              <a:t>// Confirmation et sauvegarde de la date choisie</a:t>
            </a:r>
            <a:endParaRPr lang="fr-CH" sz="1600" b="0" dirty="0">
              <a:effectLst/>
              <a:latin typeface="Consolas" panose="020B0609020204030204" pitchFamily="49" charset="0"/>
            </a:endParaRPr>
          </a:p>
          <a:p>
            <a:pPr lvl="1"/>
            <a:r>
              <a:rPr lang="fr-CH" sz="1600" b="0" dirty="0">
                <a:effectLst/>
                <a:latin typeface="Consolas" panose="020B0609020204030204" pitchFamily="49" charset="0"/>
              </a:rPr>
              <a:t>	return </a:t>
            </a:r>
            <a:r>
              <a:rPr lang="fr-CH" sz="1600" b="1" dirty="0">
                <a:effectLst/>
                <a:latin typeface="Consolas" panose="020B0609020204030204" pitchFamily="49" charset="0"/>
              </a:rPr>
              <a:t>{"</a:t>
            </a:r>
            <a:r>
              <a:rPr lang="fr-CH" sz="1600" b="1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date</a:t>
            </a:r>
            <a:r>
              <a:rPr lang="fr-CH" sz="1600" b="1" dirty="0">
                <a:effectLst/>
                <a:latin typeface="Consolas" panose="020B0609020204030204" pitchFamily="49" charset="0"/>
              </a:rPr>
              <a:t>":</a:t>
            </a:r>
            <a:r>
              <a:rPr lang="fr-CH" sz="1600" b="1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date_</a:t>
            </a:r>
            <a:r>
              <a:rPr lang="fr-CH" sz="1600" b="1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duckling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,"date_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prereserv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":None}</a:t>
            </a:r>
          </a:p>
          <a:p>
            <a:pPr lvl="1"/>
            <a:endParaRPr lang="fr-CH" sz="1600" b="0" dirty="0">
              <a:effectLst/>
              <a:latin typeface="Consolas" panose="020B0609020204030204" pitchFamily="49" charset="0"/>
            </a:endParaRPr>
          </a:p>
          <a:p>
            <a:pPr lvl="1"/>
            <a:r>
              <a:rPr lang="fr-CH" sz="1600" dirty="0">
                <a:latin typeface="Consolas" panose="020B0609020204030204" pitchFamily="49" charset="0"/>
              </a:rPr>
              <a:t>. . .</a:t>
            </a:r>
            <a:endParaRPr lang="fr-CH" sz="1600" b="0" dirty="0">
              <a:effectLst/>
              <a:latin typeface="Consolas" panose="020B0609020204030204" pitchFamily="49" charset="0"/>
            </a:endParaRPr>
          </a:p>
          <a:p>
            <a:endParaRPr lang="fr-CH" sz="1600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73B8C03F-1B46-4D7A-6A0B-048B1A0DB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09470" y="770887"/>
            <a:ext cx="7315200" cy="705899"/>
          </a:xfrm>
        </p:spPr>
        <p:txBody>
          <a:bodyPr/>
          <a:lstStyle/>
          <a:p>
            <a:pPr marL="0" indent="0">
              <a:buNone/>
            </a:pPr>
            <a:r>
              <a:rPr lang="fr-CH" sz="3600" b="1" dirty="0">
                <a:latin typeface="+mj-lt"/>
              </a:rPr>
              <a:t>Cas choix date :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4141586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A285B4-FD70-2A71-8251-87E83297F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628" y="1123837"/>
            <a:ext cx="3272590" cy="4601183"/>
          </a:xfrm>
        </p:spPr>
        <p:txBody>
          <a:bodyPr/>
          <a:lstStyle/>
          <a:p>
            <a:r>
              <a:rPr lang="fr-CH" dirty="0"/>
              <a:t>Implémentation – Extraits de code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38321E0-ECEB-C769-218D-848393A7F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1B83CF1-45C8-8781-5866-C75222901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3ED7AAC-00C4-725B-283B-61574061CF4E}"/>
              </a:ext>
            </a:extLst>
          </p:cNvPr>
          <p:cNvSpPr txBox="1"/>
          <p:nvPr/>
        </p:nvSpPr>
        <p:spPr>
          <a:xfrm>
            <a:off x="3709470" y="1847469"/>
            <a:ext cx="7690128" cy="32932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0" dirty="0">
                <a:solidFill>
                  <a:srgbClr val="00B0F0"/>
                </a:solidFill>
                <a:effectLst/>
                <a:latin typeface="Consolas" panose="020B0609020204030204" pitchFamily="49" charset="0"/>
              </a:rPr>
              <a:t>Server.py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@app.get("/</a:t>
            </a:r>
            <a:r>
              <a:rPr lang="fr-CH" sz="1600" b="1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get-jours-semaine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/{</a:t>
            </a:r>
            <a:r>
              <a:rPr lang="fr-CH" sz="1600" b="1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ressource_label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}/{</a:t>
            </a:r>
            <a:r>
              <a:rPr lang="fr-CH" sz="1600" b="1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num_jours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}")</a:t>
            </a:r>
          </a:p>
          <a:p>
            <a:r>
              <a:rPr lang="fr-CH" sz="1600" b="0" dirty="0" err="1">
                <a:effectLst/>
                <a:latin typeface="Consolas" panose="020B0609020204030204" pitchFamily="49" charset="0"/>
              </a:rPr>
              <a:t>async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 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def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 </a:t>
            </a:r>
            <a:r>
              <a:rPr lang="fr-CH" sz="1600" dirty="0" err="1">
                <a:effectLst/>
                <a:latin typeface="Consolas" panose="020B0609020204030204" pitchFamily="49" charset="0"/>
              </a:rPr>
              <a:t>get_jours_semaine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(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ressource_label:str,num_jours:int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try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 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with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 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Session.begin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() as session: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        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query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 = 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session.query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(</a:t>
            </a:r>
            <a:r>
              <a:rPr lang="fr-CH" sz="1600" dirty="0" err="1">
                <a:effectLst/>
                <a:latin typeface="Consolas" panose="020B0609020204030204" pitchFamily="49" charset="0"/>
              </a:rPr>
              <a:t>Jour_Horaire.</a:t>
            </a:r>
            <a:r>
              <a:rPr lang="fr-CH" sz="1600" b="1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jour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) 							.</a:t>
            </a:r>
            <a:r>
              <a:rPr lang="fr-CH" sz="1600" b="1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where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(</a:t>
            </a:r>
            <a:r>
              <a:rPr lang="fr-CH" sz="1600" b="1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Jour_Horaire</a:t>
            </a:r>
            <a:r>
              <a:rPr lang="fr-CH" sz="1600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CH" sz="1600" dirty="0" err="1">
                <a:effectLst/>
                <a:latin typeface="Consolas" panose="020B0609020204030204" pitchFamily="49" charset="0"/>
              </a:rPr>
              <a:t>label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.</a:t>
            </a:r>
            <a:r>
              <a:rPr lang="fr-CH" sz="1600" b="1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like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(</a:t>
            </a:r>
            <a:r>
              <a:rPr lang="fr-CH" sz="1600" b="1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ressource_label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))</a:t>
            </a:r>
          </a:p>
          <a:p>
            <a:pPr lvl="3"/>
            <a:r>
              <a:rPr lang="fr-CH" sz="1600" b="0" dirty="0">
                <a:effectLst/>
                <a:latin typeface="Consolas" panose="020B0609020204030204" pitchFamily="49" charset="0"/>
              </a:rPr>
              <a:t>.distinct()</a:t>
            </a:r>
          </a:p>
          <a:p>
            <a:pPr lvl="3"/>
            <a:r>
              <a:rPr lang="fr-CH" sz="1600" b="0" dirty="0">
                <a:effectLst/>
                <a:latin typeface="Consolas" panose="020B0609020204030204" pitchFamily="49" charset="0"/>
              </a:rPr>
              <a:t>.all()</a:t>
            </a:r>
          </a:p>
          <a:p>
            <a:r>
              <a:rPr lang="fr-CH" sz="1600" dirty="0">
                <a:latin typeface="Consolas" panose="020B0609020204030204" pitchFamily="49" charset="0"/>
              </a:rPr>
              <a:t>	// traitement des dates disponibles</a:t>
            </a:r>
          </a:p>
          <a:p>
            <a:r>
              <a:rPr lang="fr-CH" sz="1600" dirty="0">
                <a:latin typeface="Consolas" panose="020B0609020204030204" pitchFamily="49" charset="0"/>
              </a:rPr>
              <a:t>	. . .</a:t>
            </a:r>
          </a:p>
          <a:p>
            <a:r>
              <a:rPr lang="fr-CH" sz="1600" dirty="0">
                <a:latin typeface="Consolas" panose="020B0609020204030204" pitchFamily="49" charset="0"/>
              </a:rPr>
              <a:t>	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return 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JSONResponse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(</a:t>
            </a:r>
            <a:r>
              <a:rPr lang="fr-CH" sz="1600" b="1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&lt;requête traitée&gt;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)</a:t>
            </a:r>
          </a:p>
          <a:p>
            <a:endParaRPr lang="fr-CH" sz="1600" dirty="0">
              <a:latin typeface="Consolas" panose="020B0609020204030204" pitchFamily="49" charset="0"/>
            </a:endParaRPr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73B8C03F-1B46-4D7A-6A0B-048B1A0DB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09470" y="770887"/>
            <a:ext cx="7315200" cy="705899"/>
          </a:xfrm>
        </p:spPr>
        <p:txBody>
          <a:bodyPr/>
          <a:lstStyle/>
          <a:p>
            <a:pPr marL="0" indent="0">
              <a:buNone/>
            </a:pPr>
            <a:r>
              <a:rPr lang="fr-CH" sz="3600" b="1" dirty="0">
                <a:latin typeface="+mj-lt"/>
              </a:rPr>
              <a:t>Cas choix date :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6079805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A3B315-B7A4-43E0-0847-18EE34F9F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Résultats obtenus – Réservation simple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9B4342A-7DB4-970E-CC66-4D9AF4972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06284CD-7965-BC47-8C92-F53C861DF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28</a:t>
            </a:fld>
            <a:endParaRPr lang="en-US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FF35E32F-AC29-009D-71F3-F99B07241F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2609" y="695827"/>
            <a:ext cx="2606616" cy="5344457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0C5E4CC6-7C6F-A14C-8051-638F38CC3F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258432" y="695826"/>
            <a:ext cx="2624511" cy="5344458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53B33A48-339D-5C5F-5C82-8FD077508D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82150" y="695826"/>
            <a:ext cx="2628928" cy="5344458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C515E9F0-E66C-F009-2CAD-B5D175F00789}"/>
              </a:ext>
            </a:extLst>
          </p:cNvPr>
          <p:cNvSpPr txBox="1"/>
          <p:nvPr/>
        </p:nvSpPr>
        <p:spPr>
          <a:xfrm>
            <a:off x="8772743" y="6162174"/>
            <a:ext cx="26268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i="1" dirty="0">
                <a:solidFill>
                  <a:schemeClr val="accent6"/>
                </a:solidFill>
                <a:ea typeface="Barlow Semi Condensed Light"/>
                <a:cs typeface="Barlow Semi Condensed Light"/>
                <a:sym typeface="Barlow Semi Condensed Light"/>
              </a:rPr>
              <a:t>Source: Rodrigues dos Santos Fabio</a:t>
            </a:r>
          </a:p>
        </p:txBody>
      </p:sp>
    </p:spTree>
    <p:extLst>
      <p:ext uri="{BB962C8B-B14F-4D97-AF65-F5344CB8AC3E}">
        <p14:creationId xmlns:p14="http://schemas.microsoft.com/office/powerpoint/2010/main" val="4882485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A3B315-B7A4-43E0-0847-18EE34F9F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Résultats obtenus – Réservation simple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9B4342A-7DB4-970E-CC66-4D9AF4972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06284CD-7965-BC47-8C92-F53C861DF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29</a:t>
            </a:fld>
            <a:endParaRPr lang="en-US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0DCB3955-FB2C-4A53-BF83-0B84A7E3CCF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223645" y="787941"/>
            <a:ext cx="2596862" cy="5272972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64FC04EC-7737-4B2A-9209-6A2E2E3B0A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3751" y="787941"/>
            <a:ext cx="2436308" cy="52729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FC7C0FF9-941D-0853-96B5-8CF0D59465D3}"/>
              </a:ext>
            </a:extLst>
          </p:cNvPr>
          <p:cNvSpPr txBox="1"/>
          <p:nvPr/>
        </p:nvSpPr>
        <p:spPr>
          <a:xfrm>
            <a:off x="8772743" y="6136700"/>
            <a:ext cx="26268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i="1" dirty="0">
                <a:solidFill>
                  <a:schemeClr val="accent6"/>
                </a:solidFill>
                <a:ea typeface="Barlow Semi Condensed Light"/>
                <a:cs typeface="Barlow Semi Condensed Light"/>
                <a:sym typeface="Barlow Semi Condensed Light"/>
              </a:rPr>
              <a:t>Source: Rodrigues dos Santos Fabio</a:t>
            </a:r>
          </a:p>
        </p:txBody>
      </p:sp>
    </p:spTree>
    <p:extLst>
      <p:ext uri="{BB962C8B-B14F-4D97-AF65-F5344CB8AC3E}">
        <p14:creationId xmlns:p14="http://schemas.microsoft.com/office/powerpoint/2010/main" val="38249515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A3B315-B7A4-43E0-0847-18EE34F9F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Résultats obtenus – Réservation simple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9B4342A-7DB4-970E-CC66-4D9AF4972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06284CD-7965-BC47-8C92-F53C861DF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30</a:t>
            </a:fld>
            <a:endParaRPr lang="en-US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6101B8D8-387C-316A-20E1-383499939A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7100" y="1459573"/>
            <a:ext cx="4417815" cy="3637407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49C789D6-268E-CC30-BA0B-F9171F3B05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621" y="1751875"/>
            <a:ext cx="4117054" cy="3345106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128031AC-8621-02ED-963F-9E9F936B914C}"/>
              </a:ext>
            </a:extLst>
          </p:cNvPr>
          <p:cNvSpPr txBox="1"/>
          <p:nvPr/>
        </p:nvSpPr>
        <p:spPr>
          <a:xfrm>
            <a:off x="4332982" y="674905"/>
            <a:ext cx="26860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>
                <a:latin typeface="+mj-lt"/>
              </a:rPr>
              <a:t>Événement Google </a:t>
            </a:r>
            <a:r>
              <a:rPr lang="fr-CH" sz="2400" b="1" dirty="0" err="1">
                <a:latin typeface="+mj-lt"/>
              </a:rPr>
              <a:t>Calendar</a:t>
            </a:r>
            <a:r>
              <a:rPr lang="fr-CH" sz="2400" b="1" dirty="0">
                <a:latin typeface="+mj-lt"/>
              </a:rPr>
              <a:t> proposé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F1F9CCE-8A70-A7BA-9C0F-7776E9C11455}"/>
              </a:ext>
            </a:extLst>
          </p:cNvPr>
          <p:cNvSpPr txBox="1"/>
          <p:nvPr/>
        </p:nvSpPr>
        <p:spPr>
          <a:xfrm>
            <a:off x="7895146" y="674905"/>
            <a:ext cx="38415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>
                <a:latin typeface="+mj-lt"/>
              </a:rPr>
              <a:t>Événement dans calendrier associé au projet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DDEB210-7EF0-8862-67A9-7CE247613F67}"/>
              </a:ext>
            </a:extLst>
          </p:cNvPr>
          <p:cNvSpPr txBox="1"/>
          <p:nvPr/>
        </p:nvSpPr>
        <p:spPr>
          <a:xfrm>
            <a:off x="8772743" y="6136700"/>
            <a:ext cx="26268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i="1" dirty="0">
                <a:solidFill>
                  <a:schemeClr val="accent6"/>
                </a:solidFill>
                <a:ea typeface="Barlow Semi Condensed Light"/>
                <a:cs typeface="Barlow Semi Condensed Light"/>
                <a:sym typeface="Barlow Semi Condensed Light"/>
              </a:rPr>
              <a:t>Source: Rodrigues dos Santos Fabio</a:t>
            </a:r>
          </a:p>
        </p:txBody>
      </p:sp>
    </p:spTree>
    <p:extLst>
      <p:ext uri="{BB962C8B-B14F-4D97-AF65-F5344CB8AC3E}">
        <p14:creationId xmlns:p14="http://schemas.microsoft.com/office/powerpoint/2010/main" val="24691157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628BEB0-92D3-4522-24DB-DA18CC6CC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8" y="1123837"/>
            <a:ext cx="3068251" cy="4601183"/>
          </a:xfrm>
        </p:spPr>
        <p:txBody>
          <a:bodyPr/>
          <a:lstStyle/>
          <a:p>
            <a:r>
              <a:rPr lang="fr-CH" dirty="0"/>
              <a:t>Démonstration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863CD79-2A32-D217-6A2C-0CC9AA3E6E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ED348EF-EE15-CD19-C934-839005E01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31</a:t>
            </a:fld>
            <a:endParaRPr lang="en-US" dirty="0"/>
          </a:p>
        </p:txBody>
      </p:sp>
      <p:pic>
        <p:nvPicPr>
          <p:cNvPr id="6" name="Graphic 8" descr="Enseignant">
            <a:extLst>
              <a:ext uri="{FF2B5EF4-FFF2-40B4-BE49-F238E27FC236}">
                <a16:creationId xmlns:a16="http://schemas.microsoft.com/office/drawing/2014/main" id="{312CC043-A786-E8DB-D553-F46542211C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5782" y="759103"/>
            <a:ext cx="5330650" cy="533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00883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628BEB0-92D3-4522-24DB-DA18CC6CC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8" y="1123837"/>
            <a:ext cx="3068251" cy="4601183"/>
          </a:xfrm>
        </p:spPr>
        <p:txBody>
          <a:bodyPr/>
          <a:lstStyle/>
          <a:p>
            <a:r>
              <a:rPr lang="fr-CH" dirty="0"/>
              <a:t>Démonstration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863CD79-2A32-D217-6A2C-0CC9AA3E6E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ED348EF-EE15-CD19-C934-839005E01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839451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7E48AD-653C-017D-84B9-4C0C23ED7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Conclusion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F276103-8598-C57F-41D3-423CF60574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fr-CH" sz="2400" dirty="0"/>
              <a:t>Bot assez modulaire pour faciliter son implémentation</a:t>
            </a:r>
          </a:p>
          <a:p>
            <a:pPr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fr-CH" sz="2400" dirty="0"/>
              <a:t>À l’aide de modifications minimes, permet de complémenter un système existant</a:t>
            </a:r>
          </a:p>
          <a:p>
            <a:pPr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fr-CH" sz="2400" dirty="0"/>
              <a:t>Architecture en trois parties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fr-CH" sz="2200" dirty="0"/>
              <a:t>Chatbot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fr-CH" sz="2200" dirty="0"/>
              <a:t>Frontend Web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fr-CH" sz="2200" dirty="0"/>
              <a:t>Bot Telegram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fr-CH" sz="2400" dirty="0"/>
              <a:t>Plus libre qu’un bot par menu lors de réservation de ressources</a:t>
            </a:r>
          </a:p>
          <a:p>
            <a:pPr>
              <a:buFont typeface="Wingdings" panose="05000000000000000000" pitchFamily="2" charset="2"/>
              <a:buChar char="Ø"/>
            </a:pPr>
            <a:endParaRPr lang="fr-CH" sz="3200" dirty="0">
              <a:latin typeface="+mj-lt"/>
            </a:endParaRP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E02B8E9-2EA8-2E48-3965-14785F1866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09AA34A-F87A-0485-94E5-0EC8A8C5F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61868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7E48AD-653C-017D-84B9-4C0C23ED7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Conclusion – Bilan personnel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F276103-8598-C57F-41D3-423CF60574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fr-CH" sz="2400" dirty="0"/>
              <a:t>Gain d’expérience pratique par l’utilisation de technologies comme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fr-CH" sz="2200" dirty="0" err="1"/>
              <a:t>React</a:t>
            </a:r>
            <a:endParaRPr lang="fr-CH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fr-CH" sz="2200" dirty="0"/>
              <a:t>Vite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fr-CH" sz="2200" dirty="0"/>
              <a:t>Docker/Docker Compose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fr-CH" sz="2200" dirty="0"/>
              <a:t>Socket.IO</a:t>
            </a:r>
          </a:p>
          <a:p>
            <a:pPr lvl="1">
              <a:spcAft>
                <a:spcPts val="600"/>
              </a:spcAft>
              <a:buFont typeface="Courier New" panose="02070309020205020404" pitchFamily="49" charset="0"/>
              <a:buChar char="o"/>
            </a:pPr>
            <a:r>
              <a:rPr lang="fr-CH" sz="2200" dirty="0" err="1"/>
              <a:t>Postgresql</a:t>
            </a:r>
            <a:endParaRPr lang="fr-CH" sz="2200" dirty="0"/>
          </a:p>
          <a:p>
            <a:pPr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fr-CH" sz="2400" dirty="0"/>
              <a:t>Réalisation d’un projet dans un terrain de Machine Learning non vu en cours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fr-CH" sz="2400" dirty="0"/>
              <a:t>L’application résultante est satisfaisante et atteint les espérances initiales, voire plus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E02B8E9-2EA8-2E48-3965-14785F1866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09AA34A-F87A-0485-94E5-0EC8A8C5F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30510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7E48AD-653C-017D-84B9-4C0C23ED7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Conclusion – Améliorations possibles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F276103-8598-C57F-41D3-423CF60574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fr-CH" sz="2400" dirty="0"/>
              <a:t>Permettre le choix d’un jour de la semaine en plus d’une date et/ou heure</a:t>
            </a:r>
          </a:p>
          <a:p>
            <a:pPr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fr-CH" sz="2400" dirty="0"/>
              <a:t>Rendre plus robuste la détection de ressources lors d’erreurs orthographiques</a:t>
            </a:r>
          </a:p>
          <a:p>
            <a:pPr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fr-CH" sz="2400" dirty="0"/>
              <a:t>Ajout d’un panel Administrateur pour la gestion des réservations, visualisation, ajout manuels, etc…</a:t>
            </a:r>
          </a:p>
          <a:p>
            <a:pPr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fr-CH" sz="2400" dirty="0"/>
              <a:t>Confirmation du numéro et/ou adresse mail fournie</a:t>
            </a:r>
          </a:p>
          <a:p>
            <a:pPr>
              <a:buFont typeface="Wingdings" panose="05000000000000000000" pitchFamily="2" charset="2"/>
              <a:buChar char="Ø"/>
            </a:pPr>
            <a:endParaRPr lang="fr-CH" sz="2400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E02B8E9-2EA8-2E48-3965-14785F1866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09AA34A-F87A-0485-94E5-0EC8A8C5F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193770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F1D7602-6D2D-46C2-A7B2-434F3678DC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CH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539253-EA7C-41D9-9930-0923683AA3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58952"/>
            <a:ext cx="1219810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CH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D89589C-2C90-4407-A995-05EC3DD7AB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55480" y="2085681"/>
            <a:ext cx="0" cy="2686639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5E9FC47-8EFF-1A69-5450-9BA4855320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93580" y="864108"/>
            <a:ext cx="6144367" cy="51206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CH" sz="8800" b="1" dirty="0">
                <a:latin typeface="+mj-lt"/>
              </a:rPr>
              <a:t>Questions ?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715A71C-4DBE-B1B4-7DC0-12FBC7471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69268" y="6356350"/>
            <a:ext cx="5911517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fr-CH"/>
              <a:t>Présentation BA - Chatbot Réservation - Rodrigues dos Santos Fabio</a:t>
            </a:r>
            <a:endParaRPr lang="en-US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D829163-FC8A-C6DA-D2A7-F4985C6F2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34135" y="6356350"/>
            <a:ext cx="1530927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4FAB73BC-B049-4115-A692-8D63A059BFB8}" type="slidenum">
              <a:rPr lang="en-US" smtClean="0"/>
              <a:pPr>
                <a:spcAft>
                  <a:spcPts val="600"/>
                </a:spcAft>
              </a:pPr>
              <a:t>36</a:t>
            </a:fld>
            <a:endParaRPr lang="en-US"/>
          </a:p>
        </p:txBody>
      </p:sp>
      <p:pic>
        <p:nvPicPr>
          <p:cNvPr id="7" name="Graphique 6" descr="Questions avec un remplissage uni">
            <a:extLst>
              <a:ext uri="{FF2B5EF4-FFF2-40B4-BE49-F238E27FC236}">
                <a16:creationId xmlns:a16="http://schemas.microsoft.com/office/drawing/2014/main" id="{B4DF73BB-CB93-67A8-B287-CAF9B058CB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8053" y="2114740"/>
            <a:ext cx="2619375" cy="2619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355737"/>
      </p:ext>
    </p:extLst>
  </p:cSld>
  <p:clrMapOvr>
    <a:masterClrMapping/>
  </p:clrMapOvr>
</p:sld>
</file>

<file path=ppt/theme/theme1.xml><?xml version="1.0" encoding="utf-8"?>
<a:theme xmlns:a="http://schemas.openxmlformats.org/drawingml/2006/main" name="Cadre">
  <a:themeElements>
    <a:clrScheme name="Bleu chau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TM03457475[[fn=Cadre]]</Template>
  <TotalTime>3836</TotalTime>
  <Words>1810</Words>
  <Application>Microsoft Office PowerPoint</Application>
  <PresentationFormat>Grand écran</PresentationFormat>
  <Paragraphs>340</Paragraphs>
  <Slides>36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9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36</vt:i4>
      </vt:variant>
    </vt:vector>
  </HeadingPairs>
  <TitlesOfParts>
    <vt:vector size="46" baseType="lpstr">
      <vt:lpstr>Aptos</vt:lpstr>
      <vt:lpstr>Barlow Semi Condensed Light</vt:lpstr>
      <vt:lpstr>Barlow Semi Condensed Medium</vt:lpstr>
      <vt:lpstr>Arial</vt:lpstr>
      <vt:lpstr>Consolas</vt:lpstr>
      <vt:lpstr>Corbel</vt:lpstr>
      <vt:lpstr>Courier New</vt:lpstr>
      <vt:lpstr>Wingdings</vt:lpstr>
      <vt:lpstr>Wingdings 2</vt:lpstr>
      <vt:lpstr>Cadre</vt:lpstr>
      <vt:lpstr>SYSTÈME DE RÉSERVATION INTERACTIF VIA CHATBOT  </vt:lpstr>
      <vt:lpstr>Contexte</vt:lpstr>
      <vt:lpstr>Déroulement du projet</vt:lpstr>
      <vt:lpstr>Déroulement du projet</vt:lpstr>
      <vt:lpstr>Déroulement du projet</vt:lpstr>
      <vt:lpstr>Panorama des sources</vt:lpstr>
      <vt:lpstr>Sommaire</vt:lpstr>
      <vt:lpstr>Fondements théoriques</vt:lpstr>
      <vt:lpstr>Fondements théoriques – NLP </vt:lpstr>
      <vt:lpstr>Fondements théoriques – NLP </vt:lpstr>
      <vt:lpstr>Fondements théoriques – NLP </vt:lpstr>
      <vt:lpstr>Fondements théoriques – NLU </vt:lpstr>
      <vt:lpstr>Fondements théoriques – NLU </vt:lpstr>
      <vt:lpstr>Fondements théoriques – Rasa </vt:lpstr>
      <vt:lpstr>Fondements théoriques – Rasa </vt:lpstr>
      <vt:lpstr>Fondements théoriques – Rasa</vt:lpstr>
      <vt:lpstr>Fondements théoriques – Rasa</vt:lpstr>
      <vt:lpstr>Fondements théoriques – Rasa</vt:lpstr>
      <vt:lpstr>Choix Technologique</vt:lpstr>
      <vt:lpstr>Choix Technologique – Justification</vt:lpstr>
      <vt:lpstr>Implémentation – Architecture </vt:lpstr>
      <vt:lpstr>Implémentation – Schéma BDD </vt:lpstr>
      <vt:lpstr>Implémentation – Suite d’actions</vt:lpstr>
      <vt:lpstr>Implémentation – Extraits de code</vt:lpstr>
      <vt:lpstr>Implémentation – Extraits de code</vt:lpstr>
      <vt:lpstr>Implémentation – Extraits de code</vt:lpstr>
      <vt:lpstr>Implémentation – Extraits de code</vt:lpstr>
      <vt:lpstr>Résultats obtenus – Réservation simple</vt:lpstr>
      <vt:lpstr>Résultats obtenus – Réservation simple</vt:lpstr>
      <vt:lpstr>Résultats obtenus – Réservation simple</vt:lpstr>
      <vt:lpstr>Démonstration</vt:lpstr>
      <vt:lpstr>Démonstration</vt:lpstr>
      <vt:lpstr>Conclusion</vt:lpstr>
      <vt:lpstr>Conclusion – Bilan personnel</vt:lpstr>
      <vt:lpstr>Conclusion – Améliorations possibles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Rodrigues Dos Santos Fábio</dc:creator>
  <cp:lastModifiedBy>Rodrigues Dos Santos Fábio</cp:lastModifiedBy>
  <cp:revision>133</cp:revision>
  <dcterms:created xsi:type="dcterms:W3CDTF">2024-08-17T12:48:51Z</dcterms:created>
  <dcterms:modified xsi:type="dcterms:W3CDTF">2024-08-28T16:29:17Z</dcterms:modified>
</cp:coreProperties>
</file>