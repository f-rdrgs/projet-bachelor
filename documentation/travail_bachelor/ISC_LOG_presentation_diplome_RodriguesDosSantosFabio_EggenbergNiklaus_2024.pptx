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4" r:id="rId11"/>
    <p:sldId id="267" r:id="rId12"/>
    <p:sldId id="270" r:id="rId13"/>
    <p:sldId id="271" r:id="rId14"/>
    <p:sldId id="273" r:id="rId15"/>
    <p:sldId id="272" r:id="rId16"/>
    <p:sldId id="274" r:id="rId17"/>
    <p:sldId id="268" r:id="rId18"/>
    <p:sldId id="279" r:id="rId19"/>
    <p:sldId id="278" r:id="rId20"/>
    <p:sldId id="283" r:id="rId21"/>
    <p:sldId id="280" r:id="rId22"/>
    <p:sldId id="281" r:id="rId23"/>
    <p:sldId id="282" r:id="rId24"/>
    <p:sldId id="284" r:id="rId25"/>
    <p:sldId id="277" r:id="rId26"/>
    <p:sldId id="285" r:id="rId27"/>
    <p:sldId id="286" r:id="rId28"/>
    <p:sldId id="287" r:id="rId29"/>
    <p:sldId id="288" r:id="rId30"/>
    <p:sldId id="27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27.08.2024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0.png"/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12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3851375" cy="5120640"/>
          </a:xfrm>
        </p:spPr>
        <p:txBody>
          <a:bodyPr>
            <a:normAutofit/>
          </a:bodyPr>
          <a:lstStyle/>
          <a:p>
            <a:r>
              <a:rPr lang="fr-CH" dirty="0"/>
              <a:t>Blogs divers</a:t>
            </a:r>
          </a:p>
          <a:p>
            <a:r>
              <a:rPr lang="fr-CH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Analytics Vidhya</a:t>
            </a:r>
          </a:p>
          <a:p>
            <a:r>
              <a:rPr lang="fr-CH" dirty="0"/>
              <a:t>Articles de Recherche : </a:t>
            </a:r>
            <a:r>
              <a:rPr lang="en" sz="20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8120" y="1691640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fr-CH" dirty="0"/>
              <a:t>Fondements théoriques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Choix technologique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Implémentation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Résultats obtenus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Démonstration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dirty="0">
                <a:latin typeface="+mj-lt"/>
              </a:rPr>
              <a:t>Principes importants pour la réalisation du Chatbot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P</a:t>
            </a:r>
            <a:r>
              <a:rPr lang="fr-CH" dirty="0" err="1">
                <a:latin typeface="+mj-lt"/>
              </a:rPr>
              <a:t>rocessing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U</a:t>
            </a:r>
            <a:r>
              <a:rPr lang="fr-CH" dirty="0" err="1">
                <a:latin typeface="+mj-lt"/>
              </a:rPr>
              <a:t>nderstanding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G</a:t>
            </a:r>
            <a:r>
              <a:rPr lang="fr-CH" dirty="0" err="1">
                <a:latin typeface="+mj-lt"/>
              </a:rPr>
              <a:t>eneration</a:t>
            </a:r>
            <a:endParaRPr lang="fr-CH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38" y="1123837"/>
            <a:ext cx="3334430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213440" y="5298616"/>
            <a:ext cx="2626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427E80-4706-06FE-135D-A0578DD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453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sz="1800" dirty="0"/>
              <a:t>Transformation de textes en données structurées compréhensible par des modèles d’I.A.</a:t>
            </a:r>
          </a:p>
          <a:p>
            <a:pPr marL="0" indent="0">
              <a:buNone/>
            </a:pPr>
            <a:endParaRPr lang="fr-CH" sz="2400" dirty="0"/>
          </a:p>
          <a:p>
            <a:pPr marL="0" indent="0">
              <a:buNone/>
            </a:pPr>
            <a:r>
              <a:rPr lang="fr-CH" sz="2800" b="1" dirty="0">
                <a:latin typeface="+mj-lt"/>
              </a:rPr>
              <a:t>Structure</a:t>
            </a:r>
          </a:p>
          <a:p>
            <a:pPr marL="0" indent="0">
              <a:buNone/>
            </a:pPr>
            <a:r>
              <a:rPr lang="fr-CH" dirty="0"/>
              <a:t>Passage de mots à des </a:t>
            </a:r>
            <a:r>
              <a:rPr lang="fr-CH" dirty="0" err="1"/>
              <a:t>Tokens</a:t>
            </a:r>
            <a:endParaRPr lang="fr-CH" dirty="0"/>
          </a:p>
          <a:p>
            <a:pPr marL="0" indent="0">
              <a:buNone/>
            </a:pPr>
            <a:endParaRPr lang="fr-CH" sz="2800" b="1" dirty="0"/>
          </a:p>
        </p:txBody>
      </p:sp>
      <p:pic>
        <p:nvPicPr>
          <p:cNvPr id="3" name="Google Shape;1934;p47">
            <a:extLst>
              <a:ext uri="{FF2B5EF4-FFF2-40B4-BE49-F238E27FC236}">
                <a16:creationId xmlns:a16="http://schemas.microsoft.com/office/drawing/2014/main" id="{17AF2ECB-D6C4-7041-B1A7-C61CA5DCBC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69268" y="4686328"/>
            <a:ext cx="68580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0782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3" y="1123837"/>
            <a:ext cx="3347049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9278291" y="5025318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Javapoint.com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B43363-E29E-2D17-D556-F602E8408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579" y="1157144"/>
            <a:ext cx="4967868" cy="4435680"/>
          </a:xfrm>
        </p:spPr>
        <p:txBody>
          <a:bodyPr/>
          <a:lstStyle/>
          <a:p>
            <a:pPr marL="539750" lvl="0" indent="-4000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mots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phrases (grammaire)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du sens des mots entre eux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Comparaison rétroactive à d’autres textes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Ressortir le contexte du texte</a:t>
            </a:r>
          </a:p>
          <a:p>
            <a:endParaRPr lang="fr-CH" dirty="0"/>
          </a:p>
        </p:txBody>
      </p:sp>
      <p:pic>
        <p:nvPicPr>
          <p:cNvPr id="9" name="Google Shape;1943;p48">
            <a:extLst>
              <a:ext uri="{FF2B5EF4-FFF2-40B4-BE49-F238E27FC236}">
                <a16:creationId xmlns:a16="http://schemas.microsoft.com/office/drawing/2014/main" id="{AFD19E42-6159-A4D6-BEF1-8E43F5BD026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03114" y="1348012"/>
            <a:ext cx="2947482" cy="36773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9838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64303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527774" y="5417243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Datasolut.com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372928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8680"/>
            <a:ext cx="7315200" cy="5120640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Qu’est-ce ?</a:t>
            </a:r>
          </a:p>
          <a:p>
            <a:pPr marL="0" indent="0">
              <a:buNone/>
            </a:pPr>
            <a:r>
              <a:rPr lang="fr-CH" sz="1800" dirty="0"/>
              <a:t>Sert à la compréhension de données en langage naturel par des programmes</a:t>
            </a:r>
          </a:p>
          <a:p>
            <a:pPr marL="0" indent="0">
              <a:buNone/>
            </a:pPr>
            <a:r>
              <a:rPr lang="fr-CH" sz="1800" dirty="0"/>
              <a:t>Sous-section du NLP centré sur : Compréhension Grammaticale et de Contexte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90181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Deux méthodes principales</a:t>
            </a:r>
          </a:p>
          <a:p>
            <a:pPr marL="5969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arabicParenR"/>
            </a:pPr>
            <a:r>
              <a:rPr lang="fr-CH" dirty="0"/>
              <a:t>Détection d’intention : Identification des sentiments et objectifs</a:t>
            </a:r>
          </a:p>
          <a:p>
            <a:pPr marL="457200" indent="-317500">
              <a:lnSpc>
                <a:spcPct val="150000"/>
              </a:lnSpc>
              <a:spcBef>
                <a:spcPts val="1000"/>
              </a:spcBef>
              <a:buSzPct val="100000"/>
              <a:buAutoNum type="arabicParenR"/>
            </a:pPr>
            <a:r>
              <a:rPr lang="fr-CH" dirty="0"/>
              <a:t>   Détection d’entités : Extraction d’entités et leurs informations</a:t>
            </a:r>
          </a:p>
          <a:p>
            <a:pPr marL="1371600" lvl="2" indent="-317500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fr-CH" dirty="0"/>
              <a:t>Entité Numérique</a:t>
            </a:r>
          </a:p>
          <a:p>
            <a:pPr marL="1371600" lvl="2" indent="-317500">
              <a:spcBef>
                <a:spcPts val="1000"/>
              </a:spcBef>
              <a:spcAft>
                <a:spcPts val="1000"/>
              </a:spcAft>
              <a:buSzPts val="1400"/>
              <a:buAutoNum type="alphaLcPeriod"/>
            </a:pPr>
            <a:r>
              <a:rPr lang="fr-CH" dirty="0"/>
              <a:t>Entité nommée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1C6ECE6-B814-CD07-7424-551C358C0F30}"/>
              </a:ext>
            </a:extLst>
          </p:cNvPr>
          <p:cNvSpPr txBox="1"/>
          <p:nvPr/>
        </p:nvSpPr>
        <p:spPr>
          <a:xfrm>
            <a:off x="6578728" y="4793801"/>
            <a:ext cx="1896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i="1" dirty="0">
                <a:solidFill>
                  <a:schemeClr val="accent6"/>
                </a:solidFill>
              </a:rPr>
              <a:t>Source: Techtarget.com</a:t>
            </a:r>
          </a:p>
        </p:txBody>
      </p:sp>
    </p:spTree>
    <p:extLst>
      <p:ext uri="{BB962C8B-B14F-4D97-AF65-F5344CB8AC3E}">
        <p14:creationId xmlns:p14="http://schemas.microsoft.com/office/powerpoint/2010/main" val="191632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493699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9310" y="1730070"/>
            <a:ext cx="4370541" cy="33887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dirty="0">
                <a:latin typeface="+mj-lt"/>
              </a:rPr>
              <a:t>Un </a:t>
            </a:r>
            <a:r>
              <a:rPr lang="fr-CH" dirty="0" err="1">
                <a:latin typeface="+mj-lt"/>
              </a:rPr>
              <a:t>framework</a:t>
            </a:r>
            <a:r>
              <a:rPr lang="fr-CH" dirty="0">
                <a:latin typeface="+mj-lt"/>
              </a:rPr>
              <a:t> ou boîte à outils pour la création de Chatbots conversationnels en Python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9" name="Image 8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6860948F-7631-75DE-5A2A-BB8DDBC0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9851" y="2529031"/>
            <a:ext cx="3683189" cy="179079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CCCE5A8-06F2-7D49-90E9-2249C97235AC}"/>
              </a:ext>
            </a:extLst>
          </p:cNvPr>
          <p:cNvSpPr txBox="1"/>
          <p:nvPr/>
        </p:nvSpPr>
        <p:spPr>
          <a:xfrm>
            <a:off x="9084362" y="409229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10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28205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624" y="778348"/>
            <a:ext cx="6255150" cy="2646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Services disponibles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</a:t>
            </a:r>
            <a:r>
              <a:rPr lang="fr-CH" dirty="0" err="1"/>
              <a:t>OpenSource</a:t>
            </a:r>
            <a:r>
              <a:rPr lang="fr-CH" dirty="0"/>
              <a:t> –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X – Interface utilisateur pour manipuler le bot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Pro – Service proposant un complément d’IA comme intégration d’</a:t>
            </a:r>
            <a:r>
              <a:rPr lang="fr-CH" dirty="0" err="1"/>
              <a:t>OpenAI</a:t>
            </a:r>
            <a:r>
              <a:rPr lang="fr-CH" dirty="0"/>
              <a:t> par ex.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7" name="Image 6" descr="Une image contenant texte, capture d’écran, Police, logo&#10;&#10;Description générée automatiquement">
            <a:extLst>
              <a:ext uri="{FF2B5EF4-FFF2-40B4-BE49-F238E27FC236}">
                <a16:creationId xmlns:a16="http://schemas.microsoft.com/office/drawing/2014/main" id="{1324135E-10B6-B6F1-4C1E-18F0A9C5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031" y="3424428"/>
            <a:ext cx="7100394" cy="237938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E5155F2-AFAF-E238-AF34-CC2A8B2F3A27}"/>
              </a:ext>
            </a:extLst>
          </p:cNvPr>
          <p:cNvSpPr txBox="1"/>
          <p:nvPr/>
        </p:nvSpPr>
        <p:spPr>
          <a:xfrm>
            <a:off x="6771186" y="5898344"/>
            <a:ext cx="1544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07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7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61" y="1202753"/>
            <a:ext cx="3519577" cy="40835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Structure</a:t>
            </a:r>
            <a:endParaRPr lang="fr-CH" sz="2800" b="1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4 composants principaux</a:t>
            </a:r>
            <a:endParaRPr lang="fr-CH" sz="26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</a:t>
            </a:r>
            <a:r>
              <a:rPr lang="fr-CH" b="1" dirty="0" err="1"/>
              <a:t>Core</a:t>
            </a:r>
            <a:r>
              <a:rPr lang="fr-CH" b="1" dirty="0"/>
              <a:t>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Logique conversationnelle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NLU </a:t>
            </a:r>
            <a:r>
              <a:rPr lang="fr-CH" dirty="0"/>
              <a:t>– Logique d’extraction d’entités et d’</a:t>
            </a:r>
            <a:r>
              <a:rPr lang="fr-CH" dirty="0" err="1"/>
              <a:t>intents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Action Server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Code Python interagissant avec les composants externes à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solidFill>
                  <a:srgbClr val="595959"/>
                </a:solidFill>
              </a:rPr>
              <a:t>Rasa Agent </a:t>
            </a:r>
            <a:r>
              <a:rPr lang="fr-CH" dirty="0">
                <a:solidFill>
                  <a:srgbClr val="595959"/>
                </a:solidFill>
              </a:rPr>
              <a:t>– Interface logicielle dans le but d’interagir avec ces composants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F0A190D-8D24-C1A1-BB8F-89DEFB87EE4C}"/>
              </a:ext>
            </a:extLst>
          </p:cNvPr>
          <p:cNvSpPr txBox="1"/>
          <p:nvPr/>
        </p:nvSpPr>
        <p:spPr>
          <a:xfrm>
            <a:off x="8637008" y="476360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pic>
        <p:nvPicPr>
          <p:cNvPr id="6" name="Image 5" descr="Une image contenant texte, diagramme, capture d’écran, Plan&#10;&#10;Description générée automatiquement">
            <a:extLst>
              <a:ext uri="{FF2B5EF4-FFF2-40B4-BE49-F238E27FC236}">
                <a16:creationId xmlns:a16="http://schemas.microsoft.com/office/drawing/2014/main" id="{C491D1B6-7857-79C3-3696-5A1EE69D40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31" t="631" r="3823" b="548"/>
          <a:stretch/>
        </p:blipFill>
        <p:spPr>
          <a:xfrm>
            <a:off x="6737229" y="1202753"/>
            <a:ext cx="4912100" cy="356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01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Fonctionnement</a:t>
            </a:r>
            <a:endParaRPr lang="fr-CH" sz="3200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Les éléments suivants sont centraux à la réalisation d’un bot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Stories – Suites d’actions représentant un chemin de conversation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Slots – Variables conversationnelles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Actions – Suites d’instructions pouvant interagir avec des composants externes ou internes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Entités – Informations récupérées selon paternes spécifiés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 err="1">
                <a:latin typeface="+mj-lt"/>
              </a:rPr>
              <a:t>Intents</a:t>
            </a:r>
            <a:r>
              <a:rPr lang="fr-CH" dirty="0">
                <a:latin typeface="+mj-lt"/>
              </a:rPr>
              <a:t> – Catégorisation des possibles entrées utilisateur</a:t>
            </a:r>
          </a:p>
          <a:p>
            <a:pPr marL="0" indent="0">
              <a:buNone/>
            </a:pPr>
            <a:endParaRPr lang="fr-CH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3185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1373" y="813331"/>
            <a:ext cx="7315200" cy="1094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Exemple Fonctionnement</a:t>
            </a:r>
            <a:endParaRPr lang="fr-CH" sz="3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B919D7-9503-CDD3-479E-6254433937ED}"/>
              </a:ext>
            </a:extLst>
          </p:cNvPr>
          <p:cNvSpPr txBox="1"/>
          <p:nvPr/>
        </p:nvSpPr>
        <p:spPr>
          <a:xfrm>
            <a:off x="3701373" y="1958195"/>
            <a:ext cx="3825495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- story: Ask user name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steps: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intent: greet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utter_greet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utter_ask_name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intent: </a:t>
            </a:r>
            <a:r>
              <a:rPr lang="en-US" sz="1600" dirty="0" err="1">
                <a:latin typeface="Consolas" panose="020B0609020204030204" pitchFamily="49" charset="0"/>
              </a:rPr>
              <a:t>say_name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name_saved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slots: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renom_slot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	    	type: text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mappings: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  - type: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from_entity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  		entity: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prenom</a:t>
            </a:r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209B98-828B-D6CA-CE54-B9224CC52DF8}"/>
              </a:ext>
            </a:extLst>
          </p:cNvPr>
          <p:cNvSpPr txBox="1"/>
          <p:nvPr/>
        </p:nvSpPr>
        <p:spPr>
          <a:xfrm>
            <a:off x="7526868" y="1958194"/>
            <a:ext cx="3954889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H" sz="1600" dirty="0" err="1">
                <a:latin typeface="Consolas" panose="020B0609020204030204" pitchFamily="49" charset="0"/>
              </a:rPr>
              <a:t>nlu</a:t>
            </a:r>
            <a:r>
              <a:rPr lang="fr-CH" sz="1600" dirty="0"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 - </a:t>
            </a:r>
            <a:r>
              <a:rPr lang="fr-CH" sz="1600" dirty="0" err="1">
                <a:latin typeface="Consolas" panose="020B0609020204030204" pitchFamily="49" charset="0"/>
              </a:rPr>
              <a:t>intent</a:t>
            </a:r>
            <a:r>
              <a:rPr lang="fr-CH" sz="1600" dirty="0">
                <a:latin typeface="Consolas" panose="020B0609020204030204" pitchFamily="49" charset="0"/>
              </a:rPr>
              <a:t>: </a:t>
            </a:r>
            <a:r>
              <a:rPr lang="fr-CH" sz="1600" dirty="0" err="1">
                <a:latin typeface="Consolas" panose="020B0609020204030204" pitchFamily="49" charset="0"/>
              </a:rPr>
              <a:t>say_name</a:t>
            </a:r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    </a:t>
            </a:r>
            <a:r>
              <a:rPr lang="fr-CH" sz="1600" dirty="0" err="1">
                <a:latin typeface="Consolas" panose="020B0609020204030204" pitchFamily="49" charset="0"/>
              </a:rPr>
              <a:t>examples</a:t>
            </a:r>
            <a:r>
              <a:rPr lang="fr-CH" sz="1600" dirty="0">
                <a:latin typeface="Consolas" panose="020B0609020204030204" pitchFamily="49" charset="0"/>
              </a:rPr>
              <a:t>: |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m’appelle [Jean](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suis [Pierre](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entities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- 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804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082268"/>
              </p:ext>
            </p:extLst>
          </p:nvPr>
        </p:nvGraphicFramePr>
        <p:xfrm>
          <a:off x="3711669" y="732855"/>
          <a:ext cx="7687929" cy="53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69880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4809307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fr-CH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  <p:pic>
        <p:nvPicPr>
          <p:cNvPr id="16" name="Graphique 15">
            <a:extLst>
              <a:ext uri="{FF2B5EF4-FFF2-40B4-BE49-F238E27FC236}">
                <a16:creationId xmlns:a16="http://schemas.microsoft.com/office/drawing/2014/main" id="{5EDDEC57-2A68-7070-48A5-49A558BB7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848" y="1389846"/>
            <a:ext cx="1134657" cy="1085584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9" name="Image 18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BEA7BF2A-5CC5-840A-36A9-D2650E595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873" y="3048435"/>
            <a:ext cx="2337060" cy="1096849"/>
          </a:xfrm>
          <a:prstGeom prst="rect">
            <a:avLst/>
          </a:prstGeom>
          <a:effectLst>
            <a:softEdge rad="101600"/>
          </a:effectLst>
        </p:spPr>
      </p:pic>
      <p:pic>
        <p:nvPicPr>
          <p:cNvPr id="21" name="Image 20" descr="Une image contenant Graphique, cercle, symbole, logo&#10;&#10;Description générée automatiquement">
            <a:extLst>
              <a:ext uri="{FF2B5EF4-FFF2-40B4-BE49-F238E27FC236}">
                <a16:creationId xmlns:a16="http://schemas.microsoft.com/office/drawing/2014/main" id="{91CBC207-88C6-782D-8CDA-1295D94C4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693" y="4415651"/>
            <a:ext cx="1096849" cy="1096849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F116FC8E-DF0A-44A0-79F6-050A54629672}"/>
              </a:ext>
            </a:extLst>
          </p:cNvPr>
          <p:cNvSpPr txBox="1"/>
          <p:nvPr/>
        </p:nvSpPr>
        <p:spPr>
          <a:xfrm>
            <a:off x="5347754" y="2440945"/>
            <a:ext cx="102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Vite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E72548B-4897-67DE-300A-40CE745F3BC9}"/>
              </a:ext>
            </a:extLst>
          </p:cNvPr>
          <p:cNvSpPr txBox="1"/>
          <p:nvPr/>
        </p:nvSpPr>
        <p:spPr>
          <a:xfrm>
            <a:off x="5008298" y="4640909"/>
            <a:ext cx="118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API Telegram</a:t>
            </a:r>
          </a:p>
        </p:txBody>
      </p:sp>
      <p:pic>
        <p:nvPicPr>
          <p:cNvPr id="25" name="Image 24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1EA951-F140-66AF-9D39-00273F7DD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495" y="1345500"/>
            <a:ext cx="1962276" cy="707801"/>
          </a:xfrm>
          <a:prstGeom prst="rect">
            <a:avLst/>
          </a:prstGeom>
          <a:solidFill>
            <a:schemeClr val="bg1"/>
          </a:solidFill>
          <a:effectLst>
            <a:softEdge rad="76200"/>
          </a:effectLst>
        </p:spPr>
      </p:pic>
      <p:pic>
        <p:nvPicPr>
          <p:cNvPr id="27" name="Image 26" descr="Une image contenant cheval, Silhouette d’animal, art, créativité&#10;&#10;Description générée automatiquement">
            <a:extLst>
              <a:ext uri="{FF2B5EF4-FFF2-40B4-BE49-F238E27FC236}">
                <a16:creationId xmlns:a16="http://schemas.microsoft.com/office/drawing/2014/main" id="{B9115D81-ACE0-B8B0-7E5B-DBE18CA33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0427" y="2020467"/>
            <a:ext cx="1314769" cy="1314769"/>
          </a:xfrm>
          <a:prstGeom prst="rect">
            <a:avLst/>
          </a:prstGeom>
          <a:noFill/>
          <a:effectLst>
            <a:softEdge rad="0"/>
          </a:effectLst>
        </p:spPr>
      </p:pic>
      <p:pic>
        <p:nvPicPr>
          <p:cNvPr id="29" name="Image 28" descr="Une image contenant Police, Graphique, logo, conception&#10;&#10;Description générée automatiquement">
            <a:extLst>
              <a:ext uri="{FF2B5EF4-FFF2-40B4-BE49-F238E27FC236}">
                <a16:creationId xmlns:a16="http://schemas.microsoft.com/office/drawing/2014/main" id="{E2479D63-CF7C-DFFD-87FA-F15DEFBFCB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2376" y="3359070"/>
            <a:ext cx="1795889" cy="98896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32" name="Image 31" descr="Une image contenant Police, Graphique, graphisme, typographie&#10;&#10;Description générée automatiquement">
            <a:extLst>
              <a:ext uri="{FF2B5EF4-FFF2-40B4-BE49-F238E27FC236}">
                <a16:creationId xmlns:a16="http://schemas.microsoft.com/office/drawing/2014/main" id="{1D4FB89E-A79E-43D6-ABC0-B53A69910A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0132" y="5421203"/>
            <a:ext cx="2454493" cy="515878"/>
          </a:xfrm>
          <a:prstGeom prst="rect">
            <a:avLst/>
          </a:prstGeom>
          <a:solidFill>
            <a:schemeClr val="bg1"/>
          </a:solidFill>
          <a:effectLst>
            <a:softEdge rad="38100"/>
          </a:effectLst>
        </p:spPr>
      </p:pic>
      <p:pic>
        <p:nvPicPr>
          <p:cNvPr id="36" name="Image 35" descr="Une image contenant Graphique, Police, symbole, clipart&#10;&#10;Description générée automatiquement">
            <a:extLst>
              <a:ext uri="{FF2B5EF4-FFF2-40B4-BE49-F238E27FC236}">
                <a16:creationId xmlns:a16="http://schemas.microsoft.com/office/drawing/2014/main" id="{73AD55D3-D6CB-E98E-1F46-605A943CCE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8214" y="1249119"/>
            <a:ext cx="1956504" cy="2175309"/>
          </a:xfrm>
          <a:prstGeom prst="rect">
            <a:avLst/>
          </a:prstGeom>
          <a:solidFill>
            <a:schemeClr val="bg1"/>
          </a:solidFill>
          <a:effectLst>
            <a:softEdge rad="127000"/>
          </a:effec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AB919388-CBFE-E2D8-E140-4913ABA059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4865" y="1359421"/>
            <a:ext cx="1387759" cy="1387759"/>
          </a:xfrm>
          <a:prstGeom prst="rect">
            <a:avLst/>
          </a:prstGeom>
          <a:effectLst>
            <a:softEdge rad="139700"/>
          </a:effectLst>
        </p:spPr>
      </p:pic>
      <p:pic>
        <p:nvPicPr>
          <p:cNvPr id="40" name="Image 39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3A58CB84-1643-3D36-E182-D04053EA32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342" y="3433573"/>
            <a:ext cx="2013126" cy="978796"/>
          </a:xfrm>
          <a:prstGeom prst="rect">
            <a:avLst/>
          </a:prstGeom>
        </p:spPr>
      </p:pic>
      <p:pic>
        <p:nvPicPr>
          <p:cNvPr id="44" name="Image 43">
            <a:extLst>
              <a:ext uri="{FF2B5EF4-FFF2-40B4-BE49-F238E27FC236}">
                <a16:creationId xmlns:a16="http://schemas.microsoft.com/office/drawing/2014/main" id="{D41F91C9-9487-F978-1C39-90CB171E25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98339" y="4277677"/>
            <a:ext cx="1148775" cy="1230830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C3B6F3CA-8F60-1A80-848C-DC9682859BE9}"/>
              </a:ext>
            </a:extLst>
          </p:cNvPr>
          <p:cNvSpPr txBox="1"/>
          <p:nvPr/>
        </p:nvSpPr>
        <p:spPr>
          <a:xfrm>
            <a:off x="9670008" y="5508507"/>
            <a:ext cx="1111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 err="1"/>
              <a:t>Duckling</a:t>
            </a:r>
            <a:endParaRPr lang="fr-CH" b="1" dirty="0"/>
          </a:p>
        </p:txBody>
      </p:sp>
      <p:pic>
        <p:nvPicPr>
          <p:cNvPr id="46" name="Image 45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8142AF80-ACF2-397A-250B-418E7D7A4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281" y="4277677"/>
            <a:ext cx="2337060" cy="1096849"/>
          </a:xfrm>
          <a:prstGeom prst="rect">
            <a:avLst/>
          </a:prstGeom>
          <a:effectLst>
            <a:softEdge rad="101600"/>
          </a:effectLst>
        </p:spPr>
      </p:pic>
    </p:spTree>
    <p:extLst>
      <p:ext uri="{BB962C8B-B14F-4D97-AF65-F5344CB8AC3E}">
        <p14:creationId xmlns:p14="http://schemas.microsoft.com/office/powerpoint/2010/main" val="132028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 – Justification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0210A45A-6C2D-423D-B501-3520E8F1D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200" b="1" dirty="0">
                <a:latin typeface="+mj-lt"/>
              </a:rPr>
              <a:t>Frontend</a:t>
            </a: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dirty="0"/>
              <a:t> </a:t>
            </a:r>
            <a:r>
              <a:rPr lang="fr-CH" b="1" dirty="0" err="1"/>
              <a:t>React</a:t>
            </a:r>
            <a:r>
              <a:rPr lang="fr-CH" dirty="0"/>
              <a:t> + </a:t>
            </a:r>
            <a:r>
              <a:rPr lang="fr-CH" b="1" dirty="0"/>
              <a:t>Vite</a:t>
            </a:r>
            <a:r>
              <a:rPr lang="fr-CH" dirty="0"/>
              <a:t> : Choix de </a:t>
            </a:r>
            <a:r>
              <a:rPr lang="fr-CH" dirty="0" err="1"/>
              <a:t>React</a:t>
            </a:r>
            <a:r>
              <a:rPr lang="fr-CH" dirty="0"/>
              <a:t> par curiosité de la technologie et Vite pour faciliter le développement</a:t>
            </a:r>
          </a:p>
          <a:p>
            <a:pPr marL="0" indent="0">
              <a:buNone/>
            </a:pPr>
            <a:r>
              <a:rPr lang="fr-CH" sz="3200" b="1" dirty="0">
                <a:latin typeface="+mj-lt"/>
              </a:rPr>
              <a:t>Backend</a:t>
            </a:r>
            <a:endParaRPr lang="fr-CH" b="1" dirty="0">
              <a:latin typeface="+mj-lt"/>
            </a:endParaRP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dirty="0"/>
              <a:t> </a:t>
            </a:r>
            <a:r>
              <a:rPr lang="fr-CH" b="1" dirty="0" err="1"/>
              <a:t>NodeJS</a:t>
            </a:r>
            <a:r>
              <a:rPr lang="fr-CH" dirty="0"/>
              <a:t> + </a:t>
            </a:r>
            <a:r>
              <a:rPr lang="fr-CH" b="1" dirty="0" err="1"/>
              <a:t>ExpressJS</a:t>
            </a:r>
            <a:r>
              <a:rPr lang="fr-CH" dirty="0"/>
              <a:t> vs </a:t>
            </a:r>
            <a:r>
              <a:rPr lang="fr-CH" b="1" dirty="0" err="1"/>
              <a:t>FastAPI</a:t>
            </a:r>
            <a:r>
              <a:rPr lang="fr-CH" dirty="0"/>
              <a:t> + </a:t>
            </a:r>
            <a:r>
              <a:rPr lang="fr-CH" b="1" dirty="0" err="1"/>
              <a:t>Uvicorn</a:t>
            </a:r>
            <a:r>
              <a:rPr lang="fr-CH" dirty="0"/>
              <a:t> : </a:t>
            </a:r>
          </a:p>
          <a:p>
            <a:pPr lvl="1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fr-CH" dirty="0"/>
              <a:t>Connaissances plus approfondies de Socket.io en </a:t>
            </a:r>
            <a:r>
              <a:rPr lang="fr-CH" dirty="0" err="1"/>
              <a:t>Typescript</a:t>
            </a:r>
            <a:r>
              <a:rPr lang="fr-CH" dirty="0"/>
              <a:t>/JS</a:t>
            </a:r>
          </a:p>
          <a:p>
            <a:pPr lvl="1">
              <a:spcAft>
                <a:spcPts val="1200"/>
              </a:spcAft>
              <a:buFont typeface="Courier New" panose="02070309020205020404" pitchFamily="49" charset="0"/>
              <a:buChar char="o"/>
            </a:pPr>
            <a:r>
              <a:rPr lang="fr-CH" dirty="0"/>
              <a:t>Assurance de robustesse, support et qualité avec Node et Express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fr-CH" sz="3200" b="1" dirty="0"/>
              <a:t>Chatbot</a:t>
            </a:r>
          </a:p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b="1" dirty="0"/>
              <a:t>PostgreSQL </a:t>
            </a:r>
            <a:r>
              <a:rPr lang="fr-CH" dirty="0"/>
              <a:t>: Curiosité technologique et une alternative </a:t>
            </a:r>
            <a:r>
              <a:rPr lang="fr-CH" dirty="0" err="1"/>
              <a:t>OpenSource</a:t>
            </a:r>
            <a:r>
              <a:rPr lang="fr-CH" dirty="0"/>
              <a:t> populaire à SQL</a:t>
            </a:r>
          </a:p>
        </p:txBody>
      </p:sp>
    </p:spTree>
    <p:extLst>
      <p:ext uri="{BB962C8B-B14F-4D97-AF65-F5344CB8AC3E}">
        <p14:creationId xmlns:p14="http://schemas.microsoft.com/office/powerpoint/2010/main" val="24558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B1C023-5BCE-7D45-07EB-E48A5BFA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1123837"/>
            <a:ext cx="3185962" cy="4601183"/>
          </a:xfrm>
        </p:spPr>
        <p:txBody>
          <a:bodyPr/>
          <a:lstStyle/>
          <a:p>
            <a:r>
              <a:rPr lang="fr-CH" dirty="0"/>
              <a:t>Implémentation – Architecture </a:t>
            </a:r>
          </a:p>
        </p:txBody>
      </p:sp>
      <p:pic>
        <p:nvPicPr>
          <p:cNvPr id="9" name="Espace réservé du contenu 8" descr="Une image contenant texte, capture d’écran, diagramme, affichage&#10;&#10;Description générée automatiquement">
            <a:extLst>
              <a:ext uri="{FF2B5EF4-FFF2-40B4-BE49-F238E27FC236}">
                <a16:creationId xmlns:a16="http://schemas.microsoft.com/office/drawing/2014/main" id="{FF638C40-71B9-C491-7870-C9699E765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4751" y="136525"/>
            <a:ext cx="7915274" cy="6438707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3369707-7252-705A-C594-0D52FF5E4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20CD11-BD18-7FEA-DA41-209AE31DF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3079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</a:t>
            </a:r>
            <a:r>
              <a:rPr lang="fr-CH" sz="3600" dirty="0">
                <a:latin typeface="+mj-lt"/>
              </a:rPr>
              <a:t>– Suite d’actions</a:t>
            </a: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501650"/>
            <a:ext cx="6193027" cy="859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</a:t>
            </a:r>
            <a:endParaRPr lang="fr-CH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63049CF-956E-959B-9DD7-E8AE82584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562962" y="1218742"/>
            <a:ext cx="1481280" cy="513760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6BCA603E-F4CD-7E3B-1DB2-61595017FD71}"/>
              </a:ext>
            </a:extLst>
          </p:cNvPr>
          <p:cNvSpPr txBox="1"/>
          <p:nvPr/>
        </p:nvSpPr>
        <p:spPr>
          <a:xfrm>
            <a:off x="3769743" y="3160017"/>
            <a:ext cx="25879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i="1" dirty="0"/>
              <a:t>« Je veux réserver pour le 11 janvier »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BE74174-2FAA-808F-E024-D050E5B3599A}"/>
              </a:ext>
            </a:extLst>
          </p:cNvPr>
          <p:cNvSpPr txBox="1"/>
          <p:nvPr/>
        </p:nvSpPr>
        <p:spPr>
          <a:xfrm>
            <a:off x="8216243" y="3325881"/>
            <a:ext cx="36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i="1" dirty="0"/>
              <a:t>« Date choisie : 11/01/20xx »</a:t>
            </a:r>
          </a:p>
        </p:txBody>
      </p:sp>
    </p:spTree>
    <p:extLst>
      <p:ext uri="{BB962C8B-B14F-4D97-AF65-F5344CB8AC3E}">
        <p14:creationId xmlns:p14="http://schemas.microsoft.com/office/powerpoint/2010/main" val="1920131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4171192" y="2126608"/>
            <a:ext cx="4118791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Stories.yml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. . .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- action: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get_date_heure_form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-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active_loop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: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get_date_heure_form</a:t>
            </a:r>
            <a:endParaRPr lang="en-US" sz="16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-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slot_was_set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- date: "20/05/2024"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slot_was_set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heure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 "12h23"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active_loop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 null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action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action_utter_date_heure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. . .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191912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DC07F8F-D977-7F9F-2126-34F24B8D8E45}"/>
              </a:ext>
            </a:extLst>
          </p:cNvPr>
          <p:cNvSpPr txBox="1"/>
          <p:nvPr/>
        </p:nvSpPr>
        <p:spPr>
          <a:xfrm>
            <a:off x="8289983" y="2126658"/>
            <a:ext cx="2646076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Forms.yml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effectLst/>
                <a:latin typeface="Consolas" panose="020B0609020204030204" pitchFamily="49" charset="0"/>
              </a:rPr>
              <a:t>get_date_heure_form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required_slots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date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heure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ignored_intents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ressource_gather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b="0" dirty="0">
              <a:effectLst/>
              <a:latin typeface="Consolas" panose="020B0609020204030204" pitchFamily="49" charset="0"/>
            </a:endParaRPr>
          </a:p>
          <a:p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8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5118528" y="1939368"/>
            <a:ext cx="4662257" cy="37856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Intents.yml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-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intent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inform_date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examples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 | 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9 janvier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](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[27 novembre](date)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[08/11](date)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[27/03](date)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[5 mars](date)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[18 avril 2025](date)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[04/06/24](date)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20/09/2025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](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[14/05/2024](date)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[12 décembre](date)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[25 Février](date)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191912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81984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3709470" y="1528292"/>
            <a:ext cx="7690128" cy="45243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Actions.py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class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ValidateDatesHeuresForm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FormValidationAction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name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(self)-&gt;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  return "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validate_get_date_heure_form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validate_date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()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-&gt; Dict[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,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Any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. . .</a:t>
            </a:r>
          </a:p>
          <a:p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	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data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{"locale":"fr_FR","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":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	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requests.post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("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http://duckling:8000/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parse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",data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=data)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		</a:t>
            </a:r>
            <a:r>
              <a:rPr lang="fr-CH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dates_dispo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get_jours_disponibles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()</a:t>
            </a:r>
            <a:endParaRPr lang="fr-CH" sz="1600" b="1" dirty="0"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</a:p>
          <a:p>
            <a:pPr lvl="1"/>
            <a:r>
              <a:rPr lang="fr-CH" sz="1600" b="0" dirty="0">
                <a:effectLst/>
                <a:latin typeface="Consolas" panose="020B0609020204030204" pitchFamily="49" charset="0"/>
              </a:rPr>
              <a:t>	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dispatcher.utter_message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(&lt;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réponse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&gt;)</a:t>
            </a:r>
          </a:p>
          <a:p>
            <a:pPr lvl="1"/>
            <a:r>
              <a:rPr lang="fr-CH" sz="1600" dirty="0">
                <a:latin typeface="Consolas" panose="020B0609020204030204" pitchFamily="49" charset="0"/>
              </a:rPr>
              <a:t>// Confirmation et sauvegarde de la date choisie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fr-CH" sz="1600" b="0" dirty="0">
                <a:effectLst/>
                <a:latin typeface="Consolas" panose="020B0609020204030204" pitchFamily="49" charset="0"/>
              </a:rPr>
              <a:t>	return 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{"date":date_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duckling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,"date_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prereserv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":None}</a:t>
            </a:r>
          </a:p>
          <a:p>
            <a:pPr lvl="1"/>
            <a:endParaRPr lang="fr-CH" sz="1600" b="0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fr-CH" sz="1600" dirty="0">
                <a:latin typeface="Consolas" panose="020B0609020204030204" pitchFamily="49" charset="0"/>
              </a:rPr>
              <a:t>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endParaRPr lang="fr-CH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9470" y="770887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14158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3709470" y="1847469"/>
            <a:ext cx="7690128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Server.py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@app.get("/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get-jours-semaine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/{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ressource_label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}/{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num_jours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}")</a:t>
            </a: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async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get_jours_semaine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ressource_label:str,num_jours:int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with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Session.begin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() as session: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  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query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session.query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Jour_Horaire.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jour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 							.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where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Jour_Horaire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.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label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.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like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ressource_label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))</a:t>
            </a:r>
          </a:p>
          <a:p>
            <a:pPr lvl="3"/>
            <a:r>
              <a:rPr lang="fr-CH" sz="1600" b="0" dirty="0">
                <a:effectLst/>
                <a:latin typeface="Consolas" panose="020B0609020204030204" pitchFamily="49" charset="0"/>
              </a:rPr>
              <a:t>.distinct()</a:t>
            </a:r>
          </a:p>
          <a:p>
            <a:pPr lvl="3"/>
            <a:r>
              <a:rPr lang="fr-CH" sz="1600" b="0" dirty="0">
                <a:effectLst/>
                <a:latin typeface="Consolas" panose="020B0609020204030204" pitchFamily="49" charset="0"/>
              </a:rPr>
              <a:t>.all()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// traitement des dates disponibles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return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JSONResponse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&lt;requête traitée&gt;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9470" y="770887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6079805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F35E32F-AC29-009D-71F3-F99B07241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609" y="695827"/>
            <a:ext cx="2606616" cy="534445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C5E4CC6-7C6F-A14C-8051-638F38CC3F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58432" y="695826"/>
            <a:ext cx="2624511" cy="534445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3B33A48-339D-5C5F-5C82-8FD077508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2150" y="695826"/>
            <a:ext cx="2628928" cy="534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DCB3955-FB2C-4A53-BF83-0B84A7E3CC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223645" y="787941"/>
            <a:ext cx="2596862" cy="527297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4FC04EC-7737-4B2A-9209-6A2E2E3B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751" y="787941"/>
            <a:ext cx="2436308" cy="527297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4951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101B8D8-387C-316A-20E1-383499939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844" y="1459573"/>
            <a:ext cx="4444071" cy="363740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9C789D6-268E-CC30-BA0B-F9171F3B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621" y="1751875"/>
            <a:ext cx="4117054" cy="334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1157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Résultats obtenus – Réservation simple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101B8D8-387C-316A-20E1-383499939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844" y="1459573"/>
            <a:ext cx="4444071" cy="363740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9C789D6-268E-CC30-BA0B-F9171F3B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621" y="1751875"/>
            <a:ext cx="4117054" cy="334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340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28BEB0-92D3-4522-24DB-DA18CC6CC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8" y="1123837"/>
            <a:ext cx="3068251" cy="4601183"/>
          </a:xfrm>
        </p:spPr>
        <p:txBody>
          <a:bodyPr/>
          <a:lstStyle/>
          <a:p>
            <a:r>
              <a:rPr lang="fr-CH" dirty="0"/>
              <a:t>Démonstration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863CD79-2A32-D217-6A2C-0CC9AA3E6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ED348EF-EE15-CD19-C934-839005E01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6" name="Graphic 8" descr="Enseignant">
            <a:extLst>
              <a:ext uri="{FF2B5EF4-FFF2-40B4-BE49-F238E27FC236}">
                <a16:creationId xmlns:a16="http://schemas.microsoft.com/office/drawing/2014/main" id="{312CC043-A786-E8DB-D553-F46542211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5782" y="759103"/>
            <a:ext cx="5330650" cy="533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883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30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/>
        </p:nvGraphicFramePr>
        <p:xfrm>
          <a:off x="3711669" y="667460"/>
          <a:ext cx="7687929" cy="5437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76134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576134"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React</a:t>
                      </a:r>
                      <a:r>
                        <a:rPr lang="fr-CH" sz="1600" dirty="0"/>
                        <a:t> – Framework pour un front modulaire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Vite</a:t>
                      </a:r>
                      <a:r>
                        <a:rPr lang="fr-CH" sz="1600" dirty="0"/>
                        <a:t> – Héberger aisément un serveur frontend avec intégration </a:t>
                      </a:r>
                      <a:r>
                        <a:rPr lang="fr-CH" sz="1600" dirty="0" err="1"/>
                        <a:t>React</a:t>
                      </a: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Socket.io </a:t>
                      </a:r>
                      <a:r>
                        <a:rPr lang="fr-CH" sz="1600" dirty="0"/>
                        <a:t>– Connexions multiples avec un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API Telegram</a:t>
                      </a:r>
                      <a:r>
                        <a:rPr lang="fr-CH" sz="1600" dirty="0"/>
                        <a:t> – Gestion d’un bot Telegram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FastAPI</a:t>
                      </a:r>
                      <a:r>
                        <a:rPr lang="fr-CH" sz="1600" dirty="0"/>
                        <a:t> – Framework pour des API REST en Python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Uvicorn</a:t>
                      </a:r>
                      <a:r>
                        <a:rPr lang="fr-CH" sz="1600" dirty="0"/>
                        <a:t> – Package couplé à </a:t>
                      </a:r>
                      <a:r>
                        <a:rPr lang="fr-CH" sz="1600" dirty="0" err="1"/>
                        <a:t>FastAPI</a:t>
                      </a:r>
                      <a:r>
                        <a:rPr lang="fr-CH" sz="1600" dirty="0"/>
                        <a:t> pour la mise en place de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NodeJS</a:t>
                      </a:r>
                      <a:r>
                        <a:rPr lang="fr-CH" sz="1600" dirty="0"/>
                        <a:t> – Exécution de code Javascript coté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Express</a:t>
                      </a:r>
                      <a:r>
                        <a:rPr lang="fr-CH" sz="1600" dirty="0"/>
                        <a:t> – Framework pour des API REST en Javascript/</a:t>
                      </a:r>
                      <a:r>
                        <a:rPr lang="fr-CH" sz="1600" dirty="0" err="1"/>
                        <a:t>Typescript</a:t>
                      </a: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Socket.IO </a:t>
                      </a:r>
                      <a:r>
                        <a:rPr lang="fr-CH" sz="1600" dirty="0"/>
                        <a:t>– Connexions multiples d’un serveur à plusieurs clients à la fois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SQLAlchemy</a:t>
                      </a:r>
                      <a:r>
                        <a:rPr lang="fr-CH" sz="1600" dirty="0"/>
                        <a:t> – Toolkit pour l’interaction avec la BDD en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H" sz="1600" b="1" dirty="0"/>
                        <a:t>PostgreSQL</a:t>
                      </a:r>
                      <a:r>
                        <a:rPr lang="fr-CH" sz="1600" dirty="0"/>
                        <a:t> – Moteur de base de données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dirty="0"/>
                        <a:t>Rasa – Framework de création de Bot conversationnel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dirty="0" err="1"/>
                        <a:t>Duckling</a:t>
                      </a:r>
                      <a:r>
                        <a:rPr lang="fr-CH" sz="1600" dirty="0"/>
                        <a:t> – Logiciel de traitement de données en données </a:t>
                      </a:r>
                      <a:r>
                        <a:rPr lang="fr-CH" sz="1600" dirty="0" err="1"/>
                        <a:t>parsables</a:t>
                      </a:r>
                      <a:r>
                        <a:rPr lang="fr-CH" sz="1600" dirty="0"/>
                        <a:t> par la machine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9205671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3554</TotalTime>
  <Words>1667</Words>
  <Application>Microsoft Office PowerPoint</Application>
  <PresentationFormat>Grand écran</PresentationFormat>
  <Paragraphs>308</Paragraphs>
  <Slides>30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40" baseType="lpstr">
      <vt:lpstr>Aptos</vt:lpstr>
      <vt:lpstr>Barlow Semi Condensed Light</vt:lpstr>
      <vt:lpstr>Barlow Semi Condensed Medium</vt:lpstr>
      <vt:lpstr>Arial</vt:lpstr>
      <vt:lpstr>Consolas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Panorama des sources</vt:lpstr>
      <vt:lpstr>Sommaire</vt:lpstr>
      <vt:lpstr>Fondements théoriques</vt:lpstr>
      <vt:lpstr>Fondements théoriques – NLP </vt:lpstr>
      <vt:lpstr>Fondements théoriques – NLP </vt:lpstr>
      <vt:lpstr>Fondements théoriques – NLP </vt:lpstr>
      <vt:lpstr>Fondements théoriques – NLU </vt:lpstr>
      <vt:lpstr>Fondements théoriques – NLU </vt:lpstr>
      <vt:lpstr>Fondements théoriques – Rasa </vt:lpstr>
      <vt:lpstr>Fondements théoriques – Rasa </vt:lpstr>
      <vt:lpstr>Fondements théoriques – Rasa</vt:lpstr>
      <vt:lpstr>Fondements théoriques – Rasa</vt:lpstr>
      <vt:lpstr>Fondements théoriques – Rasa</vt:lpstr>
      <vt:lpstr>Choix Technologique</vt:lpstr>
      <vt:lpstr>Choix Technologique – Justification</vt:lpstr>
      <vt:lpstr>Implémentation – Architecture </vt:lpstr>
      <vt:lpstr>Implémentation – Suite d’actions</vt:lpstr>
      <vt:lpstr>Implémentation – Extraits de code</vt:lpstr>
      <vt:lpstr>Implémentation – Extraits de code</vt:lpstr>
      <vt:lpstr>Implémentation – Extraits de code</vt:lpstr>
      <vt:lpstr>Implémentation – Extraits de code</vt:lpstr>
      <vt:lpstr>Résultats obtenus – Réservation simple</vt:lpstr>
      <vt:lpstr>Résultats obtenus – Réservation simple</vt:lpstr>
      <vt:lpstr>Résultats obtenus – Réservation simple</vt:lpstr>
      <vt:lpstr>Résultats obtenus – Réservation simple</vt:lpstr>
      <vt:lpstr>Démonstration</vt:lpstr>
      <vt:lpstr>Choix Technologique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95</cp:revision>
  <dcterms:created xsi:type="dcterms:W3CDTF">2024-08-17T12:48:51Z</dcterms:created>
  <dcterms:modified xsi:type="dcterms:W3CDTF">2024-08-27T19:39:24Z</dcterms:modified>
</cp:coreProperties>
</file>