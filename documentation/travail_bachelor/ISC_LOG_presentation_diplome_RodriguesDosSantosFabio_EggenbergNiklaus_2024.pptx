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840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5" r:id="rId8"/>
    <p:sldId id="266" r:id="rId9"/>
    <p:sldId id="262" r:id="rId10"/>
    <p:sldId id="264" r:id="rId11"/>
    <p:sldId id="267" r:id="rId12"/>
    <p:sldId id="270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22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2AC3142-495C-4280-881B-1526FF75665B}" type="datetimeFigureOut">
              <a:rPr lang="fr-CH" smtClean="0"/>
              <a:t>23.08.2024</a:t>
            </a:fld>
            <a:endParaRPr lang="fr-CH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H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A1A13C-C183-424C-A414-74278106B563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1845591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761999"/>
            <a:ext cx="9141619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9270263" y="761999"/>
            <a:ext cx="2925318" cy="5334001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69848" y="1298448"/>
            <a:ext cx="7315200" cy="3255264"/>
          </a:xfrm>
        </p:spPr>
        <p:txBody>
          <a:bodyPr anchor="b">
            <a:normAutofit/>
          </a:bodyPr>
          <a:lstStyle>
            <a:lvl1pPr algn="l">
              <a:defRPr sz="5900" spc="-100" baseline="0">
                <a:solidFill>
                  <a:srgbClr val="FFFFFF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15" y="4670246"/>
            <a:ext cx="7315200" cy="914400"/>
          </a:xfrm>
        </p:spPr>
        <p:txBody>
          <a:bodyPr anchor="t">
            <a:normAutofit/>
          </a:bodyPr>
          <a:lstStyle>
            <a:lvl1pPr marL="0" indent="0" algn="l">
              <a:buNone/>
              <a:defRPr sz="2200" cap="none" spc="0" baseline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7BC7A4-560B-4424-86D9-D529C3ED2E24}" type="datetime1">
              <a:rPr lang="en-US" smtClean="0"/>
              <a:t>8/23/2024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856CEA-0161-4B0B-A6F9-D90790302E09}" type="datetime1">
              <a:rPr lang="en-US" smtClean="0"/>
              <a:t>8/23/2024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67912" y="1298448"/>
            <a:ext cx="7315200" cy="3255264"/>
          </a:xfrm>
        </p:spPr>
        <p:txBody>
          <a:bodyPr anchor="b">
            <a:normAutofit/>
          </a:bodyPr>
          <a:lstStyle>
            <a:lvl1pPr>
              <a:defRPr sz="5900" b="0" spc="-1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86200" y="4672584"/>
            <a:ext cx="7315200" cy="914400"/>
          </a:xfrm>
        </p:spPr>
        <p:txBody>
          <a:bodyPr anchor="t">
            <a:normAutofit/>
          </a:bodyPr>
          <a:lstStyle>
            <a:lvl1pPr marL="0" indent="0">
              <a:buNone/>
              <a:defRPr sz="2200" cap="none" spc="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ECC23-A5A0-44D4-B496-B55A434D5385}" type="datetime1">
              <a:rPr lang="en-US" smtClean="0"/>
              <a:t>8/23/2024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67912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8120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DEE0E-910E-4647-A748-0A8F2A962DCA}" type="datetime1">
              <a:rPr lang="en-US" smtClean="0"/>
              <a:t>8/23/2024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7912" y="1023586"/>
            <a:ext cx="3474720" cy="8077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67912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818463" y="1023586"/>
            <a:ext cx="3474720" cy="813171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818463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9AEDB-DA47-42B1-AA20-FA4193278BFB}" type="datetime1">
              <a:rPr lang="en-US" smtClean="0"/>
              <a:t>8/23/2024</a:t>
            </a:fld>
            <a:endParaRPr lang="en-US" dirty="0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A3806D-CEFF-4C7C-B69E-E8C6C2135F0C}" type="datetime1">
              <a:rPr lang="en-US" smtClean="0"/>
              <a:t>8/23/2024</a:t>
            </a:fld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799852-6437-4F59-8BA4-BD526AE7B018}" type="datetime1">
              <a:rPr lang="en-US" smtClean="0"/>
              <a:t>8/23/2024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67912" y="868680"/>
            <a:ext cx="731520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4176"/>
            <a:ext cx="2834640" cy="2321990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0EB050-0ECA-42EF-A435-70711370D85B}" type="datetime1">
              <a:rPr lang="en-US" smtClean="0"/>
              <a:t>8/23/2024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570644" y="767419"/>
            <a:ext cx="8115230" cy="5330952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3008"/>
            <a:ext cx="2834640" cy="2322576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52ABD-58D4-4C9E-B1B8-CEC2AA8DBD93}" type="datetime1">
              <a:rPr lang="en-US" smtClean="0"/>
              <a:t>8/23/2024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3499101" y="6356350"/>
            <a:ext cx="5911517" cy="365125"/>
          </a:xfrm>
        </p:spPr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901063-52CC-4584-9EE9-3A5FBF2927BA}" type="datetime1">
              <a:rPr lang="en-US" smtClean="0"/>
              <a:t>8/23/2024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81000" y="990600"/>
            <a:ext cx="2819400" cy="4953000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867912" y="868680"/>
            <a:ext cx="7315200" cy="5120640"/>
          </a:xfrm>
        </p:spPr>
        <p:txBody>
          <a:bodyPr vert="eaVert" anchor="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B21167-5961-4EAA-A2C5-C443E1B8357A}" type="datetime1">
              <a:rPr lang="en-US" smtClean="0"/>
              <a:t>8/23/2024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758952"/>
            <a:ext cx="3443590" cy="53309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8" name="Rectangle 37"/>
          <p:cNvSpPr/>
          <p:nvPr/>
        </p:nvSpPr>
        <p:spPr>
          <a:xfrm>
            <a:off x="11815864" y="758952"/>
            <a:ext cx="384048" cy="5330952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9268" y="864108"/>
            <a:ext cx="7315200" cy="5120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62465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C4EEF54E-F662-454E-AE7D-91A1E3F52308}" type="datetime1">
              <a:rPr lang="en-US" smtClean="0"/>
              <a:t>8/23/2024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869268" y="6356350"/>
            <a:ext cx="59115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34135" y="6356350"/>
            <a:ext cx="15309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accent1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41" r:id="rId1"/>
    <p:sldLayoutId id="2147483842" r:id="rId2"/>
    <p:sldLayoutId id="2147483843" r:id="rId3"/>
    <p:sldLayoutId id="2147483844" r:id="rId4"/>
    <p:sldLayoutId id="2147483845" r:id="rId5"/>
    <p:sldLayoutId id="2147483846" r:id="rId6"/>
    <p:sldLayoutId id="2147483847" r:id="rId7"/>
    <p:sldLayoutId id="2147483848" r:id="rId8"/>
    <p:sldLayoutId id="2147483849" r:id="rId9"/>
    <p:sldLayoutId id="2147483850" r:id="rId10"/>
    <p:sldLayoutId id="2147483851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spc="-60" baseline="0">
          <a:solidFill>
            <a:srgbClr val="FFFFFF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/>
        </a:buClr>
        <a:buFont typeface="Wingdings 2" pitchFamily="18" charset="2"/>
        <a:buChar char="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2F4AD318-2FB6-4C6E-931E-58E404FA1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1A118E35-1CBF-4863-8497-F4DF1A166D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3582" y="752748"/>
            <a:ext cx="1001483" cy="4744251"/>
          </a:xfrm>
          <a:custGeom>
            <a:avLst/>
            <a:gdLst>
              <a:gd name="connsiteX0" fmla="*/ 0 w 1001483"/>
              <a:gd name="connsiteY0" fmla="*/ 0 h 4744251"/>
              <a:gd name="connsiteX1" fmla="*/ 1001483 w 1001483"/>
              <a:gd name="connsiteY1" fmla="*/ 0 h 4744251"/>
              <a:gd name="connsiteX2" fmla="*/ 0 w 1001483"/>
              <a:gd name="connsiteY2" fmla="*/ 4744251 h 4744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01483" h="4744251">
                <a:moveTo>
                  <a:pt x="0" y="0"/>
                </a:moveTo>
                <a:lnTo>
                  <a:pt x="1001483" y="0"/>
                </a:lnTo>
                <a:lnTo>
                  <a:pt x="0" y="474425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CH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6E187274-5DC2-4BE0-AF99-925D6D9735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987094" y="761999"/>
            <a:ext cx="4208489" cy="5334001"/>
          </a:xfrm>
          <a:custGeom>
            <a:avLst/>
            <a:gdLst>
              <a:gd name="connsiteX0" fmla="*/ 1015642 w 4208489"/>
              <a:gd name="connsiteY0" fmla="*/ 0 h 5334001"/>
              <a:gd name="connsiteX1" fmla="*/ 4208489 w 4208489"/>
              <a:gd name="connsiteY1" fmla="*/ 0 h 5334001"/>
              <a:gd name="connsiteX2" fmla="*/ 4208489 w 4208489"/>
              <a:gd name="connsiteY2" fmla="*/ 5334001 h 5334001"/>
              <a:gd name="connsiteX3" fmla="*/ 0 w 4208489"/>
              <a:gd name="connsiteY3" fmla="*/ 5334001 h 5334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208489" h="5334001">
                <a:moveTo>
                  <a:pt x="1015642" y="0"/>
                </a:moveTo>
                <a:lnTo>
                  <a:pt x="4208489" y="0"/>
                </a:lnTo>
                <a:lnTo>
                  <a:pt x="4208489" y="5334001"/>
                </a:lnTo>
                <a:lnTo>
                  <a:pt x="0" y="533400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CH"/>
          </a:p>
        </p:txBody>
      </p:sp>
      <p:sp>
        <p:nvSpPr>
          <p:cNvPr id="7" name="Titre 6">
            <a:extLst>
              <a:ext uri="{FF2B5EF4-FFF2-40B4-BE49-F238E27FC236}">
                <a16:creationId xmlns:a16="http://schemas.microsoft.com/office/drawing/2014/main" id="{EEAC6F88-0753-9667-2E37-B001DE3E12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69849" y="1298448"/>
            <a:ext cx="7073487" cy="3255264"/>
          </a:xfrm>
        </p:spPr>
        <p:txBody>
          <a:bodyPr>
            <a:normAutofit fontScale="90000"/>
          </a:bodyPr>
          <a:lstStyle/>
          <a:p>
            <a:r>
              <a:rPr lang="fr-CH" dirty="0">
                <a:solidFill>
                  <a:schemeClr val="accent1"/>
                </a:solidFill>
              </a:rPr>
              <a:t>SYSTÈME DE RÉSERVATION INTERACTIF VIA CHATBOT  </a:t>
            </a:r>
          </a:p>
        </p:txBody>
      </p:sp>
      <p:sp>
        <p:nvSpPr>
          <p:cNvPr id="8" name="Sous-titre 7">
            <a:extLst>
              <a:ext uri="{FF2B5EF4-FFF2-40B4-BE49-F238E27FC236}">
                <a16:creationId xmlns:a16="http://schemas.microsoft.com/office/drawing/2014/main" id="{23E8BC3D-40C5-E08A-67A9-5EC2943CC2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528702" y="4084889"/>
            <a:ext cx="3021621" cy="1709159"/>
          </a:xfrm>
        </p:spPr>
        <p:txBody>
          <a:bodyPr>
            <a:normAutofit/>
          </a:bodyPr>
          <a:lstStyle/>
          <a:p>
            <a:pPr algn="r"/>
            <a:r>
              <a:rPr lang="fr-CH" sz="1800" dirty="0">
                <a:solidFill>
                  <a:srgbClr val="FFFFFF"/>
                </a:solidFill>
              </a:rPr>
              <a:t>Réalisé par : </a:t>
            </a:r>
          </a:p>
          <a:p>
            <a:pPr algn="r"/>
            <a:r>
              <a:rPr lang="fr-CH" sz="1800" dirty="0">
                <a:solidFill>
                  <a:srgbClr val="FFFFFF"/>
                </a:solidFill>
              </a:rPr>
              <a:t>Rodrigues dos Santos Fabio</a:t>
            </a:r>
          </a:p>
          <a:p>
            <a:pPr algn="r"/>
            <a:r>
              <a:rPr lang="fr-CH" sz="1800" dirty="0">
                <a:solidFill>
                  <a:srgbClr val="FFFFFF"/>
                </a:solidFill>
              </a:rPr>
              <a:t>Suivi par : </a:t>
            </a:r>
          </a:p>
          <a:p>
            <a:pPr algn="r"/>
            <a:r>
              <a:rPr lang="fr-CH" sz="1800" dirty="0" err="1">
                <a:solidFill>
                  <a:srgbClr val="FFFFFF"/>
                </a:solidFill>
              </a:rPr>
              <a:t>Eggenberg</a:t>
            </a:r>
            <a:r>
              <a:rPr lang="fr-CH" sz="1800" dirty="0">
                <a:solidFill>
                  <a:srgbClr val="FFFFFF"/>
                </a:solidFill>
              </a:rPr>
              <a:t> </a:t>
            </a:r>
            <a:r>
              <a:rPr lang="fr-CH" sz="1800" dirty="0" err="1">
                <a:solidFill>
                  <a:srgbClr val="FFFFFF"/>
                </a:solidFill>
              </a:rPr>
              <a:t>Niklaus</a:t>
            </a:r>
            <a:endParaRPr lang="fr-CH" sz="1800" dirty="0">
              <a:solidFill>
                <a:srgbClr val="FFFFFF"/>
              </a:solidFill>
            </a:endParaRPr>
          </a:p>
        </p:txBody>
      </p:sp>
      <p:sp>
        <p:nvSpPr>
          <p:cNvPr id="9" name="Titre 6">
            <a:extLst>
              <a:ext uri="{FF2B5EF4-FFF2-40B4-BE49-F238E27FC236}">
                <a16:creationId xmlns:a16="http://schemas.microsoft.com/office/drawing/2014/main" id="{392FAAAB-2693-E193-F32F-53F308B81A30}"/>
              </a:ext>
            </a:extLst>
          </p:cNvPr>
          <p:cNvSpPr txBox="1">
            <a:spLocks/>
          </p:cNvSpPr>
          <p:nvPr/>
        </p:nvSpPr>
        <p:spPr>
          <a:xfrm>
            <a:off x="1069849" y="4705568"/>
            <a:ext cx="5669816" cy="467800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900" kern="1200" spc="-10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sz="2400" i="1" dirty="0">
                <a:solidFill>
                  <a:schemeClr val="accent2"/>
                </a:solidFill>
              </a:rPr>
              <a:t>Projet de </a:t>
            </a:r>
            <a:r>
              <a:rPr lang="fr-CH" sz="2400" i="1" dirty="0" err="1">
                <a:solidFill>
                  <a:schemeClr val="accent2"/>
                </a:solidFill>
              </a:rPr>
              <a:t>Bachelor</a:t>
            </a:r>
            <a:r>
              <a:rPr lang="fr-CH" sz="2400" i="1" dirty="0">
                <a:solidFill>
                  <a:schemeClr val="accent2"/>
                </a:solidFill>
              </a:rPr>
              <a:t> , Septembre 2024</a:t>
            </a:r>
          </a:p>
        </p:txBody>
      </p:sp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DD4D5C53-4E19-C45C-A7EF-80A1917568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CC8AA71E-6A37-272E-AF57-38BD43C9D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44082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43EF90D-D65A-8A6C-6357-72A38FFD08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sz="4400" dirty="0"/>
              <a:t>Contexte</a:t>
            </a:r>
            <a:endParaRPr lang="fr-CH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F40A75D-D479-8D68-5819-89FEE7EEC6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fr-CH" dirty="0"/>
              <a:t>Projet réalisé dans le cadre du travail de </a:t>
            </a:r>
            <a:r>
              <a:rPr lang="fr-CH" dirty="0" err="1"/>
              <a:t>Bachelor</a:t>
            </a:r>
            <a:endParaRPr lang="fr-CH" dirty="0"/>
          </a:p>
          <a:p>
            <a:pPr>
              <a:buFont typeface="Arial" panose="020B0604020202020204" pitchFamily="34" charset="0"/>
              <a:buChar char="•"/>
            </a:pPr>
            <a:r>
              <a:rPr lang="fr-CH" dirty="0"/>
              <a:t>Idée de projet initiale par M. </a:t>
            </a:r>
            <a:r>
              <a:rPr lang="fr-CH" dirty="0" err="1"/>
              <a:t>Niklaus</a:t>
            </a:r>
            <a:r>
              <a:rPr lang="fr-CH" dirty="0"/>
              <a:t> </a:t>
            </a:r>
            <a:r>
              <a:rPr lang="fr-CH" dirty="0" err="1"/>
              <a:t>Eggenberg</a:t>
            </a:r>
            <a:endParaRPr lang="fr-CH" dirty="0"/>
          </a:p>
          <a:p>
            <a:pPr>
              <a:buFont typeface="Arial" panose="020B0604020202020204" pitchFamily="34" charset="0"/>
              <a:buChar char="•"/>
            </a:pPr>
            <a:r>
              <a:rPr lang="fr-CH" dirty="0"/>
              <a:t>Bot de réservation conversationnel</a:t>
            </a:r>
          </a:p>
          <a:p>
            <a:pPr lvl="1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fr-CH" dirty="0"/>
              <a:t>Alternative aux systèmes courants de réservation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fr-CH" dirty="0"/>
              <a:t>Sites Web avec menus cliquables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fr-CH" dirty="0"/>
              <a:t>Appels Téléphoniques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fr-CH" dirty="0"/>
              <a:t>Réservations en personne</a:t>
            </a:r>
          </a:p>
          <a:p>
            <a:pPr lvl="1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fr-CH" dirty="0"/>
              <a:t>Complément/ajout à un système existant de réservation</a:t>
            </a:r>
          </a:p>
          <a:p>
            <a:pPr lvl="1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fr-CH" dirty="0"/>
              <a:t>Exploration d’une direction rarement prise pour de tels systèmes</a:t>
            </a:r>
          </a:p>
          <a:p>
            <a:pPr lvl="1">
              <a:lnSpc>
                <a:spcPct val="150000"/>
              </a:lnSpc>
              <a:buFont typeface="Courier New" panose="02070309020205020404" pitchFamily="49" charset="0"/>
              <a:buChar char="o"/>
            </a:pPr>
            <a:endParaRPr lang="fr-CH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0F17B811-EEE8-9F17-0919-33990C1D51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901B04D-6E8F-5582-B597-B5B902DEF2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44753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2AB9D38-1BFF-1201-3804-547361FAB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Déroulement du projet</a:t>
            </a:r>
          </a:p>
        </p:txBody>
      </p:sp>
      <p:pic>
        <p:nvPicPr>
          <p:cNvPr id="7" name="Espace réservé du contenu 6">
            <a:extLst>
              <a:ext uri="{FF2B5EF4-FFF2-40B4-BE49-F238E27FC236}">
                <a16:creationId xmlns:a16="http://schemas.microsoft.com/office/drawing/2014/main" id="{AAE23709-DF63-D5B6-65C3-8FE38DAF5A5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463943" y="3053017"/>
            <a:ext cx="8306591" cy="751965"/>
          </a:xfrm>
        </p:spPr>
      </p:pic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5B55C2C-769D-4CF0-A2B6-0DE9CFB2B8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34632FE-DE84-4BA1-AA8A-001E68E5EC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C3A9FB95-BFF9-CF89-4542-F33995C6879F}"/>
              </a:ext>
            </a:extLst>
          </p:cNvPr>
          <p:cNvSpPr txBox="1"/>
          <p:nvPr/>
        </p:nvSpPr>
        <p:spPr>
          <a:xfrm>
            <a:off x="6143496" y="1872367"/>
            <a:ext cx="294748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H" sz="3200" b="1" i="1" dirty="0">
                <a:latin typeface="+mj-lt"/>
              </a:rPr>
              <a:t>Semaine typique</a:t>
            </a:r>
          </a:p>
        </p:txBody>
      </p:sp>
    </p:spTree>
    <p:extLst>
      <p:ext uri="{BB962C8B-B14F-4D97-AF65-F5344CB8AC3E}">
        <p14:creationId xmlns:p14="http://schemas.microsoft.com/office/powerpoint/2010/main" val="17612549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68ED4B7-D352-10EC-C1CD-9253B12450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919" y="1123837"/>
            <a:ext cx="2947482" cy="4601183"/>
          </a:xfrm>
        </p:spPr>
        <p:txBody>
          <a:bodyPr>
            <a:normAutofit/>
          </a:bodyPr>
          <a:lstStyle/>
          <a:p>
            <a:r>
              <a:rPr lang="fr-CH" dirty="0"/>
              <a:t>Panorama des sources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45A0717-8BB5-C6EA-EE19-1593F57DE9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9267" y="864108"/>
            <a:ext cx="3851375" cy="5120640"/>
          </a:xfrm>
        </p:spPr>
        <p:txBody>
          <a:bodyPr>
            <a:normAutofit/>
          </a:bodyPr>
          <a:lstStyle/>
          <a:p>
            <a:r>
              <a:rPr lang="fr-CH" dirty="0"/>
              <a:t>Blogs divers</a:t>
            </a:r>
          </a:p>
          <a:p>
            <a:r>
              <a:rPr lang="fr-CH" dirty="0"/>
              <a:t>Articles web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fr-CH" dirty="0"/>
              <a:t>IBM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fr-CH" dirty="0"/>
              <a:t>Medium.com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fr-CH" dirty="0"/>
              <a:t>Analytics Vidhya</a:t>
            </a:r>
          </a:p>
          <a:p>
            <a:r>
              <a:rPr lang="fr-CH" dirty="0"/>
              <a:t>Articles de Recherche : </a:t>
            </a:r>
            <a:r>
              <a:rPr lang="en" sz="2000" dirty="0"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rPr>
              <a:t>arXiv.org</a:t>
            </a:r>
            <a:endParaRPr lang="fr-CH" dirty="0"/>
          </a:p>
          <a:p>
            <a:pPr>
              <a:spcBef>
                <a:spcPts val="0"/>
              </a:spcBef>
              <a:buFont typeface="Arial" panose="020B0604020202020204" pitchFamily="34" charset="0"/>
              <a:buChar char="•"/>
            </a:pPr>
            <a:endParaRPr lang="fr-CH" dirty="0"/>
          </a:p>
        </p:txBody>
      </p:sp>
      <p:pic>
        <p:nvPicPr>
          <p:cNvPr id="7" name="Graphique 6" descr="Livres avec un remplissage uni">
            <a:extLst>
              <a:ext uri="{FF2B5EF4-FFF2-40B4-BE49-F238E27FC236}">
                <a16:creationId xmlns:a16="http://schemas.microsoft.com/office/drawing/2014/main" id="{C0B11024-8AEE-03AF-2229-3C2D667570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818120" y="1691640"/>
            <a:ext cx="3474720" cy="3474720"/>
          </a:xfrm>
          <a:prstGeom prst="rect">
            <a:avLst/>
          </a:prstGeom>
        </p:spPr>
      </p:pic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EB3E97C-3E2D-7500-CC21-6FB59A7911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69268" y="6356350"/>
            <a:ext cx="5911517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fr-CH"/>
              <a:t>Présentation BA - Chatbot Réservation - Rodrigues dos Santos Fabio</a:t>
            </a:r>
            <a:endParaRPr lang="en-US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D8279AA-F576-7E74-F0EA-E82F6874B9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34135" y="6356350"/>
            <a:ext cx="1530927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4FAB73BC-B049-4115-A692-8D63A059BFB8}" type="slidenum">
              <a:rPr lang="en-US" smtClean="0"/>
              <a:pPr>
                <a:spcAft>
                  <a:spcPts val="600"/>
                </a:spcAft>
              </a:pPr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99155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re 5">
            <a:extLst>
              <a:ext uri="{FF2B5EF4-FFF2-40B4-BE49-F238E27FC236}">
                <a16:creationId xmlns:a16="http://schemas.microsoft.com/office/drawing/2014/main" id="{781D2AAC-4347-F3F7-8C85-1D59A34598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Sommaire</a:t>
            </a:r>
          </a:p>
        </p:txBody>
      </p:sp>
      <p:sp>
        <p:nvSpPr>
          <p:cNvPr id="7" name="Espace réservé du contenu 6">
            <a:extLst>
              <a:ext uri="{FF2B5EF4-FFF2-40B4-BE49-F238E27FC236}">
                <a16:creationId xmlns:a16="http://schemas.microsoft.com/office/drawing/2014/main" id="{F904D1CC-CB89-8A30-F84F-CED6D01EE1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arenR"/>
            </a:pPr>
            <a:r>
              <a:rPr lang="fr-CH" dirty="0"/>
              <a:t>Fondements théoriques</a:t>
            </a:r>
          </a:p>
          <a:p>
            <a:pPr marL="514350" indent="-514350">
              <a:buFont typeface="+mj-lt"/>
              <a:buAutoNum type="arabicParenR"/>
            </a:pPr>
            <a:r>
              <a:rPr lang="fr-CH" dirty="0"/>
              <a:t>Choix technologique</a:t>
            </a:r>
          </a:p>
          <a:p>
            <a:pPr marL="514350" indent="-514350">
              <a:buFont typeface="+mj-lt"/>
              <a:buAutoNum type="arabicParenR"/>
            </a:pPr>
            <a:r>
              <a:rPr lang="fr-CH" dirty="0"/>
              <a:t>Implémentation</a:t>
            </a:r>
          </a:p>
          <a:p>
            <a:pPr marL="514350" indent="-514350">
              <a:buFont typeface="+mj-lt"/>
              <a:buAutoNum type="arabicParenR"/>
            </a:pPr>
            <a:r>
              <a:rPr lang="fr-CH" dirty="0"/>
              <a:t>Résultats obtenus</a:t>
            </a:r>
          </a:p>
          <a:p>
            <a:pPr marL="514350" indent="-514350">
              <a:buFont typeface="+mj-lt"/>
              <a:buAutoNum type="arabicParenR"/>
            </a:pPr>
            <a:r>
              <a:rPr lang="fr-CH" dirty="0"/>
              <a:t>Démonstration</a:t>
            </a:r>
          </a:p>
          <a:p>
            <a:pPr marL="514350" indent="-514350">
              <a:buFont typeface="+mj-lt"/>
              <a:buAutoNum type="arabicParenR"/>
            </a:pPr>
            <a:r>
              <a:rPr lang="fr-CH" dirty="0"/>
              <a:t>Conclusion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56829452-C558-5EE4-4F23-518653E233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17DFF10-678C-E4A4-5BA1-7B883901C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29223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1090E5-E219-5050-37F6-7B7502DAE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Fondements théoriques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9AEDDFA-8AC6-BE49-9EE5-74A170FDE1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fr-CH" sz="2800" dirty="0">
                <a:latin typeface="+mj-lt"/>
              </a:rPr>
              <a:t>Principes importants pour la réalisation du Chatbot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CH" b="1" dirty="0">
                <a:latin typeface="+mj-lt"/>
              </a:rPr>
              <a:t>N</a:t>
            </a:r>
            <a:r>
              <a:rPr lang="fr-CH" dirty="0">
                <a:latin typeface="+mj-lt"/>
              </a:rPr>
              <a:t>atural </a:t>
            </a:r>
            <a:r>
              <a:rPr lang="fr-CH" b="1" dirty="0" err="1">
                <a:latin typeface="+mj-lt"/>
              </a:rPr>
              <a:t>L</a:t>
            </a:r>
            <a:r>
              <a:rPr lang="fr-CH" dirty="0" err="1">
                <a:latin typeface="+mj-lt"/>
              </a:rPr>
              <a:t>anguage</a:t>
            </a:r>
            <a:r>
              <a:rPr lang="fr-CH" dirty="0">
                <a:latin typeface="+mj-lt"/>
              </a:rPr>
              <a:t> </a:t>
            </a:r>
            <a:r>
              <a:rPr lang="fr-CH" b="1" dirty="0" err="1">
                <a:latin typeface="+mj-lt"/>
              </a:rPr>
              <a:t>P</a:t>
            </a:r>
            <a:r>
              <a:rPr lang="fr-CH" dirty="0" err="1">
                <a:latin typeface="+mj-lt"/>
              </a:rPr>
              <a:t>rocessing</a:t>
            </a:r>
            <a:endParaRPr lang="fr-CH" dirty="0">
              <a:latin typeface="+mj-lt"/>
            </a:endParaRPr>
          </a:p>
          <a:p>
            <a:pPr lvl="1">
              <a:buFont typeface="Courier New" panose="02070309020205020404" pitchFamily="49" charset="0"/>
              <a:buChar char="o"/>
            </a:pPr>
            <a:r>
              <a:rPr lang="fr-CH" b="1" dirty="0">
                <a:latin typeface="+mj-lt"/>
              </a:rPr>
              <a:t>N</a:t>
            </a:r>
            <a:r>
              <a:rPr lang="fr-CH" dirty="0">
                <a:latin typeface="+mj-lt"/>
              </a:rPr>
              <a:t>atural </a:t>
            </a:r>
            <a:r>
              <a:rPr lang="fr-CH" b="1" dirty="0" err="1">
                <a:latin typeface="+mj-lt"/>
              </a:rPr>
              <a:t>L</a:t>
            </a:r>
            <a:r>
              <a:rPr lang="fr-CH" dirty="0" err="1">
                <a:latin typeface="+mj-lt"/>
              </a:rPr>
              <a:t>anguage</a:t>
            </a:r>
            <a:r>
              <a:rPr lang="fr-CH" dirty="0">
                <a:latin typeface="+mj-lt"/>
              </a:rPr>
              <a:t> </a:t>
            </a:r>
            <a:r>
              <a:rPr lang="fr-CH" b="1" dirty="0" err="1">
                <a:latin typeface="+mj-lt"/>
              </a:rPr>
              <a:t>U</a:t>
            </a:r>
            <a:r>
              <a:rPr lang="fr-CH" dirty="0" err="1">
                <a:latin typeface="+mj-lt"/>
              </a:rPr>
              <a:t>nderstanding</a:t>
            </a:r>
            <a:endParaRPr lang="fr-CH" dirty="0">
              <a:latin typeface="+mj-lt"/>
            </a:endParaRPr>
          </a:p>
          <a:p>
            <a:pPr lvl="1">
              <a:buFont typeface="Courier New" panose="02070309020205020404" pitchFamily="49" charset="0"/>
              <a:buChar char="o"/>
            </a:pPr>
            <a:r>
              <a:rPr lang="fr-CH" b="1" dirty="0">
                <a:latin typeface="+mj-lt"/>
              </a:rPr>
              <a:t>N</a:t>
            </a:r>
            <a:r>
              <a:rPr lang="fr-CH" dirty="0">
                <a:latin typeface="+mj-lt"/>
              </a:rPr>
              <a:t>atural </a:t>
            </a:r>
            <a:r>
              <a:rPr lang="fr-CH" b="1" dirty="0" err="1">
                <a:latin typeface="+mj-lt"/>
              </a:rPr>
              <a:t>L</a:t>
            </a:r>
            <a:r>
              <a:rPr lang="fr-CH" dirty="0" err="1">
                <a:latin typeface="+mj-lt"/>
              </a:rPr>
              <a:t>anguage</a:t>
            </a:r>
            <a:r>
              <a:rPr lang="fr-CH" dirty="0">
                <a:latin typeface="+mj-lt"/>
              </a:rPr>
              <a:t> </a:t>
            </a:r>
            <a:r>
              <a:rPr lang="fr-CH" b="1" dirty="0" err="1">
                <a:latin typeface="+mj-lt"/>
              </a:rPr>
              <a:t>G</a:t>
            </a:r>
            <a:r>
              <a:rPr lang="fr-CH" dirty="0" err="1">
                <a:latin typeface="+mj-lt"/>
              </a:rPr>
              <a:t>eneration</a:t>
            </a:r>
            <a:endParaRPr lang="fr-CH" dirty="0">
              <a:latin typeface="+mj-lt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fr-CH" dirty="0">
                <a:latin typeface="+mj-lt"/>
              </a:rPr>
              <a:t>Framework de traitement NLP - Rasa</a:t>
            </a:r>
          </a:p>
          <a:p>
            <a:pPr>
              <a:buFont typeface="Arial" panose="020B0604020202020204" pitchFamily="34" charset="0"/>
              <a:buChar char="•"/>
            </a:pPr>
            <a:endParaRPr lang="fr-CH" sz="2800" b="1" dirty="0">
              <a:latin typeface="+mj-lt"/>
            </a:endParaRP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7C8EAD72-0445-8B67-7544-0DFD57C5D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D103D54-09E4-8217-70C4-707EED93E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15736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1090E5-E219-5050-37F6-7B7502DAE2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638" y="1123837"/>
            <a:ext cx="3252158" cy="4601183"/>
          </a:xfrm>
        </p:spPr>
        <p:txBody>
          <a:bodyPr/>
          <a:lstStyle/>
          <a:p>
            <a:r>
              <a:rPr lang="fr-CH" dirty="0"/>
              <a:t>Fondements théoriques - NLP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7C8EAD72-0445-8B67-7544-0DFD57C5D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D103D54-09E4-8217-70C4-707EED93E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0593E144-8D32-2268-B6FA-4559EE356115}"/>
              </a:ext>
            </a:extLst>
          </p:cNvPr>
          <p:cNvSpPr txBox="1"/>
          <p:nvPr/>
        </p:nvSpPr>
        <p:spPr>
          <a:xfrm>
            <a:off x="6213440" y="5298616"/>
            <a:ext cx="26268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i="1" dirty="0">
                <a:solidFill>
                  <a:schemeClr val="accent6"/>
                </a:solidFill>
                <a:ea typeface="Barlow Semi Condensed Light"/>
                <a:cs typeface="Barlow Semi Condensed Light"/>
                <a:sym typeface="Barlow Semi Condensed Light"/>
              </a:rPr>
              <a:t>Source: Rodrigues dos Santos Fabio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89427E80-4706-06FE-135D-A0578DD872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9268" y="864108"/>
            <a:ext cx="7315200" cy="453735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CH" sz="2800" b="1" dirty="0">
                <a:latin typeface="+mj-lt"/>
              </a:rPr>
              <a:t>Qu’est-ce ?</a:t>
            </a:r>
          </a:p>
          <a:p>
            <a:pPr marL="0" indent="0">
              <a:buNone/>
            </a:pPr>
            <a:r>
              <a:rPr lang="fr-CH" sz="1800" dirty="0"/>
              <a:t>Transformation de textes en données structurées compréhensible par des modèles d’I.A.</a:t>
            </a:r>
          </a:p>
          <a:p>
            <a:pPr marL="0" indent="0">
              <a:buNone/>
            </a:pPr>
            <a:endParaRPr lang="fr-CH" sz="2400" dirty="0"/>
          </a:p>
          <a:p>
            <a:pPr marL="0" indent="0">
              <a:buNone/>
            </a:pPr>
            <a:r>
              <a:rPr lang="fr-CH" sz="2800" b="1" dirty="0">
                <a:latin typeface="+mj-lt"/>
              </a:rPr>
              <a:t>Structure ?</a:t>
            </a:r>
          </a:p>
          <a:p>
            <a:pPr marL="0" indent="0">
              <a:buNone/>
            </a:pPr>
            <a:r>
              <a:rPr lang="fr-CH" dirty="0"/>
              <a:t>Passage de mots à des </a:t>
            </a:r>
            <a:r>
              <a:rPr lang="fr-CH" dirty="0" err="1"/>
              <a:t>Tokens</a:t>
            </a:r>
            <a:endParaRPr lang="fr-CH" dirty="0"/>
          </a:p>
          <a:p>
            <a:pPr marL="0" indent="0">
              <a:buNone/>
            </a:pPr>
            <a:endParaRPr lang="fr-CH" sz="2800" b="1" dirty="0"/>
          </a:p>
        </p:txBody>
      </p:sp>
      <p:pic>
        <p:nvPicPr>
          <p:cNvPr id="3" name="Google Shape;1934;p47">
            <a:extLst>
              <a:ext uri="{FF2B5EF4-FFF2-40B4-BE49-F238E27FC236}">
                <a16:creationId xmlns:a16="http://schemas.microsoft.com/office/drawing/2014/main" id="{17AF2ECB-D6C4-7041-B1A7-C61CA5DCBCA7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3869268" y="4686328"/>
            <a:ext cx="6858000" cy="4953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</p:spTree>
    <p:extLst>
      <p:ext uri="{BB962C8B-B14F-4D97-AF65-F5344CB8AC3E}">
        <p14:creationId xmlns:p14="http://schemas.microsoft.com/office/powerpoint/2010/main" val="15078293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1090E5-E219-5050-37F6-7B7502DAE2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4" y="1123837"/>
            <a:ext cx="3278038" cy="4601183"/>
          </a:xfrm>
        </p:spPr>
        <p:txBody>
          <a:bodyPr/>
          <a:lstStyle/>
          <a:p>
            <a:r>
              <a:rPr lang="fr-CH" dirty="0"/>
              <a:t>Fondements théoriques - NLP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7C8EAD72-0445-8B67-7544-0DFD57C5D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D103D54-09E4-8217-70C4-707EED93E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0593E144-8D32-2268-B6FA-4559EE356115}"/>
              </a:ext>
            </a:extLst>
          </p:cNvPr>
          <p:cNvSpPr txBox="1"/>
          <p:nvPr/>
        </p:nvSpPr>
        <p:spPr>
          <a:xfrm>
            <a:off x="9278291" y="5025318"/>
            <a:ext cx="19971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1400" dirty="0">
                <a:solidFill>
                  <a:schemeClr val="accent4"/>
                </a:solidFill>
              </a:rPr>
              <a:t>Source: Javapoint.com</a:t>
            </a:r>
            <a:endParaRPr lang="fr-CH" sz="1400" i="1" dirty="0">
              <a:solidFill>
                <a:schemeClr val="accent4"/>
              </a:solidFill>
            </a:endParaRP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71B43363-E29E-2D17-D556-F602E84089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75579" y="1157144"/>
            <a:ext cx="4967868" cy="4435680"/>
          </a:xfrm>
        </p:spPr>
        <p:txBody>
          <a:bodyPr/>
          <a:lstStyle/>
          <a:p>
            <a:pPr marL="539750" lvl="0" indent="-4000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+mj-lt"/>
              <a:buAutoNum type="romanUcPeriod"/>
            </a:pPr>
            <a:r>
              <a:rPr lang="fr-CH" sz="1800" dirty="0">
                <a:solidFill>
                  <a:schemeClr val="dk2"/>
                </a:solidFill>
                <a:ea typeface="Barlow Semi Condensed Medium"/>
                <a:cs typeface="Barlow Semi Condensed Medium"/>
                <a:sym typeface="Barlow Semi Condensed Medium"/>
              </a:rPr>
              <a:t>Compréhension des mots</a:t>
            </a:r>
          </a:p>
          <a:p>
            <a:pPr marL="539750" lvl="0" indent="-40005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+mj-lt"/>
              <a:buAutoNum type="romanUcPeriod"/>
            </a:pPr>
            <a:r>
              <a:rPr lang="fr-CH" sz="1800" dirty="0">
                <a:solidFill>
                  <a:schemeClr val="dk2"/>
                </a:solidFill>
                <a:ea typeface="Barlow Semi Condensed Medium"/>
                <a:cs typeface="Barlow Semi Condensed Medium"/>
                <a:sym typeface="Barlow Semi Condensed Medium"/>
              </a:rPr>
              <a:t>Compréhension des phrases (grammaire)</a:t>
            </a:r>
          </a:p>
          <a:p>
            <a:pPr marL="539750" lvl="0" indent="-40005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+mj-lt"/>
              <a:buAutoNum type="romanUcPeriod"/>
            </a:pPr>
            <a:r>
              <a:rPr lang="fr-CH" sz="1800" dirty="0">
                <a:solidFill>
                  <a:schemeClr val="dk2"/>
                </a:solidFill>
                <a:ea typeface="Barlow Semi Condensed Medium"/>
                <a:cs typeface="Barlow Semi Condensed Medium"/>
                <a:sym typeface="Barlow Semi Condensed Medium"/>
              </a:rPr>
              <a:t>Compréhension du sens des mots entre eux</a:t>
            </a:r>
          </a:p>
          <a:p>
            <a:pPr marL="539750" lvl="0" indent="-40005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+mj-lt"/>
              <a:buAutoNum type="romanUcPeriod"/>
            </a:pPr>
            <a:r>
              <a:rPr lang="fr-CH" sz="1800" dirty="0">
                <a:solidFill>
                  <a:schemeClr val="dk2"/>
                </a:solidFill>
                <a:ea typeface="Barlow Semi Condensed Medium"/>
                <a:cs typeface="Barlow Semi Condensed Medium"/>
                <a:sym typeface="Barlow Semi Condensed Medium"/>
              </a:rPr>
              <a:t>Comparaison rétroactive à d’autres textes</a:t>
            </a:r>
          </a:p>
          <a:p>
            <a:pPr marL="539750" lvl="0" indent="-400050" algn="l" rtl="0">
              <a:lnSpc>
                <a:spcPct val="150000"/>
              </a:lnSpc>
              <a:spcBef>
                <a:spcPts val="1000"/>
              </a:spcBef>
              <a:spcAft>
                <a:spcPts val="1000"/>
              </a:spcAft>
              <a:buClr>
                <a:schemeClr val="dk2"/>
              </a:buClr>
              <a:buSzPts val="1400"/>
              <a:buFont typeface="+mj-lt"/>
              <a:buAutoNum type="romanUcPeriod"/>
            </a:pPr>
            <a:r>
              <a:rPr lang="fr-CH" sz="1800" dirty="0">
                <a:solidFill>
                  <a:schemeClr val="dk2"/>
                </a:solidFill>
                <a:ea typeface="Barlow Semi Condensed Medium"/>
                <a:cs typeface="Barlow Semi Condensed Medium"/>
                <a:sym typeface="Barlow Semi Condensed Medium"/>
              </a:rPr>
              <a:t>Ressortir le contexte du texte</a:t>
            </a:r>
          </a:p>
          <a:p>
            <a:endParaRPr lang="fr-CH" dirty="0"/>
          </a:p>
        </p:txBody>
      </p:sp>
      <p:pic>
        <p:nvPicPr>
          <p:cNvPr id="9" name="Google Shape;1943;p48">
            <a:extLst>
              <a:ext uri="{FF2B5EF4-FFF2-40B4-BE49-F238E27FC236}">
                <a16:creationId xmlns:a16="http://schemas.microsoft.com/office/drawing/2014/main" id="{AFD19E42-6159-A4D6-BEF1-8E43F5BD0269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803114" y="1348012"/>
            <a:ext cx="2947482" cy="367730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898380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1090E5-E219-5050-37F6-7B7502DAE2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4" y="1123837"/>
            <a:ext cx="3312543" cy="4601183"/>
          </a:xfrm>
        </p:spPr>
        <p:txBody>
          <a:bodyPr/>
          <a:lstStyle/>
          <a:p>
            <a:r>
              <a:rPr lang="fr-CH" dirty="0"/>
              <a:t>Fondements théoriques - NLP</a:t>
            </a:r>
          </a:p>
        </p:txBody>
      </p:sp>
      <p:pic>
        <p:nvPicPr>
          <p:cNvPr id="7" name="Espace réservé du contenu 6" descr="Une image contenant texte, cercle, Police, logo&#10;&#10;Description générée automatiquement">
            <a:extLst>
              <a:ext uri="{FF2B5EF4-FFF2-40B4-BE49-F238E27FC236}">
                <a16:creationId xmlns:a16="http://schemas.microsoft.com/office/drawing/2014/main" id="{44B8F8DF-0C5A-C562-B4D4-2EE880F3813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868738" y="1366837"/>
            <a:ext cx="7315200" cy="4114800"/>
          </a:xfrm>
        </p:spPr>
      </p:pic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7C8EAD72-0445-8B67-7544-0DFD57C5D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D103D54-09E4-8217-70C4-707EED93E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0593E144-8D32-2268-B6FA-4559EE356115}"/>
              </a:ext>
            </a:extLst>
          </p:cNvPr>
          <p:cNvSpPr txBox="1"/>
          <p:nvPr/>
        </p:nvSpPr>
        <p:spPr>
          <a:xfrm>
            <a:off x="6527774" y="5417243"/>
            <a:ext cx="19971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1400" dirty="0">
                <a:solidFill>
                  <a:schemeClr val="accent4"/>
                </a:solidFill>
              </a:rPr>
              <a:t>Source: Datasolut.com</a:t>
            </a:r>
            <a:endParaRPr lang="fr-CH" sz="1400" i="1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721824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4CB46EB-D775-0ADD-C2CB-933B091208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5" y="1123837"/>
            <a:ext cx="3286664" cy="4601183"/>
          </a:xfrm>
        </p:spPr>
        <p:txBody>
          <a:bodyPr/>
          <a:lstStyle/>
          <a:p>
            <a:r>
              <a:rPr lang="fr-CH" dirty="0"/>
              <a:t>Fondements théoriques - NLU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720EA06-7A2D-8774-FBC9-EC668D4A35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9268" y="868680"/>
            <a:ext cx="7315200" cy="5120640"/>
          </a:xfrm>
        </p:spPr>
        <p:txBody>
          <a:bodyPr/>
          <a:lstStyle/>
          <a:p>
            <a:pPr marL="0" indent="0">
              <a:buNone/>
            </a:pPr>
            <a:r>
              <a:rPr lang="fr-CH" sz="2800" b="1" dirty="0"/>
              <a:t>Qu’est-ce ?</a:t>
            </a:r>
          </a:p>
          <a:p>
            <a:pPr marL="0" indent="0">
              <a:buNone/>
            </a:pPr>
            <a:r>
              <a:rPr lang="fr-CH" sz="1800" dirty="0"/>
              <a:t>Sert à la compréhension de données en langage naturel par des programmes</a:t>
            </a:r>
          </a:p>
          <a:p>
            <a:pPr marL="0" indent="0">
              <a:buNone/>
            </a:pPr>
            <a:r>
              <a:rPr lang="fr-CH" sz="1800" dirty="0"/>
              <a:t>Sous-section du NLP centré sur : Compréhension Grammaticale et de Contexte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E8E29F7-A8D9-B247-62A1-EE62F1806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C402CA1-2104-9FE9-E0B5-D0086A3DC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37195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4CB46EB-D775-0ADD-C2CB-933B091208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5" y="1123837"/>
            <a:ext cx="3286664" cy="4601183"/>
          </a:xfrm>
        </p:spPr>
        <p:txBody>
          <a:bodyPr/>
          <a:lstStyle/>
          <a:p>
            <a:r>
              <a:rPr lang="fr-CH" dirty="0"/>
              <a:t>Fondements théoriques - NLU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720EA06-7A2D-8774-FBC9-EC668D4A35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9268" y="1712863"/>
            <a:ext cx="7315200" cy="3388715"/>
          </a:xfrm>
        </p:spPr>
        <p:txBody>
          <a:bodyPr/>
          <a:lstStyle/>
          <a:p>
            <a:pPr marL="0" indent="0">
              <a:buNone/>
            </a:pPr>
            <a:r>
              <a:rPr lang="fr-CH" sz="2800" b="1" dirty="0"/>
              <a:t>Deux méthodes principales</a:t>
            </a:r>
          </a:p>
          <a:p>
            <a:pPr marL="596900" lvl="0" indent="-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+mj-lt"/>
              <a:buAutoNum type="arabicParenR"/>
            </a:pPr>
            <a:r>
              <a:rPr lang="fr-CH" dirty="0"/>
              <a:t>Détection d’intention : Identification des sentiments et objectifs</a:t>
            </a:r>
          </a:p>
          <a:p>
            <a:pPr marL="457200" indent="-317500">
              <a:lnSpc>
                <a:spcPct val="150000"/>
              </a:lnSpc>
              <a:spcBef>
                <a:spcPts val="1000"/>
              </a:spcBef>
              <a:buSzPct val="100000"/>
              <a:buAutoNum type="arabicParenR"/>
            </a:pPr>
            <a:r>
              <a:rPr lang="fr-CH" dirty="0"/>
              <a:t>   Détection d’entités : Extraction d’entités et leurs informations</a:t>
            </a:r>
          </a:p>
          <a:p>
            <a:pPr marL="1371600" lvl="2" indent="-317500">
              <a:spcBef>
                <a:spcPts val="1000"/>
              </a:spcBef>
              <a:spcAft>
                <a:spcPts val="0"/>
              </a:spcAft>
              <a:buSzPts val="1400"/>
              <a:buAutoNum type="alphaLcPeriod"/>
            </a:pPr>
            <a:r>
              <a:rPr lang="fr-CH" dirty="0"/>
              <a:t>Entité Numérique</a:t>
            </a:r>
          </a:p>
          <a:p>
            <a:pPr marL="1371600" lvl="2" indent="-317500">
              <a:spcBef>
                <a:spcPts val="1000"/>
              </a:spcBef>
              <a:spcAft>
                <a:spcPts val="1000"/>
              </a:spcAft>
              <a:buSzPts val="1400"/>
              <a:buAutoNum type="alphaLcPeriod"/>
            </a:pPr>
            <a:r>
              <a:rPr lang="fr-CH" dirty="0"/>
              <a:t>Entité nommée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E8E29F7-A8D9-B247-62A1-EE62F1806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C402CA1-2104-9FE9-E0B5-D0086A3DC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81C6ECE6-B814-CD07-7424-551C358C0F30}"/>
              </a:ext>
            </a:extLst>
          </p:cNvPr>
          <p:cNvSpPr txBox="1"/>
          <p:nvPr/>
        </p:nvSpPr>
        <p:spPr>
          <a:xfrm>
            <a:off x="6578728" y="4793801"/>
            <a:ext cx="18962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1400" i="1" dirty="0">
                <a:solidFill>
                  <a:schemeClr val="accent6"/>
                </a:solidFill>
              </a:rPr>
              <a:t>Source: Techtarget.com</a:t>
            </a:r>
          </a:p>
        </p:txBody>
      </p:sp>
    </p:spTree>
    <p:extLst>
      <p:ext uri="{BB962C8B-B14F-4D97-AF65-F5344CB8AC3E}">
        <p14:creationId xmlns:p14="http://schemas.microsoft.com/office/powerpoint/2010/main" val="19163298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4CB46EB-D775-0ADD-C2CB-933B091208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5" y="1123837"/>
            <a:ext cx="3286664" cy="4601183"/>
          </a:xfrm>
        </p:spPr>
        <p:txBody>
          <a:bodyPr/>
          <a:lstStyle/>
          <a:p>
            <a:r>
              <a:rPr lang="fr-CH" dirty="0"/>
              <a:t>Fondements théoriques - Rasa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720EA06-7A2D-8774-FBC9-EC668D4A35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9268" y="1712863"/>
            <a:ext cx="7315200" cy="3388715"/>
          </a:xfrm>
        </p:spPr>
        <p:txBody>
          <a:bodyPr/>
          <a:lstStyle/>
          <a:p>
            <a:pPr marL="0" indent="0">
              <a:buNone/>
            </a:pPr>
            <a:endParaRPr lang="fr-CH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E8E29F7-A8D9-B247-62A1-EE62F1806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C402CA1-2104-9FE9-E0B5-D0086A3DC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10107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6DBEBEE-FE11-1D96-3A92-5F67EDCA7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Choix Technologique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7978ADA-316E-9170-49D0-F40F52F8FB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99FFDE94-6FDE-014D-B677-22A77B1CC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96BD369-0379-DDFD-42CE-537A6A480E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028324"/>
      </p:ext>
    </p:extLst>
  </p:cSld>
  <p:clrMapOvr>
    <a:masterClrMapping/>
  </p:clrMapOvr>
</p:sld>
</file>

<file path=ppt/theme/theme1.xml><?xml version="1.0" encoding="utf-8"?>
<a:theme xmlns:a="http://schemas.openxmlformats.org/drawingml/2006/main" name="Cadre">
  <a:themeElements>
    <a:clrScheme name="Bleu chaud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Frame">
      <a:maj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Fram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20000"/>
                <a:lumMod val="102000"/>
              </a:schemeClr>
            </a:gs>
            <a:gs pos="48000">
              <a:schemeClr val="phClr">
                <a:tint val="98000"/>
                <a:shade val="90000"/>
                <a:satMod val="110000"/>
                <a:lumMod val="103000"/>
              </a:schemeClr>
            </a:gs>
            <a:gs pos="100000">
              <a:schemeClr val="phClr">
                <a:tint val="98000"/>
                <a:shade val="8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rame" id="{F226E7A2-7162-461C-9490-D27D9DC04E43}" vid="{629A0216-3BBD-45C0-B63F-2683BEA18F60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TM03457475[[fn=Cadre]]</Template>
  <TotalTime>1841</TotalTime>
  <Words>429</Words>
  <Application>Microsoft Office PowerPoint</Application>
  <PresentationFormat>Grand écran</PresentationFormat>
  <Paragraphs>93</Paragraphs>
  <Slides>13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8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13</vt:i4>
      </vt:variant>
    </vt:vector>
  </HeadingPairs>
  <TitlesOfParts>
    <vt:vector size="22" baseType="lpstr">
      <vt:lpstr>Aptos</vt:lpstr>
      <vt:lpstr>Arial</vt:lpstr>
      <vt:lpstr>Barlow Semi Condensed Light</vt:lpstr>
      <vt:lpstr>Barlow Semi Condensed Medium</vt:lpstr>
      <vt:lpstr>Corbel</vt:lpstr>
      <vt:lpstr>Courier New</vt:lpstr>
      <vt:lpstr>Wingdings</vt:lpstr>
      <vt:lpstr>Wingdings 2</vt:lpstr>
      <vt:lpstr>Cadre</vt:lpstr>
      <vt:lpstr>SYSTÈME DE RÉSERVATION INTERACTIF VIA CHATBOT  </vt:lpstr>
      <vt:lpstr>Contexte</vt:lpstr>
      <vt:lpstr>Déroulement du projet</vt:lpstr>
      <vt:lpstr>Panorama des sources</vt:lpstr>
      <vt:lpstr>Sommaire</vt:lpstr>
      <vt:lpstr>Fondements théoriques</vt:lpstr>
      <vt:lpstr>Fondements théoriques - NLP</vt:lpstr>
      <vt:lpstr>Fondements théoriques - NLP</vt:lpstr>
      <vt:lpstr>Fondements théoriques - NLP</vt:lpstr>
      <vt:lpstr>Fondements théoriques - NLU</vt:lpstr>
      <vt:lpstr>Fondements théoriques - NLU</vt:lpstr>
      <vt:lpstr>Fondements théoriques - Rasa</vt:lpstr>
      <vt:lpstr>Choix Technologique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Rodrigues Dos Santos Fábio</dc:creator>
  <cp:lastModifiedBy>Rodrigues Dos Santos Fábio</cp:lastModifiedBy>
  <cp:revision>34</cp:revision>
  <dcterms:created xsi:type="dcterms:W3CDTF">2024-08-17T12:48:51Z</dcterms:created>
  <dcterms:modified xsi:type="dcterms:W3CDTF">2024-08-23T19:06:10Z</dcterms:modified>
</cp:coreProperties>
</file>